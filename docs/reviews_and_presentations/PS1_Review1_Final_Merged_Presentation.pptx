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2"/>
  </p:notesMasterIdLst>
  <p:sldIdLst>
    <p:sldId id="256" r:id="rId3"/>
    <p:sldId id="257" r:id="rId4"/>
    <p:sldId id="258" r:id="rId5"/>
    <p:sldId id="275" r:id="rId6"/>
    <p:sldId id="276" r:id="rId7"/>
    <p:sldId id="273" r:id="rId8"/>
    <p:sldId id="274" r:id="rId9"/>
    <p:sldId id="260" r:id="rId10"/>
    <p:sldId id="259" r:id="rId11"/>
    <p:sldId id="262" r:id="rId12"/>
    <p:sldId id="261" r:id="rId13"/>
    <p:sldId id="264" r:id="rId14"/>
    <p:sldId id="277" r:id="rId15"/>
    <p:sldId id="266" r:id="rId16"/>
    <p:sldId id="267" r:id="rId17"/>
    <p:sldId id="263" r:id="rId18"/>
    <p:sldId id="269" r:id="rId19"/>
    <p:sldId id="278"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57" autoAdjust="0"/>
    <p:restoredTop sz="94660"/>
  </p:normalViewPr>
  <p:slideViewPr>
    <p:cSldViewPr snapToGrid="0">
      <p:cViewPr varScale="1">
        <p:scale>
          <a:sx n="83" d="100"/>
          <a:sy n="83" d="100"/>
        </p:scale>
        <p:origin x="543" y="54"/>
      </p:cViewPr>
      <p:guideLst/>
    </p:cSldViewPr>
  </p:slideViewPr>
  <p:notesTextViewPr>
    <p:cViewPr>
      <p:scale>
        <a:sx n="25" d="100"/>
        <a:sy n="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endParaRPr lang="en-IN"/>
          </a:p>
        </p:txBody>
      </p:sp>
    </p:spTree>
    <p:extLst>
      <p:ext uri="{BB962C8B-B14F-4D97-AF65-F5344CB8AC3E}">
        <p14:creationId xmlns:p14="http://schemas.microsoft.com/office/powerpoint/2010/main" val="1212863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endParaRPr lang="en-IN"/>
          </a:p>
        </p:txBody>
      </p:sp>
    </p:spTree>
    <p:extLst>
      <p:ext uri="{BB962C8B-B14F-4D97-AF65-F5344CB8AC3E}">
        <p14:creationId xmlns:p14="http://schemas.microsoft.com/office/powerpoint/2010/main" val="36718280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BD315-1030-2B80-D0DB-7DEEC51AFFE6}"/>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F77340B-0DDE-10DC-409E-BA063EBE46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B177A8D4-3527-9309-0A5E-0475A3853D81}"/>
              </a:ext>
            </a:extLst>
          </p:cNvPr>
          <p:cNvSpPr>
            <a:spLocks noGrp="1"/>
          </p:cNvSpPr>
          <p:nvPr>
            <p:ph type="dt" idx="10"/>
          </p:nvPr>
        </p:nvSpPr>
        <p:spPr/>
        <p:txBody>
          <a:body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357D2761-D1A7-DE4C-7344-6C081C8ED71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A978F2B-4F0D-DBBF-0776-26DB50202099}"/>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2A110-943C-23F5-1EB3-12DABC3B014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AECFC8E-FF6E-CAA4-BF99-DDC6A7CE30CC}"/>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CF43755-E77B-2AD8-9864-3CCCD43DB92C}"/>
              </a:ext>
            </a:extLst>
          </p:cNvPr>
          <p:cNvSpPr>
            <a:spLocks noGrp="1"/>
          </p:cNvSpPr>
          <p:nvPr>
            <p:ph type="dt" idx="10"/>
          </p:nvPr>
        </p:nvSpPr>
        <p:spPr/>
        <p:txBody>
          <a:body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C00A0D81-0C2A-C1D4-89B6-8AE90F9526E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0B9370B-01DE-CE63-36D5-96A9D825C7B0}"/>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90AC2-F784-0AF0-F3ED-DBCD17B7D40C}"/>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9BD271C8-4BB8-81BF-3E48-A331E363C77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875B16BC-0E70-2E48-7097-0DFE7C08FAAE}"/>
              </a:ext>
            </a:extLst>
          </p:cNvPr>
          <p:cNvSpPr>
            <a:spLocks noGrp="1"/>
          </p:cNvSpPr>
          <p:nvPr>
            <p:ph type="dt" idx="10"/>
          </p:nvPr>
        </p:nvSpPr>
        <p:spPr/>
        <p:txBody>
          <a:body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3CD047D9-7A7D-1CD5-72A5-F76FBD2C53EE}"/>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68091CC-B299-657A-2C84-A5F2F888820C}"/>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5F06C-0D22-B95A-3B46-31C419CCD16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1CF73E89-D75F-3A4E-A217-F46B0DA8C060}"/>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7410F7D-6F60-6DB0-0E74-8FEE6CE09FB7}"/>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C272328-69C6-F435-4813-270551D6E50E}"/>
              </a:ext>
            </a:extLst>
          </p:cNvPr>
          <p:cNvSpPr>
            <a:spLocks noGrp="1"/>
          </p:cNvSpPr>
          <p:nvPr>
            <p:ph type="dt" idx="10"/>
          </p:nvPr>
        </p:nvSpPr>
        <p:spPr/>
        <p:txBody>
          <a:bodyPr/>
          <a:lstStyle/>
          <a:p>
            <a:fld id="{6246DAB4-64D8-47E1-86DF-DDDBF407C837}" type="datetimeFigureOut">
              <a:t>8/1/2026</a:t>
            </a:fld>
            <a:endParaRPr/>
          </a:p>
        </p:txBody>
      </p:sp>
      <p:sp>
        <p:nvSpPr>
          <p:cNvPr id="6" name="Footer Placeholder 5">
            <a:extLst>
              <a:ext uri="{FF2B5EF4-FFF2-40B4-BE49-F238E27FC236}">
                <a16:creationId xmlns:a16="http://schemas.microsoft.com/office/drawing/2014/main" id="{9BC3F8F5-C5C9-48DC-1308-5E0A2373638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CA24BD1-9CE1-C3C2-B124-AE1341592850}"/>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E4B79-7BBE-B26E-CD11-6E073F017804}"/>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F4E82D61-2728-EA99-834D-7D09F97DF8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85C5F1A8-9E4B-1F46-6A76-FE7DBEDDB9B7}"/>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A25FC5FE-7EE0-3067-D9E3-E1B7ACBE5CA6}"/>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9C1A719-3264-25D2-762F-27B02CA5EB31}"/>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E4678265-E976-C256-95D8-A8912C72D179}"/>
              </a:ext>
            </a:extLst>
          </p:cNvPr>
          <p:cNvSpPr>
            <a:spLocks noGrp="1"/>
          </p:cNvSpPr>
          <p:nvPr>
            <p:ph type="dt" idx="10"/>
          </p:nvPr>
        </p:nvSpPr>
        <p:spPr/>
        <p:txBody>
          <a:bodyPr/>
          <a:lstStyle/>
          <a:p>
            <a:fld id="{6246DAB4-64D8-47E1-86DF-DDDBF407C837}" type="datetimeFigureOut">
              <a:t>8/1/2026</a:t>
            </a:fld>
            <a:endParaRPr/>
          </a:p>
        </p:txBody>
      </p:sp>
      <p:sp>
        <p:nvSpPr>
          <p:cNvPr id="8" name="Footer Placeholder 7">
            <a:extLst>
              <a:ext uri="{FF2B5EF4-FFF2-40B4-BE49-F238E27FC236}">
                <a16:creationId xmlns:a16="http://schemas.microsoft.com/office/drawing/2014/main" id="{49D36777-CC57-C820-BF8C-8D0CF23D1D1F}"/>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74A80B76-8FA3-06A7-902F-E352C63C2AA8}"/>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8CDFE-68BE-C53D-F11D-3E85BE704F15}"/>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480FBA4-BC6C-DAE9-B28F-131F14F4EB97}"/>
              </a:ext>
            </a:extLst>
          </p:cNvPr>
          <p:cNvSpPr>
            <a:spLocks noGrp="1"/>
          </p:cNvSpPr>
          <p:nvPr>
            <p:ph type="dt" idx="10"/>
          </p:nvPr>
        </p:nvSpPr>
        <p:spPr/>
        <p:txBody>
          <a:bodyPr/>
          <a:lstStyle/>
          <a:p>
            <a:fld id="{6246DAB4-64D8-47E1-86DF-DDDBF407C837}" type="datetimeFigureOut">
              <a:t>8/1/2026</a:t>
            </a:fld>
            <a:endParaRPr/>
          </a:p>
        </p:txBody>
      </p:sp>
      <p:sp>
        <p:nvSpPr>
          <p:cNvPr id="4" name="Footer Placeholder 3">
            <a:extLst>
              <a:ext uri="{FF2B5EF4-FFF2-40B4-BE49-F238E27FC236}">
                <a16:creationId xmlns:a16="http://schemas.microsoft.com/office/drawing/2014/main" id="{767C68B9-31A8-4792-F49D-2952126BFC79}"/>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D936716E-C2BA-F748-85E9-7F0311957349}"/>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B5A6AF-4CC8-54AC-FA16-AEBA470BBF8D}"/>
              </a:ext>
            </a:extLst>
          </p:cNvPr>
          <p:cNvSpPr>
            <a:spLocks noGrp="1"/>
          </p:cNvSpPr>
          <p:nvPr>
            <p:ph type="dt" idx="10"/>
          </p:nvPr>
        </p:nvSpPr>
        <p:spPr/>
        <p:txBody>
          <a:bodyPr/>
          <a:lstStyle/>
          <a:p>
            <a:fld id="{6246DAB4-64D8-47E1-86DF-DDDBF407C837}" type="datetimeFigureOut">
              <a:t>8/1/2026</a:t>
            </a:fld>
            <a:endParaRPr/>
          </a:p>
        </p:txBody>
      </p:sp>
      <p:sp>
        <p:nvSpPr>
          <p:cNvPr id="3" name="Footer Placeholder 2">
            <a:extLst>
              <a:ext uri="{FF2B5EF4-FFF2-40B4-BE49-F238E27FC236}">
                <a16:creationId xmlns:a16="http://schemas.microsoft.com/office/drawing/2014/main" id="{A4E6884A-7660-6A22-843A-FB822052380B}"/>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79005E15-4ACF-A3B3-FBFE-4D73E8C1A43E}"/>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CDFCA-286F-443B-15DC-CADE0C67A0D0}"/>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3488B1CB-9637-A0B8-1EFC-6E5BAA21A2F2}"/>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EDB3AB0-8AC3-63AC-1867-1D3D46D4CD2E}"/>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8B0CEAB7-F5DA-BFC5-0365-4BAA0BDA35EB}"/>
              </a:ext>
            </a:extLst>
          </p:cNvPr>
          <p:cNvSpPr>
            <a:spLocks noGrp="1"/>
          </p:cNvSpPr>
          <p:nvPr>
            <p:ph type="dt" idx="10"/>
          </p:nvPr>
        </p:nvSpPr>
        <p:spPr/>
        <p:txBody>
          <a:bodyPr/>
          <a:lstStyle/>
          <a:p>
            <a:fld id="{6246DAB4-64D8-47E1-86DF-DDDBF407C837}" type="datetimeFigureOut">
              <a:t>8/1/2026</a:t>
            </a:fld>
            <a:endParaRPr/>
          </a:p>
        </p:txBody>
      </p:sp>
      <p:sp>
        <p:nvSpPr>
          <p:cNvPr id="6" name="Footer Placeholder 5">
            <a:extLst>
              <a:ext uri="{FF2B5EF4-FFF2-40B4-BE49-F238E27FC236}">
                <a16:creationId xmlns:a16="http://schemas.microsoft.com/office/drawing/2014/main" id="{C2923004-B909-75B9-5143-716F19EBE08C}"/>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4146B2E9-27EC-85B8-C336-7F459E3F76E1}"/>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4E309-44E4-B050-60D6-980FBE7A69E2}"/>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E3F88B82-D5EF-6449-0E46-6018B42DF8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17ED7B3C-D6F6-9D71-843F-F55A49107D1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154F7285-2883-A37B-1978-0DD70F535574}"/>
              </a:ext>
            </a:extLst>
          </p:cNvPr>
          <p:cNvSpPr>
            <a:spLocks noGrp="1"/>
          </p:cNvSpPr>
          <p:nvPr>
            <p:ph type="dt" idx="10"/>
          </p:nvPr>
        </p:nvSpPr>
        <p:spPr/>
        <p:txBody>
          <a:bodyPr/>
          <a:lstStyle/>
          <a:p>
            <a:fld id="{6246DAB4-64D8-47E1-86DF-DDDBF407C837}" type="datetimeFigureOut">
              <a:t>8/1/2026</a:t>
            </a:fld>
            <a:endParaRPr/>
          </a:p>
        </p:txBody>
      </p:sp>
      <p:sp>
        <p:nvSpPr>
          <p:cNvPr id="6" name="Footer Placeholder 5">
            <a:extLst>
              <a:ext uri="{FF2B5EF4-FFF2-40B4-BE49-F238E27FC236}">
                <a16:creationId xmlns:a16="http://schemas.microsoft.com/office/drawing/2014/main" id="{7A7ABE42-D47A-22EE-D00F-DD65496D464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E51BA2B4-747B-B0E4-0325-9ECD9E419567}"/>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5300C-8D5E-D5B2-0D9C-8B274A8563FD}"/>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110BF644-E307-4898-579B-2F5C0191AB1A}"/>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8E9926B-92DB-5030-6C8D-3414FB881971}"/>
              </a:ext>
            </a:extLst>
          </p:cNvPr>
          <p:cNvSpPr>
            <a:spLocks noGrp="1"/>
          </p:cNvSpPr>
          <p:nvPr>
            <p:ph type="dt" idx="10"/>
          </p:nvPr>
        </p:nvSpPr>
        <p:spPr/>
        <p:txBody>
          <a:body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7F5860F0-C556-9493-9C42-3D2CFC4C6CB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C1A6D93-20CC-08BA-CC36-537C3CBBCE1D}"/>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F9B8D19-A675-BB65-B565-649B72C34358}"/>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D0927A4D-9F97-4C16-820B-FB05610C8716}"/>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60C3344-B033-4A65-2E60-A222E42C0296}"/>
              </a:ext>
            </a:extLst>
          </p:cNvPr>
          <p:cNvSpPr>
            <a:spLocks noGrp="1"/>
          </p:cNvSpPr>
          <p:nvPr>
            <p:ph type="dt" idx="10"/>
          </p:nvPr>
        </p:nvSpPr>
        <p:spPr/>
        <p:txBody>
          <a:body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D4A87110-36C5-4A97-F84F-1B07FCA20A2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B25307-4E04-5972-AF84-0BCBF9A02008}"/>
              </a:ext>
            </a:extLst>
          </p:cNvPr>
          <p:cNvSpPr>
            <a:spLocks noGrp="1"/>
          </p:cNvSpPr>
          <p:nvPr>
            <p:ph type="sldNum" idx="12"/>
          </p:nvPr>
        </p:nvSpPr>
        <p:spPr/>
        <p:txBody>
          <a:bodyPr/>
          <a:lstStyle/>
          <a:p>
            <a:fld id="{1A8B65B4-F627-48A4-BDD7-73C74112FD6B}"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
        <p:cNvGrpSpPr/>
        <p:nvPr/>
      </p:nvGrpSpPr>
      <p:grpSpPr>
        <a:xfrm>
          <a:off x="0" y="0"/>
          <a:ext cx="0" cy="0"/>
          <a:chOff x="0" y="0"/>
          <a:chExt cx="0" cy="0"/>
        </a:xfrm>
      </p:grpSpPr>
      <p:sp>
        <p:nvSpPr>
          <p:cNvPr id="12" name="Google Shape;12;p5">
            <a:extLst>
              <a:ext uri="{FF2B5EF4-FFF2-40B4-BE49-F238E27FC236}">
                <a16:creationId xmlns:a16="http://schemas.microsoft.com/office/drawing/2014/main" id="{D1885C80-C5F7-4A24-9CDA-3428E4F7FA94}"/>
              </a:ext>
            </a:extLst>
          </p:cNvPr>
          <p:cNvSpPr>
            <a:spLocks noGrp="1"/>
          </p:cNvSpPr>
          <p:nvPr>
            <p:ph type="ctrTitle"/>
          </p:nvPr>
        </p:nvSpPr>
        <p:spPr>
          <a:xfrm>
            <a:off x="914400" y="2130427"/>
            <a:ext cx="10363200" cy="1470025"/>
          </a:xfrm>
          <a:prstGeom prst="rect">
            <a:avLst/>
          </a:prstGeom>
          <a:noFill/>
          <a:ln>
            <a:noFill/>
          </a:ln>
        </p:spPr>
        <p:txBody>
          <a:bodyPr spcFirstLastPara="1" wrap="square" lIns="81025" tIns="40500" rIns="81025" bIns="405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3" name="Google Shape;13;p5">
            <a:extLst>
              <a:ext uri="{FF2B5EF4-FFF2-40B4-BE49-F238E27FC236}">
                <a16:creationId xmlns:a16="http://schemas.microsoft.com/office/drawing/2014/main" id="{2FED5915-CAED-4521-9CB1-A6BA6D38732A}"/>
              </a:ext>
            </a:extLst>
          </p:cNvPr>
          <p:cNvSpPr>
            <a:spLocks noGrp="1"/>
          </p:cNvSpPr>
          <p:nvPr>
            <p:ph type="subTitle" idx="1"/>
          </p:nvPr>
        </p:nvSpPr>
        <p:spPr>
          <a:xfrm>
            <a:off x="1828800" y="3886200"/>
            <a:ext cx="8534400" cy="1752600"/>
          </a:xfrm>
          <a:prstGeom prst="rect">
            <a:avLst/>
          </a:prstGeom>
          <a:noFill/>
          <a:ln>
            <a:noFill/>
          </a:ln>
        </p:spPr>
        <p:txBody>
          <a:bodyPr spcFirstLastPara="1" wrap="square" lIns="81025" tIns="40500" rIns="81025" bIns="40500" anchor="t">
            <a:normAutofit/>
          </a:bodyPr>
          <a:lstStyle>
            <a:lvl1pPr algn="ctr">
              <a:lnSpc>
                <a:spcPct val="100000"/>
              </a:lnSpc>
              <a:spcBef>
                <a:spcPts val="672"/>
              </a:spcBef>
              <a:spcAft>
                <a:spcPts val="0"/>
              </a:spcAft>
              <a:buClr>
                <a:srgbClr val="888888"/>
              </a:buClr>
              <a:buSzPts val="3360"/>
              <a:buNone/>
              <a:defRPr>
                <a:solidFill>
                  <a:srgbClr val="888888"/>
                </a:solidFill>
              </a:defRPr>
            </a:lvl1pPr>
            <a:lvl2pPr algn="ctr">
              <a:lnSpc>
                <a:spcPct val="100000"/>
              </a:lnSpc>
              <a:spcBef>
                <a:spcPts val="600"/>
              </a:spcBef>
              <a:spcAft>
                <a:spcPts val="0"/>
              </a:spcAft>
              <a:buClr>
                <a:srgbClr val="888888"/>
              </a:buClr>
              <a:buSzPts val="3000"/>
              <a:buNone/>
              <a:defRPr>
                <a:solidFill>
                  <a:srgbClr val="888888"/>
                </a:solidFill>
              </a:defRPr>
            </a:lvl2pPr>
            <a:lvl3pPr algn="ctr">
              <a:lnSpc>
                <a:spcPct val="100000"/>
              </a:lnSpc>
              <a:spcBef>
                <a:spcPts val="504"/>
              </a:spcBef>
              <a:spcAft>
                <a:spcPts val="0"/>
              </a:spcAft>
              <a:buClr>
                <a:srgbClr val="888888"/>
              </a:buClr>
              <a:buSzPts val="2520"/>
              <a:buNone/>
              <a:defRPr>
                <a:solidFill>
                  <a:srgbClr val="888888"/>
                </a:solidFill>
              </a:defRPr>
            </a:lvl3pPr>
            <a:lvl4pPr algn="ctr">
              <a:lnSpc>
                <a:spcPct val="100000"/>
              </a:lnSpc>
              <a:spcBef>
                <a:spcPts val="432"/>
              </a:spcBef>
              <a:spcAft>
                <a:spcPts val="0"/>
              </a:spcAft>
              <a:buClr>
                <a:srgbClr val="888888"/>
              </a:buClr>
              <a:buSzPts val="2160"/>
              <a:buNone/>
              <a:defRPr>
                <a:solidFill>
                  <a:srgbClr val="888888"/>
                </a:solidFill>
              </a:defRPr>
            </a:lvl4pPr>
            <a:lvl5pPr algn="ctr">
              <a:lnSpc>
                <a:spcPct val="100000"/>
              </a:lnSpc>
              <a:spcBef>
                <a:spcPts val="432"/>
              </a:spcBef>
              <a:spcAft>
                <a:spcPts val="0"/>
              </a:spcAft>
              <a:buClr>
                <a:srgbClr val="888888"/>
              </a:buClr>
              <a:buSzPts val="2160"/>
              <a:buNone/>
              <a:defRPr>
                <a:solidFill>
                  <a:srgbClr val="888888"/>
                </a:solidFill>
              </a:defRPr>
            </a:lvl5pPr>
            <a:lvl6pPr algn="ctr">
              <a:lnSpc>
                <a:spcPct val="100000"/>
              </a:lnSpc>
              <a:spcBef>
                <a:spcPts val="432"/>
              </a:spcBef>
              <a:spcAft>
                <a:spcPts val="0"/>
              </a:spcAft>
              <a:buClr>
                <a:srgbClr val="888888"/>
              </a:buClr>
              <a:buSzPts val="2160"/>
              <a:buNone/>
              <a:defRPr>
                <a:solidFill>
                  <a:srgbClr val="888888"/>
                </a:solidFill>
              </a:defRPr>
            </a:lvl6pPr>
            <a:lvl7pPr algn="ctr">
              <a:lnSpc>
                <a:spcPct val="100000"/>
              </a:lnSpc>
              <a:spcBef>
                <a:spcPts val="432"/>
              </a:spcBef>
              <a:spcAft>
                <a:spcPts val="0"/>
              </a:spcAft>
              <a:buClr>
                <a:srgbClr val="888888"/>
              </a:buClr>
              <a:buSzPts val="2160"/>
              <a:buNone/>
              <a:defRPr>
                <a:solidFill>
                  <a:srgbClr val="888888"/>
                </a:solidFill>
              </a:defRPr>
            </a:lvl7pPr>
            <a:lvl8pPr algn="ctr">
              <a:lnSpc>
                <a:spcPct val="100000"/>
              </a:lnSpc>
              <a:spcBef>
                <a:spcPts val="432"/>
              </a:spcBef>
              <a:spcAft>
                <a:spcPts val="0"/>
              </a:spcAft>
              <a:buClr>
                <a:srgbClr val="888888"/>
              </a:buClr>
              <a:buSzPts val="2160"/>
              <a:buNone/>
              <a:defRPr>
                <a:solidFill>
                  <a:srgbClr val="888888"/>
                </a:solidFill>
              </a:defRPr>
            </a:lvl8pPr>
            <a:lvl9pPr algn="ctr">
              <a:lnSpc>
                <a:spcPct val="100000"/>
              </a:lnSpc>
              <a:spcBef>
                <a:spcPts val="432"/>
              </a:spcBef>
              <a:spcAft>
                <a:spcPts val="0"/>
              </a:spcAft>
              <a:buClr>
                <a:srgbClr val="888888"/>
              </a:buClr>
              <a:buSzPts val="2160"/>
              <a:buNone/>
              <a:defRPr>
                <a:solidFill>
                  <a:srgbClr val="888888"/>
                </a:solidFill>
              </a:defRPr>
            </a:lvl9pPr>
          </a:lstStyle>
          <a:p>
            <a:endParaRPr/>
          </a:p>
        </p:txBody>
      </p:sp>
      <p:sp>
        <p:nvSpPr>
          <p:cNvPr id="14" name="Google Shape;14;p5">
            <a:extLst>
              <a:ext uri="{FF2B5EF4-FFF2-40B4-BE49-F238E27FC236}">
                <a16:creationId xmlns:a16="http://schemas.microsoft.com/office/drawing/2014/main" id="{1A90E89F-2659-47CA-988A-22DA4EE36D50}"/>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5" name="Google Shape;15;p5">
            <a:extLst>
              <a:ext uri="{FF2B5EF4-FFF2-40B4-BE49-F238E27FC236}">
                <a16:creationId xmlns:a16="http://schemas.microsoft.com/office/drawing/2014/main" id="{D6BA496D-2180-4171-AFC3-5A0B7DB21565}"/>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6" name="Google Shape;16;p5">
            <a:extLst>
              <a:ext uri="{FF2B5EF4-FFF2-40B4-BE49-F238E27FC236}">
                <a16:creationId xmlns:a16="http://schemas.microsoft.com/office/drawing/2014/main" id="{F4AC0E6C-52EA-4A3F-81E6-28E53E66AF5E}"/>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
        <p:cNvGrpSpPr/>
        <p:nvPr/>
      </p:nvGrpSpPr>
      <p:grpSpPr>
        <a:xfrm>
          <a:off x="0" y="0"/>
          <a:ext cx="0" cy="0"/>
          <a:chOff x="0" y="0"/>
          <a:chExt cx="0" cy="0"/>
        </a:xfrm>
      </p:grpSpPr>
      <p:sp>
        <p:nvSpPr>
          <p:cNvPr id="24" name="Google Shape;24;p43">
            <a:extLst>
              <a:ext uri="{FF2B5EF4-FFF2-40B4-BE49-F238E27FC236}">
                <a16:creationId xmlns:a16="http://schemas.microsoft.com/office/drawing/2014/main" id="{420730EA-A65F-47AB-98C9-8455A08EE9D5}"/>
              </a:ext>
            </a:extLst>
          </p:cNvPr>
          <p:cNvSpPr>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ormAutofit/>
          </a:bodyPr>
          <a:lstStyle>
            <a:lvl1pPr algn="ctr">
              <a:lnSpc>
                <a:spcPct val="100000"/>
              </a:lnSpc>
              <a:spcBef>
                <a:spcPts val="0"/>
              </a:spcBef>
              <a:spcAft>
                <a:spcPts val="0"/>
              </a:spcAft>
              <a:buSzPts val="468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5" name="Google Shape;25;p43">
            <a:extLst>
              <a:ext uri="{FF2B5EF4-FFF2-40B4-BE49-F238E27FC236}">
                <a16:creationId xmlns:a16="http://schemas.microsoft.com/office/drawing/2014/main" id="{AC9E8183-00CE-4EC6-9BA4-5AEB54A4F554}"/>
              </a:ext>
            </a:extLst>
          </p:cNvPr>
          <p:cNvSpPr>
            <a:spLocks noGrp="1"/>
          </p:cNvSpPr>
          <p:nvPr>
            <p:ph type="body" idx="1"/>
          </p:nvPr>
        </p:nvSpPr>
        <p:spPr>
          <a:xfrm>
            <a:off x="609600" y="1535113"/>
            <a:ext cx="5386917" cy="639762"/>
          </a:xfrm>
          <a:prstGeom prst="rect">
            <a:avLst/>
          </a:prstGeom>
          <a:noFill/>
          <a:ln>
            <a:noFill/>
          </a:ln>
        </p:spPr>
        <p:txBody>
          <a:bodyPr spcFirstLastPara="1" wrap="square" lIns="81025" tIns="40500" rIns="81025" bIns="40500" anchor="b">
            <a:normAutofit/>
          </a:bodyPr>
          <a:lstStyle>
            <a:lvl1pPr marL="457200" indent="-228600" algn="l">
              <a:lnSpc>
                <a:spcPct val="100000"/>
              </a:lnSpc>
              <a:spcBef>
                <a:spcPts val="672"/>
              </a:spcBef>
              <a:spcAft>
                <a:spcPts val="0"/>
              </a:spcAft>
              <a:buSzPts val="3360"/>
              <a:buNone/>
              <a:defRPr sz="2400" b="1"/>
            </a:lvl1pPr>
            <a:lvl2pPr marL="914400" indent="-228600" algn="l">
              <a:lnSpc>
                <a:spcPct val="100000"/>
              </a:lnSpc>
              <a:spcBef>
                <a:spcPts val="600"/>
              </a:spcBef>
              <a:spcAft>
                <a:spcPts val="0"/>
              </a:spcAft>
              <a:buSzPts val="3000"/>
              <a:buNone/>
              <a:defRPr sz="2000" b="1"/>
            </a:lvl2pPr>
            <a:lvl3pPr marL="1371600" indent="-228600" algn="l">
              <a:lnSpc>
                <a:spcPct val="100000"/>
              </a:lnSpc>
              <a:spcBef>
                <a:spcPts val="504"/>
              </a:spcBef>
              <a:spcAft>
                <a:spcPts val="0"/>
              </a:spcAft>
              <a:buSzPts val="2520"/>
              <a:buNone/>
              <a:defRPr sz="1800" b="1"/>
            </a:lvl3pPr>
            <a:lvl4pPr marL="1828800" indent="-228600" algn="l">
              <a:lnSpc>
                <a:spcPct val="100000"/>
              </a:lnSpc>
              <a:spcBef>
                <a:spcPts val="432"/>
              </a:spcBef>
              <a:spcAft>
                <a:spcPts val="0"/>
              </a:spcAft>
              <a:buSzPts val="2160"/>
              <a:buNone/>
              <a:defRPr sz="1600" b="1"/>
            </a:lvl4pPr>
            <a:lvl5pPr marL="2286000" indent="-228600" algn="l">
              <a:lnSpc>
                <a:spcPct val="100000"/>
              </a:lnSpc>
              <a:spcBef>
                <a:spcPts val="432"/>
              </a:spcBef>
              <a:spcAft>
                <a:spcPts val="0"/>
              </a:spcAft>
              <a:buSzPts val="2160"/>
              <a:buNone/>
              <a:defRPr sz="1600" b="1"/>
            </a:lvl5pPr>
            <a:lvl6pPr marL="2743200" indent="-228600" algn="l">
              <a:lnSpc>
                <a:spcPct val="100000"/>
              </a:lnSpc>
              <a:spcBef>
                <a:spcPts val="432"/>
              </a:spcBef>
              <a:spcAft>
                <a:spcPts val="0"/>
              </a:spcAft>
              <a:buSzPts val="2160"/>
              <a:buNone/>
              <a:defRPr sz="1600" b="1"/>
            </a:lvl6pPr>
            <a:lvl7pPr marL="3200400" indent="-228600" algn="l">
              <a:lnSpc>
                <a:spcPct val="100000"/>
              </a:lnSpc>
              <a:spcBef>
                <a:spcPts val="432"/>
              </a:spcBef>
              <a:spcAft>
                <a:spcPts val="0"/>
              </a:spcAft>
              <a:buSzPts val="2160"/>
              <a:buNone/>
              <a:defRPr sz="1600" b="1"/>
            </a:lvl7pPr>
            <a:lvl8pPr marL="3657600" indent="-228600" algn="l">
              <a:lnSpc>
                <a:spcPct val="100000"/>
              </a:lnSpc>
              <a:spcBef>
                <a:spcPts val="432"/>
              </a:spcBef>
              <a:spcAft>
                <a:spcPts val="0"/>
              </a:spcAft>
              <a:buSzPts val="2160"/>
              <a:buNone/>
              <a:defRPr sz="1600" b="1"/>
            </a:lvl8pPr>
            <a:lvl9pPr marL="4114800" indent="-228600" algn="l">
              <a:lnSpc>
                <a:spcPct val="100000"/>
              </a:lnSpc>
              <a:spcBef>
                <a:spcPts val="432"/>
              </a:spcBef>
              <a:spcAft>
                <a:spcPts val="0"/>
              </a:spcAft>
              <a:buSzPts val="2160"/>
              <a:buNone/>
              <a:defRPr sz="1600" b="1"/>
            </a:lvl9pPr>
          </a:lstStyle>
          <a:p>
            <a:endParaRPr/>
          </a:p>
        </p:txBody>
      </p:sp>
      <p:sp>
        <p:nvSpPr>
          <p:cNvPr id="26" name="Google Shape;26;p43">
            <a:extLst>
              <a:ext uri="{FF2B5EF4-FFF2-40B4-BE49-F238E27FC236}">
                <a16:creationId xmlns:a16="http://schemas.microsoft.com/office/drawing/2014/main" id="{235E0613-3F75-4C17-AC31-61578B790C73}"/>
              </a:ext>
            </a:extLst>
          </p:cNvPr>
          <p:cNvSpPr>
            <a:spLocks noGrp="1"/>
          </p:cNvSpPr>
          <p:nvPr>
            <p:ph type="body" idx="2"/>
          </p:nvPr>
        </p:nvSpPr>
        <p:spPr>
          <a:xfrm>
            <a:off x="609600" y="2174875"/>
            <a:ext cx="5386917" cy="3951288"/>
          </a:xfrm>
          <a:prstGeom prst="rect">
            <a:avLst/>
          </a:prstGeom>
          <a:noFill/>
          <a:ln>
            <a:noFill/>
          </a:ln>
        </p:spPr>
        <p:txBody>
          <a:bodyPr spcFirstLastPara="1" wrap="square" lIns="81025" tIns="40500" rIns="81025" bIns="40500" anchor="t">
            <a:normAutofit/>
          </a:bodyPr>
          <a:lstStyle>
            <a:lvl1pPr marL="457200" indent="-441960" algn="l">
              <a:lnSpc>
                <a:spcPct val="100000"/>
              </a:lnSpc>
              <a:spcBef>
                <a:spcPts val="672"/>
              </a:spcBef>
              <a:spcAft>
                <a:spcPts val="0"/>
              </a:spcAft>
              <a:buSzPts val="3360"/>
              <a:buChar char="•"/>
              <a:defRPr sz="2400"/>
            </a:lvl1pPr>
            <a:lvl2pPr marL="914400" indent="-419100" algn="l">
              <a:lnSpc>
                <a:spcPct val="100000"/>
              </a:lnSpc>
              <a:spcBef>
                <a:spcPts val="600"/>
              </a:spcBef>
              <a:spcAft>
                <a:spcPts val="0"/>
              </a:spcAft>
              <a:buSzPts val="3000"/>
              <a:buChar char="–"/>
              <a:defRPr sz="2000"/>
            </a:lvl2pPr>
            <a:lvl3pPr marL="1371600" indent="-388619" algn="l">
              <a:lnSpc>
                <a:spcPct val="100000"/>
              </a:lnSpc>
              <a:spcBef>
                <a:spcPts val="504"/>
              </a:spcBef>
              <a:spcAft>
                <a:spcPts val="0"/>
              </a:spcAft>
              <a:buSzPts val="2520"/>
              <a:buChar char="•"/>
              <a:defRPr sz="1800"/>
            </a:lvl3pPr>
            <a:lvl4pPr marL="1828800" indent="-365760" algn="l">
              <a:lnSpc>
                <a:spcPct val="100000"/>
              </a:lnSpc>
              <a:spcBef>
                <a:spcPts val="432"/>
              </a:spcBef>
              <a:spcAft>
                <a:spcPts val="0"/>
              </a:spcAft>
              <a:buSzPts val="2160"/>
              <a:buChar char="–"/>
              <a:defRPr sz="1600"/>
            </a:lvl4pPr>
            <a:lvl5pPr marL="2286000" indent="-365760" algn="l">
              <a:lnSpc>
                <a:spcPct val="100000"/>
              </a:lnSpc>
              <a:spcBef>
                <a:spcPts val="432"/>
              </a:spcBef>
              <a:spcAft>
                <a:spcPts val="0"/>
              </a:spcAft>
              <a:buSzPts val="2160"/>
              <a:buChar char="»"/>
              <a:defRPr sz="1600"/>
            </a:lvl5pPr>
            <a:lvl6pPr marL="2743200" indent="-365760" algn="l">
              <a:lnSpc>
                <a:spcPct val="100000"/>
              </a:lnSpc>
              <a:spcBef>
                <a:spcPts val="432"/>
              </a:spcBef>
              <a:spcAft>
                <a:spcPts val="0"/>
              </a:spcAft>
              <a:buSzPts val="2160"/>
              <a:buChar char="•"/>
              <a:defRPr sz="1600"/>
            </a:lvl6pPr>
            <a:lvl7pPr marL="3200400" indent="-365760" algn="l">
              <a:lnSpc>
                <a:spcPct val="100000"/>
              </a:lnSpc>
              <a:spcBef>
                <a:spcPts val="432"/>
              </a:spcBef>
              <a:spcAft>
                <a:spcPts val="0"/>
              </a:spcAft>
              <a:buSzPts val="2160"/>
              <a:buChar char="•"/>
              <a:defRPr sz="1600"/>
            </a:lvl7pPr>
            <a:lvl8pPr marL="3657600" indent="-365759" algn="l">
              <a:lnSpc>
                <a:spcPct val="100000"/>
              </a:lnSpc>
              <a:spcBef>
                <a:spcPts val="432"/>
              </a:spcBef>
              <a:spcAft>
                <a:spcPts val="0"/>
              </a:spcAft>
              <a:buSzPts val="2160"/>
              <a:buChar char="•"/>
              <a:defRPr sz="1600"/>
            </a:lvl8pPr>
            <a:lvl9pPr marL="4114800" indent="-365759" algn="l">
              <a:lnSpc>
                <a:spcPct val="100000"/>
              </a:lnSpc>
              <a:spcBef>
                <a:spcPts val="432"/>
              </a:spcBef>
              <a:spcAft>
                <a:spcPts val="0"/>
              </a:spcAft>
              <a:buSzPts val="2160"/>
              <a:buChar char="•"/>
              <a:defRPr sz="1600"/>
            </a:lvl9pPr>
          </a:lstStyle>
          <a:p>
            <a:endParaRPr/>
          </a:p>
        </p:txBody>
      </p:sp>
      <p:sp>
        <p:nvSpPr>
          <p:cNvPr id="27" name="Google Shape;27;p43">
            <a:extLst>
              <a:ext uri="{FF2B5EF4-FFF2-40B4-BE49-F238E27FC236}">
                <a16:creationId xmlns:a16="http://schemas.microsoft.com/office/drawing/2014/main" id="{B984C877-2700-4064-91A7-ECB7DFB04821}"/>
              </a:ext>
            </a:extLst>
          </p:cNvPr>
          <p:cNvSpPr>
            <a:spLocks noGrp="1"/>
          </p:cNvSpPr>
          <p:nvPr>
            <p:ph type="body" idx="3"/>
          </p:nvPr>
        </p:nvSpPr>
        <p:spPr>
          <a:xfrm>
            <a:off x="6193368" y="1535113"/>
            <a:ext cx="5389033" cy="639762"/>
          </a:xfrm>
          <a:prstGeom prst="rect">
            <a:avLst/>
          </a:prstGeom>
          <a:noFill/>
          <a:ln>
            <a:noFill/>
          </a:ln>
        </p:spPr>
        <p:txBody>
          <a:bodyPr spcFirstLastPara="1" wrap="square" lIns="81025" tIns="40500" rIns="81025" bIns="40500" anchor="b">
            <a:normAutofit/>
          </a:bodyPr>
          <a:lstStyle>
            <a:lvl1pPr marL="457200" indent="-228600" algn="l">
              <a:lnSpc>
                <a:spcPct val="100000"/>
              </a:lnSpc>
              <a:spcBef>
                <a:spcPts val="672"/>
              </a:spcBef>
              <a:spcAft>
                <a:spcPts val="0"/>
              </a:spcAft>
              <a:buSzPts val="3360"/>
              <a:buNone/>
              <a:defRPr sz="2400" b="1"/>
            </a:lvl1pPr>
            <a:lvl2pPr marL="914400" indent="-228600" algn="l">
              <a:lnSpc>
                <a:spcPct val="100000"/>
              </a:lnSpc>
              <a:spcBef>
                <a:spcPts val="600"/>
              </a:spcBef>
              <a:spcAft>
                <a:spcPts val="0"/>
              </a:spcAft>
              <a:buSzPts val="3000"/>
              <a:buNone/>
              <a:defRPr sz="2000" b="1"/>
            </a:lvl2pPr>
            <a:lvl3pPr marL="1371600" indent="-228600" algn="l">
              <a:lnSpc>
                <a:spcPct val="100000"/>
              </a:lnSpc>
              <a:spcBef>
                <a:spcPts val="504"/>
              </a:spcBef>
              <a:spcAft>
                <a:spcPts val="0"/>
              </a:spcAft>
              <a:buSzPts val="2520"/>
              <a:buNone/>
              <a:defRPr sz="1800" b="1"/>
            </a:lvl3pPr>
            <a:lvl4pPr marL="1828800" indent="-228600" algn="l">
              <a:lnSpc>
                <a:spcPct val="100000"/>
              </a:lnSpc>
              <a:spcBef>
                <a:spcPts val="432"/>
              </a:spcBef>
              <a:spcAft>
                <a:spcPts val="0"/>
              </a:spcAft>
              <a:buSzPts val="2160"/>
              <a:buNone/>
              <a:defRPr sz="1600" b="1"/>
            </a:lvl4pPr>
            <a:lvl5pPr marL="2286000" indent="-228600" algn="l">
              <a:lnSpc>
                <a:spcPct val="100000"/>
              </a:lnSpc>
              <a:spcBef>
                <a:spcPts val="432"/>
              </a:spcBef>
              <a:spcAft>
                <a:spcPts val="0"/>
              </a:spcAft>
              <a:buSzPts val="2160"/>
              <a:buNone/>
              <a:defRPr sz="1600" b="1"/>
            </a:lvl5pPr>
            <a:lvl6pPr marL="2743200" indent="-228600" algn="l">
              <a:lnSpc>
                <a:spcPct val="100000"/>
              </a:lnSpc>
              <a:spcBef>
                <a:spcPts val="432"/>
              </a:spcBef>
              <a:spcAft>
                <a:spcPts val="0"/>
              </a:spcAft>
              <a:buSzPts val="2160"/>
              <a:buNone/>
              <a:defRPr sz="1600" b="1"/>
            </a:lvl6pPr>
            <a:lvl7pPr marL="3200400" indent="-228600" algn="l">
              <a:lnSpc>
                <a:spcPct val="100000"/>
              </a:lnSpc>
              <a:spcBef>
                <a:spcPts val="432"/>
              </a:spcBef>
              <a:spcAft>
                <a:spcPts val="0"/>
              </a:spcAft>
              <a:buSzPts val="2160"/>
              <a:buNone/>
              <a:defRPr sz="1600" b="1"/>
            </a:lvl7pPr>
            <a:lvl8pPr marL="3657600" indent="-228600" algn="l">
              <a:lnSpc>
                <a:spcPct val="100000"/>
              </a:lnSpc>
              <a:spcBef>
                <a:spcPts val="432"/>
              </a:spcBef>
              <a:spcAft>
                <a:spcPts val="0"/>
              </a:spcAft>
              <a:buSzPts val="2160"/>
              <a:buNone/>
              <a:defRPr sz="1600" b="1"/>
            </a:lvl8pPr>
            <a:lvl9pPr marL="4114800" indent="-228600" algn="l">
              <a:lnSpc>
                <a:spcPct val="100000"/>
              </a:lnSpc>
              <a:spcBef>
                <a:spcPts val="432"/>
              </a:spcBef>
              <a:spcAft>
                <a:spcPts val="0"/>
              </a:spcAft>
              <a:buSzPts val="2160"/>
              <a:buNone/>
              <a:defRPr sz="1600" b="1"/>
            </a:lvl9pPr>
          </a:lstStyle>
          <a:p>
            <a:endParaRPr/>
          </a:p>
        </p:txBody>
      </p:sp>
      <p:sp>
        <p:nvSpPr>
          <p:cNvPr id="28" name="Google Shape;28;p43">
            <a:extLst>
              <a:ext uri="{FF2B5EF4-FFF2-40B4-BE49-F238E27FC236}">
                <a16:creationId xmlns:a16="http://schemas.microsoft.com/office/drawing/2014/main" id="{DECA4355-616E-4D9B-BA43-E29B2E910EE1}"/>
              </a:ext>
            </a:extLst>
          </p:cNvPr>
          <p:cNvSpPr>
            <a:spLocks noGrp="1"/>
          </p:cNvSpPr>
          <p:nvPr>
            <p:ph type="body" idx="4"/>
          </p:nvPr>
        </p:nvSpPr>
        <p:spPr>
          <a:xfrm>
            <a:off x="6193368" y="2174875"/>
            <a:ext cx="5389033" cy="3951288"/>
          </a:xfrm>
          <a:prstGeom prst="rect">
            <a:avLst/>
          </a:prstGeom>
          <a:noFill/>
          <a:ln>
            <a:noFill/>
          </a:ln>
        </p:spPr>
        <p:txBody>
          <a:bodyPr spcFirstLastPara="1" wrap="square" lIns="81025" tIns="40500" rIns="81025" bIns="40500" anchor="t">
            <a:normAutofit/>
          </a:bodyPr>
          <a:lstStyle>
            <a:lvl1pPr marL="457200" indent="-441960" algn="l">
              <a:lnSpc>
                <a:spcPct val="100000"/>
              </a:lnSpc>
              <a:spcBef>
                <a:spcPts val="672"/>
              </a:spcBef>
              <a:spcAft>
                <a:spcPts val="0"/>
              </a:spcAft>
              <a:buSzPts val="3360"/>
              <a:buChar char="•"/>
              <a:defRPr sz="2400"/>
            </a:lvl1pPr>
            <a:lvl2pPr marL="914400" indent="-419100" algn="l">
              <a:lnSpc>
                <a:spcPct val="100000"/>
              </a:lnSpc>
              <a:spcBef>
                <a:spcPts val="600"/>
              </a:spcBef>
              <a:spcAft>
                <a:spcPts val="0"/>
              </a:spcAft>
              <a:buSzPts val="3000"/>
              <a:buChar char="–"/>
              <a:defRPr sz="2000"/>
            </a:lvl2pPr>
            <a:lvl3pPr marL="1371600" indent="-388619" algn="l">
              <a:lnSpc>
                <a:spcPct val="100000"/>
              </a:lnSpc>
              <a:spcBef>
                <a:spcPts val="504"/>
              </a:spcBef>
              <a:spcAft>
                <a:spcPts val="0"/>
              </a:spcAft>
              <a:buSzPts val="2520"/>
              <a:buChar char="•"/>
              <a:defRPr sz="1800"/>
            </a:lvl3pPr>
            <a:lvl4pPr marL="1828800" indent="-365760" algn="l">
              <a:lnSpc>
                <a:spcPct val="100000"/>
              </a:lnSpc>
              <a:spcBef>
                <a:spcPts val="432"/>
              </a:spcBef>
              <a:spcAft>
                <a:spcPts val="0"/>
              </a:spcAft>
              <a:buSzPts val="2160"/>
              <a:buChar char="–"/>
              <a:defRPr sz="1600"/>
            </a:lvl4pPr>
            <a:lvl5pPr marL="2286000" indent="-365760" algn="l">
              <a:lnSpc>
                <a:spcPct val="100000"/>
              </a:lnSpc>
              <a:spcBef>
                <a:spcPts val="432"/>
              </a:spcBef>
              <a:spcAft>
                <a:spcPts val="0"/>
              </a:spcAft>
              <a:buSzPts val="2160"/>
              <a:buChar char="»"/>
              <a:defRPr sz="1600"/>
            </a:lvl5pPr>
            <a:lvl6pPr marL="2743200" indent="-365760" algn="l">
              <a:lnSpc>
                <a:spcPct val="100000"/>
              </a:lnSpc>
              <a:spcBef>
                <a:spcPts val="432"/>
              </a:spcBef>
              <a:spcAft>
                <a:spcPts val="0"/>
              </a:spcAft>
              <a:buSzPts val="2160"/>
              <a:buChar char="•"/>
              <a:defRPr sz="1600"/>
            </a:lvl6pPr>
            <a:lvl7pPr marL="3200400" indent="-365760" algn="l">
              <a:lnSpc>
                <a:spcPct val="100000"/>
              </a:lnSpc>
              <a:spcBef>
                <a:spcPts val="432"/>
              </a:spcBef>
              <a:spcAft>
                <a:spcPts val="0"/>
              </a:spcAft>
              <a:buSzPts val="2160"/>
              <a:buChar char="•"/>
              <a:defRPr sz="1600"/>
            </a:lvl7pPr>
            <a:lvl8pPr marL="3657600" indent="-365759" algn="l">
              <a:lnSpc>
                <a:spcPct val="100000"/>
              </a:lnSpc>
              <a:spcBef>
                <a:spcPts val="432"/>
              </a:spcBef>
              <a:spcAft>
                <a:spcPts val="0"/>
              </a:spcAft>
              <a:buSzPts val="2160"/>
              <a:buChar char="•"/>
              <a:defRPr sz="1600"/>
            </a:lvl8pPr>
            <a:lvl9pPr marL="4114800" indent="-365759" algn="l">
              <a:lnSpc>
                <a:spcPct val="100000"/>
              </a:lnSpc>
              <a:spcBef>
                <a:spcPts val="432"/>
              </a:spcBef>
              <a:spcAft>
                <a:spcPts val="0"/>
              </a:spcAft>
              <a:buSzPts val="2160"/>
              <a:buChar char="•"/>
              <a:defRPr sz="1600"/>
            </a:lvl9pPr>
          </a:lstStyle>
          <a:p>
            <a:endParaRPr/>
          </a:p>
        </p:txBody>
      </p:sp>
      <p:sp>
        <p:nvSpPr>
          <p:cNvPr id="29" name="Google Shape;29;p43">
            <a:extLst>
              <a:ext uri="{FF2B5EF4-FFF2-40B4-BE49-F238E27FC236}">
                <a16:creationId xmlns:a16="http://schemas.microsoft.com/office/drawing/2014/main" id="{0128E965-FDE0-4C83-BBF1-E77227EA3098}"/>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0" name="Google Shape;30;p43">
            <a:extLst>
              <a:ext uri="{FF2B5EF4-FFF2-40B4-BE49-F238E27FC236}">
                <a16:creationId xmlns:a16="http://schemas.microsoft.com/office/drawing/2014/main" id="{59D927C2-A9B4-4EFC-9633-5ED2F90AAF9A}"/>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1" name="Google Shape;31;p43">
            <a:extLst>
              <a:ext uri="{FF2B5EF4-FFF2-40B4-BE49-F238E27FC236}">
                <a16:creationId xmlns:a16="http://schemas.microsoft.com/office/drawing/2014/main" id="{4BE62C78-D73B-49C4-8B79-97BD31584E7F}"/>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SzPts val="1300"/>
              <a:buNone/>
              <a:defRPr/>
            </a:lvl1pPr>
            <a:lvl2pPr marL="0" marR="0" indent="0" algn="r">
              <a:lnSpc>
                <a:spcPct val="100000"/>
              </a:lnSpc>
              <a:spcBef>
                <a:spcPts val="0"/>
              </a:spcBef>
              <a:spcAft>
                <a:spcPts val="0"/>
              </a:spcAft>
              <a:buSzPts val="1300"/>
              <a:buNone/>
              <a:defRPr/>
            </a:lvl2pPr>
            <a:lvl3pPr marL="0" marR="0" indent="0" algn="r">
              <a:lnSpc>
                <a:spcPct val="100000"/>
              </a:lnSpc>
              <a:spcBef>
                <a:spcPts val="0"/>
              </a:spcBef>
              <a:spcAft>
                <a:spcPts val="0"/>
              </a:spcAft>
              <a:buSzPts val="1300"/>
              <a:buNone/>
              <a:defRPr/>
            </a:lvl3pPr>
            <a:lvl4pPr marL="0" marR="0" indent="0" algn="r">
              <a:lnSpc>
                <a:spcPct val="100000"/>
              </a:lnSpc>
              <a:spcBef>
                <a:spcPts val="0"/>
              </a:spcBef>
              <a:spcAft>
                <a:spcPts val="0"/>
              </a:spcAft>
              <a:buSzPts val="1300"/>
              <a:buNone/>
              <a:defRPr/>
            </a:lvl4pPr>
            <a:lvl5pPr marL="0" marR="0" indent="0" algn="r">
              <a:lnSpc>
                <a:spcPct val="100000"/>
              </a:lnSpc>
              <a:spcBef>
                <a:spcPts val="0"/>
              </a:spcBef>
              <a:spcAft>
                <a:spcPts val="0"/>
              </a:spcAft>
              <a:buSzPts val="1300"/>
              <a:buNone/>
              <a:defRPr/>
            </a:lvl5pPr>
            <a:lvl6pPr marL="0" marR="0" indent="0" algn="r">
              <a:lnSpc>
                <a:spcPct val="100000"/>
              </a:lnSpc>
              <a:spcBef>
                <a:spcPts val="0"/>
              </a:spcBef>
              <a:spcAft>
                <a:spcPts val="0"/>
              </a:spcAft>
              <a:buSzPts val="1300"/>
              <a:buNone/>
              <a:defRPr/>
            </a:lvl6pPr>
            <a:lvl7pPr marL="0" marR="0" indent="0" algn="r">
              <a:lnSpc>
                <a:spcPct val="100000"/>
              </a:lnSpc>
              <a:spcBef>
                <a:spcPts val="0"/>
              </a:spcBef>
              <a:spcAft>
                <a:spcPts val="0"/>
              </a:spcAft>
              <a:buSzPts val="1300"/>
              <a:buNone/>
              <a:defRPr/>
            </a:lvl7pPr>
            <a:lvl8pPr marL="0" marR="0" indent="0" algn="r">
              <a:lnSpc>
                <a:spcPct val="100000"/>
              </a:lnSpc>
              <a:spcBef>
                <a:spcPts val="0"/>
              </a:spcBef>
              <a:spcAft>
                <a:spcPts val="0"/>
              </a:spcAft>
              <a:buSzPts val="1300"/>
              <a:buNone/>
              <a:defRPr/>
            </a:lvl8pPr>
            <a:lvl9pPr marL="0" marR="0" indent="0" algn="r">
              <a:lnSpc>
                <a:spcPct val="100000"/>
              </a:lnSpc>
              <a:spcBef>
                <a:spcPts val="0"/>
              </a:spcBef>
              <a:spcAft>
                <a:spcPts val="0"/>
              </a:spcAft>
              <a:buSzPts val="1300"/>
              <a:buNone/>
              <a:defRPr/>
            </a:lvl9pPr>
          </a:lstStyle>
          <a:p>
            <a:fld id="{00000000-1234-1234-1234-123412341234}"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
        <p:cNvGrpSpPr/>
        <p:nvPr/>
      </p:nvGrpSpPr>
      <p:grpSpPr>
        <a:xfrm>
          <a:off x="0" y="0"/>
          <a:ext cx="0" cy="0"/>
          <a:chOff x="0" y="0"/>
          <a:chExt cx="0" cy="0"/>
        </a:xfrm>
      </p:grpSpPr>
      <p:sp>
        <p:nvSpPr>
          <p:cNvPr id="33" name="Google Shape;33;p7">
            <a:extLst>
              <a:ext uri="{FF2B5EF4-FFF2-40B4-BE49-F238E27FC236}">
                <a16:creationId xmlns:a16="http://schemas.microsoft.com/office/drawing/2014/main" id="{32CA5298-A563-4E15-8EDF-B24DCE9CFD7D}"/>
              </a:ext>
            </a:extLst>
          </p:cNvPr>
          <p:cNvSpPr>
            <a:spLocks noGrp="1"/>
          </p:cNvSpPr>
          <p:nvPr>
            <p:ph type="title"/>
          </p:nvPr>
        </p:nvSpPr>
        <p:spPr>
          <a:xfrm>
            <a:off x="963084" y="4406902"/>
            <a:ext cx="10363200" cy="1362076"/>
          </a:xfrm>
          <a:prstGeom prst="rect">
            <a:avLst/>
          </a:prstGeom>
          <a:noFill/>
          <a:ln>
            <a:noFill/>
          </a:ln>
        </p:spPr>
        <p:txBody>
          <a:bodyPr spcFirstLastPara="1" wrap="square" lIns="81025" tIns="40500" rIns="81025" bIns="40500" anchor="t">
            <a:normAutofit/>
          </a:bodyPr>
          <a:lstStyle>
            <a:lvl1pPr algn="l">
              <a:lnSpc>
                <a:spcPct val="100000"/>
              </a:lnSpc>
              <a:spcBef>
                <a:spcPts val="0"/>
              </a:spcBef>
              <a:spcAft>
                <a:spcPts val="0"/>
              </a:spcAft>
              <a:buClr>
                <a:schemeClr val="dk1"/>
              </a:buClr>
              <a:buSzPts val="4200"/>
              <a:buFont typeface="Calibri"/>
              <a:buNone/>
              <a:defRPr sz="4200" b="1"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4" name="Google Shape;34;p7">
            <a:extLst>
              <a:ext uri="{FF2B5EF4-FFF2-40B4-BE49-F238E27FC236}">
                <a16:creationId xmlns:a16="http://schemas.microsoft.com/office/drawing/2014/main" id="{5323A5A1-5A74-4750-834E-77AE5D59F5BA}"/>
              </a:ext>
            </a:extLst>
          </p:cNvPr>
          <p:cNvSpPr>
            <a:spLocks noGrp="1"/>
          </p:cNvSpPr>
          <p:nvPr>
            <p:ph type="body" idx="1"/>
          </p:nvPr>
        </p:nvSpPr>
        <p:spPr>
          <a:xfrm>
            <a:off x="963084" y="2906713"/>
            <a:ext cx="10363200" cy="1500187"/>
          </a:xfrm>
          <a:prstGeom prst="rect">
            <a:avLst/>
          </a:prstGeom>
          <a:noFill/>
          <a:ln>
            <a:noFill/>
          </a:ln>
        </p:spPr>
        <p:txBody>
          <a:bodyPr spcFirstLastPara="1" wrap="square" lIns="81025" tIns="40500" rIns="81025" bIns="40500" anchor="b">
            <a:normAutofit/>
          </a:bodyPr>
          <a:lstStyle>
            <a:lvl1pPr marL="457200" indent="-228600" algn="l">
              <a:lnSpc>
                <a:spcPct val="100000"/>
              </a:lnSpc>
              <a:spcBef>
                <a:spcPts val="432"/>
              </a:spcBef>
              <a:spcAft>
                <a:spcPts val="0"/>
              </a:spcAft>
              <a:buClr>
                <a:srgbClr val="888888"/>
              </a:buClr>
              <a:buSzPts val="2160"/>
              <a:buNone/>
              <a:defRPr sz="2160">
                <a:solidFill>
                  <a:srgbClr val="888888"/>
                </a:solidFill>
              </a:defRPr>
            </a:lvl1pPr>
            <a:lvl2pPr marL="914400" indent="-228600" algn="l">
              <a:lnSpc>
                <a:spcPct val="100000"/>
              </a:lnSpc>
              <a:spcBef>
                <a:spcPts val="384"/>
              </a:spcBef>
              <a:spcAft>
                <a:spcPts val="0"/>
              </a:spcAft>
              <a:buClr>
                <a:srgbClr val="888888"/>
              </a:buClr>
              <a:buSzPts val="1920"/>
              <a:buNone/>
              <a:defRPr sz="1920">
                <a:solidFill>
                  <a:srgbClr val="888888"/>
                </a:solidFill>
              </a:defRPr>
            </a:lvl2pPr>
            <a:lvl3pPr marL="1371600" indent="-228600" algn="l">
              <a:lnSpc>
                <a:spcPct val="100000"/>
              </a:lnSpc>
              <a:spcBef>
                <a:spcPts val="336"/>
              </a:spcBef>
              <a:spcAft>
                <a:spcPts val="0"/>
              </a:spcAft>
              <a:buClr>
                <a:srgbClr val="888888"/>
              </a:buClr>
              <a:buSzPts val="1680"/>
              <a:buNone/>
              <a:defRPr sz="1679">
                <a:solidFill>
                  <a:srgbClr val="888888"/>
                </a:solidFill>
              </a:defRPr>
            </a:lvl3pPr>
            <a:lvl4pPr marL="1828800" indent="-228600" algn="l">
              <a:lnSpc>
                <a:spcPct val="100000"/>
              </a:lnSpc>
              <a:spcBef>
                <a:spcPts val="288"/>
              </a:spcBef>
              <a:spcAft>
                <a:spcPts val="0"/>
              </a:spcAft>
              <a:buClr>
                <a:srgbClr val="888888"/>
              </a:buClr>
              <a:buSzPts val="1440"/>
              <a:buNone/>
              <a:defRPr sz="1440">
                <a:solidFill>
                  <a:srgbClr val="888888"/>
                </a:solidFill>
              </a:defRPr>
            </a:lvl4pPr>
            <a:lvl5pPr marL="2286000" indent="-228600" algn="l">
              <a:lnSpc>
                <a:spcPct val="100000"/>
              </a:lnSpc>
              <a:spcBef>
                <a:spcPts val="288"/>
              </a:spcBef>
              <a:spcAft>
                <a:spcPts val="0"/>
              </a:spcAft>
              <a:buClr>
                <a:srgbClr val="888888"/>
              </a:buClr>
              <a:buSzPts val="1440"/>
              <a:buNone/>
              <a:defRPr sz="1440">
                <a:solidFill>
                  <a:srgbClr val="888888"/>
                </a:solidFill>
              </a:defRPr>
            </a:lvl5pPr>
            <a:lvl6pPr marL="2743200" indent="-228600" algn="l">
              <a:lnSpc>
                <a:spcPct val="100000"/>
              </a:lnSpc>
              <a:spcBef>
                <a:spcPts val="288"/>
              </a:spcBef>
              <a:spcAft>
                <a:spcPts val="0"/>
              </a:spcAft>
              <a:buClr>
                <a:srgbClr val="888888"/>
              </a:buClr>
              <a:buSzPts val="1440"/>
              <a:buNone/>
              <a:defRPr sz="1440">
                <a:solidFill>
                  <a:srgbClr val="888888"/>
                </a:solidFill>
              </a:defRPr>
            </a:lvl6pPr>
            <a:lvl7pPr marL="3200400" indent="-228600" algn="l">
              <a:lnSpc>
                <a:spcPct val="100000"/>
              </a:lnSpc>
              <a:spcBef>
                <a:spcPts val="288"/>
              </a:spcBef>
              <a:spcAft>
                <a:spcPts val="0"/>
              </a:spcAft>
              <a:buClr>
                <a:srgbClr val="888888"/>
              </a:buClr>
              <a:buSzPts val="1440"/>
              <a:buNone/>
              <a:defRPr sz="1440">
                <a:solidFill>
                  <a:srgbClr val="888888"/>
                </a:solidFill>
              </a:defRPr>
            </a:lvl7pPr>
            <a:lvl8pPr marL="3657600" indent="-228600" algn="l">
              <a:lnSpc>
                <a:spcPct val="100000"/>
              </a:lnSpc>
              <a:spcBef>
                <a:spcPts val="288"/>
              </a:spcBef>
              <a:spcAft>
                <a:spcPts val="0"/>
              </a:spcAft>
              <a:buClr>
                <a:srgbClr val="888888"/>
              </a:buClr>
              <a:buSzPts val="1440"/>
              <a:buNone/>
              <a:defRPr sz="1440">
                <a:solidFill>
                  <a:srgbClr val="888888"/>
                </a:solidFill>
              </a:defRPr>
            </a:lvl8pPr>
            <a:lvl9pPr marL="4114800" indent="-228600" algn="l">
              <a:lnSpc>
                <a:spcPct val="100000"/>
              </a:lnSpc>
              <a:spcBef>
                <a:spcPts val="288"/>
              </a:spcBef>
              <a:spcAft>
                <a:spcPts val="0"/>
              </a:spcAft>
              <a:buClr>
                <a:srgbClr val="888888"/>
              </a:buClr>
              <a:buSzPts val="1440"/>
              <a:buNone/>
              <a:defRPr sz="1440">
                <a:solidFill>
                  <a:srgbClr val="888888"/>
                </a:solidFill>
              </a:defRPr>
            </a:lvl9pPr>
          </a:lstStyle>
          <a:p>
            <a:endParaRPr/>
          </a:p>
        </p:txBody>
      </p:sp>
      <p:sp>
        <p:nvSpPr>
          <p:cNvPr id="35" name="Google Shape;35;p7">
            <a:extLst>
              <a:ext uri="{FF2B5EF4-FFF2-40B4-BE49-F238E27FC236}">
                <a16:creationId xmlns:a16="http://schemas.microsoft.com/office/drawing/2014/main" id="{64F568E7-9D27-4D1C-B0E0-F0971993C958}"/>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6" name="Google Shape;36;p7">
            <a:extLst>
              <a:ext uri="{FF2B5EF4-FFF2-40B4-BE49-F238E27FC236}">
                <a16:creationId xmlns:a16="http://schemas.microsoft.com/office/drawing/2014/main" id="{9FA9E382-8B0C-4977-9591-E10440D476D1}"/>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7" name="Google Shape;37;p7">
            <a:extLst>
              <a:ext uri="{FF2B5EF4-FFF2-40B4-BE49-F238E27FC236}">
                <a16:creationId xmlns:a16="http://schemas.microsoft.com/office/drawing/2014/main" id="{E83E303D-A264-4FE6-BF6A-C8B858363A59}"/>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
        <p:cNvGrpSpPr/>
        <p:nvPr/>
      </p:nvGrpSpPr>
      <p:grpSpPr>
        <a:xfrm>
          <a:off x="0" y="0"/>
          <a:ext cx="0" cy="0"/>
          <a:chOff x="0" y="0"/>
          <a:chExt cx="0" cy="0"/>
        </a:xfrm>
      </p:grpSpPr>
      <p:sp>
        <p:nvSpPr>
          <p:cNvPr id="46" name="Google Shape;46;p10">
            <a:extLst>
              <a:ext uri="{FF2B5EF4-FFF2-40B4-BE49-F238E27FC236}">
                <a16:creationId xmlns:a16="http://schemas.microsoft.com/office/drawing/2014/main" id="{27C09427-EB64-483C-BB54-E71EFCF60C76}"/>
              </a:ext>
            </a:extLst>
          </p:cNvPr>
          <p:cNvSpPr>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7" name="Google Shape;47;p10">
            <a:extLst>
              <a:ext uri="{FF2B5EF4-FFF2-40B4-BE49-F238E27FC236}">
                <a16:creationId xmlns:a16="http://schemas.microsoft.com/office/drawing/2014/main" id="{03D82034-4981-4A42-A3DC-94F8CED3E3D7}"/>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8" name="Google Shape;48;p10">
            <a:extLst>
              <a:ext uri="{FF2B5EF4-FFF2-40B4-BE49-F238E27FC236}">
                <a16:creationId xmlns:a16="http://schemas.microsoft.com/office/drawing/2014/main" id="{B15C58F6-6FF0-4F19-BC52-4F206E2BF3FC}"/>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9" name="Google Shape;49;p10">
            <a:extLst>
              <a:ext uri="{FF2B5EF4-FFF2-40B4-BE49-F238E27FC236}">
                <a16:creationId xmlns:a16="http://schemas.microsoft.com/office/drawing/2014/main" id="{4FD021C3-B1B7-4040-971B-70B6A1AB7326}"/>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51" name="Google Shape;51;p11">
            <a:extLst>
              <a:ext uri="{FF2B5EF4-FFF2-40B4-BE49-F238E27FC236}">
                <a16:creationId xmlns:a16="http://schemas.microsoft.com/office/drawing/2014/main" id="{50330AC0-61F6-4FDC-8789-8AB1397D19BD}"/>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2" name="Google Shape;52;p11">
            <a:extLst>
              <a:ext uri="{FF2B5EF4-FFF2-40B4-BE49-F238E27FC236}">
                <a16:creationId xmlns:a16="http://schemas.microsoft.com/office/drawing/2014/main" id="{822656F1-6608-46EC-AB91-3AFBEF08E2EB}"/>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3" name="Google Shape;53;p11">
            <a:extLst>
              <a:ext uri="{FF2B5EF4-FFF2-40B4-BE49-F238E27FC236}">
                <a16:creationId xmlns:a16="http://schemas.microsoft.com/office/drawing/2014/main" id="{8E906B33-FC26-41DE-B18D-81952D05925F}"/>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
        <p:cNvGrpSpPr/>
        <p:nvPr/>
      </p:nvGrpSpPr>
      <p:grpSpPr>
        <a:xfrm>
          <a:off x="0" y="0"/>
          <a:ext cx="0" cy="0"/>
          <a:chOff x="0" y="0"/>
          <a:chExt cx="0" cy="0"/>
        </a:xfrm>
      </p:grpSpPr>
      <p:sp>
        <p:nvSpPr>
          <p:cNvPr id="55" name="Google Shape;55;p12">
            <a:extLst>
              <a:ext uri="{FF2B5EF4-FFF2-40B4-BE49-F238E27FC236}">
                <a16:creationId xmlns:a16="http://schemas.microsoft.com/office/drawing/2014/main" id="{E3AE176B-C39C-4481-AEAE-A3231BC6FC1E}"/>
              </a:ext>
            </a:extLst>
          </p:cNvPr>
          <p:cNvSpPr>
            <a:spLocks noGrp="1"/>
          </p:cNvSpPr>
          <p:nvPr>
            <p:ph type="title"/>
          </p:nvPr>
        </p:nvSpPr>
        <p:spPr>
          <a:xfrm>
            <a:off x="609601" y="273051"/>
            <a:ext cx="4011084" cy="1162050"/>
          </a:xfrm>
          <a:prstGeom prst="rect">
            <a:avLst/>
          </a:prstGeom>
          <a:noFill/>
          <a:ln>
            <a:noFill/>
          </a:ln>
        </p:spPr>
        <p:txBody>
          <a:bodyPr spcFirstLastPara="1" wrap="square" lIns="81025" tIns="40500" rIns="81025" bIns="40500" anchor="b">
            <a:normAutofit/>
          </a:bodyPr>
          <a:lstStyle>
            <a:lvl1pPr algn="l">
              <a:lnSpc>
                <a:spcPct val="100000"/>
              </a:lnSpc>
              <a:spcBef>
                <a:spcPts val="0"/>
              </a:spcBef>
              <a:spcAft>
                <a:spcPts val="0"/>
              </a:spcAft>
              <a:buClr>
                <a:schemeClr val="dk1"/>
              </a:buClr>
              <a:buSzPts val="2160"/>
              <a:buFont typeface="Calibri"/>
              <a:buNone/>
              <a:defRPr sz="216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6" name="Google Shape;56;p12">
            <a:extLst>
              <a:ext uri="{FF2B5EF4-FFF2-40B4-BE49-F238E27FC236}">
                <a16:creationId xmlns:a16="http://schemas.microsoft.com/office/drawing/2014/main" id="{5DF2C617-A59C-4A9C-AB09-61C78966648F}"/>
              </a:ext>
            </a:extLst>
          </p:cNvPr>
          <p:cNvSpPr>
            <a:spLocks noGrp="1"/>
          </p:cNvSpPr>
          <p:nvPr>
            <p:ph type="body" idx="1"/>
          </p:nvPr>
        </p:nvSpPr>
        <p:spPr>
          <a:xfrm>
            <a:off x="4766735" y="273052"/>
            <a:ext cx="6815667" cy="5853113"/>
          </a:xfrm>
          <a:prstGeom prst="rect">
            <a:avLst/>
          </a:prstGeom>
          <a:noFill/>
          <a:ln>
            <a:noFill/>
          </a:ln>
        </p:spPr>
        <p:txBody>
          <a:bodyPr spcFirstLastPara="1" wrap="square" lIns="81025" tIns="40500" rIns="81025" bIns="40500" anchor="t">
            <a:normAutofit/>
          </a:bodyPr>
          <a:lstStyle>
            <a:lvl1pPr marL="457200" indent="-441960" algn="l">
              <a:lnSpc>
                <a:spcPct val="100000"/>
              </a:lnSpc>
              <a:spcBef>
                <a:spcPts val="672"/>
              </a:spcBef>
              <a:spcAft>
                <a:spcPts val="0"/>
              </a:spcAft>
              <a:buClr>
                <a:schemeClr val="dk1"/>
              </a:buClr>
              <a:buSzPts val="3360"/>
              <a:buChar char="•"/>
              <a:defRPr sz="3359"/>
            </a:lvl1pPr>
            <a:lvl2pPr marL="914400" indent="-419100" algn="l">
              <a:lnSpc>
                <a:spcPct val="100000"/>
              </a:lnSpc>
              <a:spcBef>
                <a:spcPts val="600"/>
              </a:spcBef>
              <a:spcAft>
                <a:spcPts val="0"/>
              </a:spcAft>
              <a:buClr>
                <a:schemeClr val="dk1"/>
              </a:buClr>
              <a:buSzPts val="3000"/>
              <a:buChar char="–"/>
              <a:defRPr sz="3000"/>
            </a:lvl2pPr>
            <a:lvl3pPr marL="1371600" indent="-388619" algn="l">
              <a:lnSpc>
                <a:spcPct val="100000"/>
              </a:lnSpc>
              <a:spcBef>
                <a:spcPts val="504"/>
              </a:spcBef>
              <a:spcAft>
                <a:spcPts val="0"/>
              </a:spcAft>
              <a:buClr>
                <a:schemeClr val="dk1"/>
              </a:buClr>
              <a:buSzPts val="2520"/>
              <a:buChar char="•"/>
              <a:defRPr sz="2520"/>
            </a:lvl3pPr>
            <a:lvl4pPr marL="1828800" indent="-365760" algn="l">
              <a:lnSpc>
                <a:spcPct val="100000"/>
              </a:lnSpc>
              <a:spcBef>
                <a:spcPts val="432"/>
              </a:spcBef>
              <a:spcAft>
                <a:spcPts val="0"/>
              </a:spcAft>
              <a:buClr>
                <a:schemeClr val="dk1"/>
              </a:buClr>
              <a:buSzPts val="2160"/>
              <a:buChar char="–"/>
              <a:defRPr sz="2160"/>
            </a:lvl4pPr>
            <a:lvl5pPr marL="2286000" indent="-365760" algn="l">
              <a:lnSpc>
                <a:spcPct val="100000"/>
              </a:lnSpc>
              <a:spcBef>
                <a:spcPts val="432"/>
              </a:spcBef>
              <a:spcAft>
                <a:spcPts val="0"/>
              </a:spcAft>
              <a:buClr>
                <a:schemeClr val="dk1"/>
              </a:buClr>
              <a:buSzPts val="2160"/>
              <a:buChar char="»"/>
              <a:defRPr sz="2160"/>
            </a:lvl5pPr>
            <a:lvl6pPr marL="2743200" indent="-365760" algn="l">
              <a:lnSpc>
                <a:spcPct val="100000"/>
              </a:lnSpc>
              <a:spcBef>
                <a:spcPts val="432"/>
              </a:spcBef>
              <a:spcAft>
                <a:spcPts val="0"/>
              </a:spcAft>
              <a:buClr>
                <a:schemeClr val="dk1"/>
              </a:buClr>
              <a:buSzPts val="2160"/>
              <a:buChar char="•"/>
              <a:defRPr sz="2160"/>
            </a:lvl6pPr>
            <a:lvl7pPr marL="3200400" indent="-365760" algn="l">
              <a:lnSpc>
                <a:spcPct val="100000"/>
              </a:lnSpc>
              <a:spcBef>
                <a:spcPts val="432"/>
              </a:spcBef>
              <a:spcAft>
                <a:spcPts val="0"/>
              </a:spcAft>
              <a:buClr>
                <a:schemeClr val="dk1"/>
              </a:buClr>
              <a:buSzPts val="2160"/>
              <a:buChar char="•"/>
              <a:defRPr sz="2160"/>
            </a:lvl7pPr>
            <a:lvl8pPr marL="3657600" indent="-365759" algn="l">
              <a:lnSpc>
                <a:spcPct val="100000"/>
              </a:lnSpc>
              <a:spcBef>
                <a:spcPts val="432"/>
              </a:spcBef>
              <a:spcAft>
                <a:spcPts val="0"/>
              </a:spcAft>
              <a:buClr>
                <a:schemeClr val="dk1"/>
              </a:buClr>
              <a:buSzPts val="2160"/>
              <a:buChar char="•"/>
              <a:defRPr sz="2160"/>
            </a:lvl8pPr>
            <a:lvl9pPr marL="4114800" indent="-365759" algn="l">
              <a:lnSpc>
                <a:spcPct val="100000"/>
              </a:lnSpc>
              <a:spcBef>
                <a:spcPts val="432"/>
              </a:spcBef>
              <a:spcAft>
                <a:spcPts val="0"/>
              </a:spcAft>
              <a:buClr>
                <a:schemeClr val="dk1"/>
              </a:buClr>
              <a:buSzPts val="2160"/>
              <a:buChar char="•"/>
              <a:defRPr sz="2160"/>
            </a:lvl9pPr>
          </a:lstStyle>
          <a:p>
            <a:endParaRPr/>
          </a:p>
        </p:txBody>
      </p:sp>
      <p:sp>
        <p:nvSpPr>
          <p:cNvPr id="57" name="Google Shape;57;p12">
            <a:extLst>
              <a:ext uri="{FF2B5EF4-FFF2-40B4-BE49-F238E27FC236}">
                <a16:creationId xmlns:a16="http://schemas.microsoft.com/office/drawing/2014/main" id="{BF587E6F-6801-40FE-8E02-70FF3E796B4A}"/>
              </a:ext>
            </a:extLst>
          </p:cNvPr>
          <p:cNvSpPr>
            <a:spLocks noGrp="1"/>
          </p:cNvSpPr>
          <p:nvPr>
            <p:ph type="body" idx="2"/>
          </p:nvPr>
        </p:nvSpPr>
        <p:spPr>
          <a:xfrm>
            <a:off x="609601" y="1435102"/>
            <a:ext cx="4011084" cy="4691063"/>
          </a:xfrm>
          <a:prstGeom prst="rect">
            <a:avLst/>
          </a:prstGeom>
          <a:noFill/>
          <a:ln>
            <a:noFill/>
          </a:ln>
        </p:spPr>
        <p:txBody>
          <a:bodyPr spcFirstLastPara="1" wrap="square" lIns="81025" tIns="40500" rIns="81025" bIns="40500" anchor="t">
            <a:normAutofit/>
          </a:bodyPr>
          <a:lstStyle>
            <a:lvl1pPr marL="457200" indent="-228600" algn="l">
              <a:lnSpc>
                <a:spcPct val="100000"/>
              </a:lnSpc>
              <a:spcBef>
                <a:spcPts val="288"/>
              </a:spcBef>
              <a:spcAft>
                <a:spcPts val="0"/>
              </a:spcAft>
              <a:buClr>
                <a:schemeClr val="dk1"/>
              </a:buClr>
              <a:buSzPts val="1440"/>
              <a:buNone/>
              <a:defRPr sz="1440"/>
            </a:lvl1pPr>
            <a:lvl2pPr marL="914400" indent="-228600" algn="l">
              <a:lnSpc>
                <a:spcPct val="100000"/>
              </a:lnSpc>
              <a:spcBef>
                <a:spcPts val="264"/>
              </a:spcBef>
              <a:spcAft>
                <a:spcPts val="0"/>
              </a:spcAft>
              <a:buClr>
                <a:schemeClr val="dk1"/>
              </a:buClr>
              <a:buSzPts val="1320"/>
              <a:buNone/>
              <a:defRPr sz="1320"/>
            </a:lvl2pPr>
            <a:lvl3pPr marL="1371600" indent="-228600" algn="l">
              <a:lnSpc>
                <a:spcPct val="100000"/>
              </a:lnSpc>
              <a:spcBef>
                <a:spcPts val="216"/>
              </a:spcBef>
              <a:spcAft>
                <a:spcPts val="0"/>
              </a:spcAft>
              <a:buClr>
                <a:schemeClr val="dk1"/>
              </a:buClr>
              <a:buSzPts val="1080"/>
              <a:buNone/>
              <a:defRPr sz="1080"/>
            </a:lvl3pPr>
            <a:lvl4pPr marL="1828800" indent="-228600" algn="l">
              <a:lnSpc>
                <a:spcPct val="100000"/>
              </a:lnSpc>
              <a:spcBef>
                <a:spcPts val="192"/>
              </a:spcBef>
              <a:spcAft>
                <a:spcPts val="0"/>
              </a:spcAft>
              <a:buClr>
                <a:schemeClr val="dk1"/>
              </a:buClr>
              <a:buSzPts val="960"/>
              <a:buNone/>
              <a:defRPr sz="960"/>
            </a:lvl4pPr>
            <a:lvl5pPr marL="2286000" indent="-228600" algn="l">
              <a:lnSpc>
                <a:spcPct val="100000"/>
              </a:lnSpc>
              <a:spcBef>
                <a:spcPts val="192"/>
              </a:spcBef>
              <a:spcAft>
                <a:spcPts val="0"/>
              </a:spcAft>
              <a:buClr>
                <a:schemeClr val="dk1"/>
              </a:buClr>
              <a:buSzPts val="960"/>
              <a:buNone/>
              <a:defRPr sz="960"/>
            </a:lvl5pPr>
            <a:lvl6pPr marL="2743200" indent="-228600" algn="l">
              <a:lnSpc>
                <a:spcPct val="100000"/>
              </a:lnSpc>
              <a:spcBef>
                <a:spcPts val="192"/>
              </a:spcBef>
              <a:spcAft>
                <a:spcPts val="0"/>
              </a:spcAft>
              <a:buClr>
                <a:schemeClr val="dk1"/>
              </a:buClr>
              <a:buSzPts val="960"/>
              <a:buNone/>
              <a:defRPr sz="960"/>
            </a:lvl6pPr>
            <a:lvl7pPr marL="3200400" indent="-228600" algn="l">
              <a:lnSpc>
                <a:spcPct val="100000"/>
              </a:lnSpc>
              <a:spcBef>
                <a:spcPts val="192"/>
              </a:spcBef>
              <a:spcAft>
                <a:spcPts val="0"/>
              </a:spcAft>
              <a:buClr>
                <a:schemeClr val="dk1"/>
              </a:buClr>
              <a:buSzPts val="960"/>
              <a:buNone/>
              <a:defRPr sz="960"/>
            </a:lvl7pPr>
            <a:lvl8pPr marL="3657600" indent="-228600" algn="l">
              <a:lnSpc>
                <a:spcPct val="100000"/>
              </a:lnSpc>
              <a:spcBef>
                <a:spcPts val="192"/>
              </a:spcBef>
              <a:spcAft>
                <a:spcPts val="0"/>
              </a:spcAft>
              <a:buClr>
                <a:schemeClr val="dk1"/>
              </a:buClr>
              <a:buSzPts val="960"/>
              <a:buNone/>
              <a:defRPr sz="960"/>
            </a:lvl8pPr>
            <a:lvl9pPr marL="4114800" indent="-228600" algn="l">
              <a:lnSpc>
                <a:spcPct val="100000"/>
              </a:lnSpc>
              <a:spcBef>
                <a:spcPts val="192"/>
              </a:spcBef>
              <a:spcAft>
                <a:spcPts val="0"/>
              </a:spcAft>
              <a:buClr>
                <a:schemeClr val="dk1"/>
              </a:buClr>
              <a:buSzPts val="960"/>
              <a:buNone/>
              <a:defRPr sz="960"/>
            </a:lvl9pPr>
          </a:lstStyle>
          <a:p>
            <a:endParaRPr/>
          </a:p>
        </p:txBody>
      </p:sp>
      <p:sp>
        <p:nvSpPr>
          <p:cNvPr id="58" name="Google Shape;58;p12">
            <a:extLst>
              <a:ext uri="{FF2B5EF4-FFF2-40B4-BE49-F238E27FC236}">
                <a16:creationId xmlns:a16="http://schemas.microsoft.com/office/drawing/2014/main" id="{D6A18EC1-6158-44FC-A3B3-8F4B20F02089}"/>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9" name="Google Shape;59;p12">
            <a:extLst>
              <a:ext uri="{FF2B5EF4-FFF2-40B4-BE49-F238E27FC236}">
                <a16:creationId xmlns:a16="http://schemas.microsoft.com/office/drawing/2014/main" id="{A579353D-FB07-44B4-A0AF-9FFB833AB2F8}"/>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0" name="Google Shape;60;p12">
            <a:extLst>
              <a:ext uri="{FF2B5EF4-FFF2-40B4-BE49-F238E27FC236}">
                <a16:creationId xmlns:a16="http://schemas.microsoft.com/office/drawing/2014/main" id="{71634278-BB61-47DB-AD0D-DB61773F7E8E}"/>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
        <p:cNvGrpSpPr/>
        <p:nvPr/>
      </p:nvGrpSpPr>
      <p:grpSpPr>
        <a:xfrm>
          <a:off x="0" y="0"/>
          <a:ext cx="0" cy="0"/>
          <a:chOff x="0" y="0"/>
          <a:chExt cx="0" cy="0"/>
        </a:xfrm>
      </p:grpSpPr>
      <p:sp>
        <p:nvSpPr>
          <p:cNvPr id="62" name="Google Shape;62;p13">
            <a:extLst>
              <a:ext uri="{FF2B5EF4-FFF2-40B4-BE49-F238E27FC236}">
                <a16:creationId xmlns:a16="http://schemas.microsoft.com/office/drawing/2014/main" id="{14927354-0091-4CAD-961E-6B23F6C7300C}"/>
              </a:ext>
            </a:extLst>
          </p:cNvPr>
          <p:cNvSpPr>
            <a:spLocks noGrp="1"/>
          </p:cNvSpPr>
          <p:nvPr>
            <p:ph type="title"/>
          </p:nvPr>
        </p:nvSpPr>
        <p:spPr>
          <a:xfrm>
            <a:off x="2389717" y="4800600"/>
            <a:ext cx="7315200" cy="566738"/>
          </a:xfrm>
          <a:prstGeom prst="rect">
            <a:avLst/>
          </a:prstGeom>
          <a:noFill/>
          <a:ln>
            <a:noFill/>
          </a:ln>
        </p:spPr>
        <p:txBody>
          <a:bodyPr spcFirstLastPara="1" wrap="square" lIns="81025" tIns="40500" rIns="81025" bIns="40500" anchor="b">
            <a:normAutofit/>
          </a:bodyPr>
          <a:lstStyle>
            <a:lvl1pPr algn="l">
              <a:lnSpc>
                <a:spcPct val="100000"/>
              </a:lnSpc>
              <a:spcBef>
                <a:spcPts val="0"/>
              </a:spcBef>
              <a:spcAft>
                <a:spcPts val="0"/>
              </a:spcAft>
              <a:buClr>
                <a:schemeClr val="dk1"/>
              </a:buClr>
              <a:buSzPts val="2160"/>
              <a:buFont typeface="Calibri"/>
              <a:buNone/>
              <a:defRPr sz="216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3" name="Google Shape;63;p13">
            <a:extLst>
              <a:ext uri="{FF2B5EF4-FFF2-40B4-BE49-F238E27FC236}">
                <a16:creationId xmlns:a16="http://schemas.microsoft.com/office/drawing/2014/main" id="{B09697D2-C0B7-4BD1-90A6-CEF7A120BEA7}"/>
              </a:ext>
            </a:extLst>
          </p:cNvPr>
          <p:cNvSpPr>
            <a:spLocks noGrp="1"/>
          </p:cNvSpPr>
          <p:nvPr>
            <p:ph type="pic" idx="2"/>
          </p:nvPr>
        </p:nvSpPr>
        <p:spPr>
          <a:xfrm>
            <a:off x="2389717" y="612775"/>
            <a:ext cx="7315200" cy="4114800"/>
          </a:xfrm>
          <a:prstGeom prst="rect">
            <a:avLst/>
          </a:prstGeom>
          <a:noFill/>
          <a:ln>
            <a:noFill/>
          </a:ln>
        </p:spPr>
      </p:sp>
      <p:sp>
        <p:nvSpPr>
          <p:cNvPr id="64" name="Google Shape;64;p13">
            <a:extLst>
              <a:ext uri="{FF2B5EF4-FFF2-40B4-BE49-F238E27FC236}">
                <a16:creationId xmlns:a16="http://schemas.microsoft.com/office/drawing/2014/main" id="{320591D1-B384-40C4-80D5-C0DD93249242}"/>
              </a:ext>
            </a:extLst>
          </p:cNvPr>
          <p:cNvSpPr>
            <a:spLocks noGrp="1"/>
          </p:cNvSpPr>
          <p:nvPr>
            <p:ph type="body" idx="1"/>
          </p:nvPr>
        </p:nvSpPr>
        <p:spPr>
          <a:xfrm>
            <a:off x="2389717" y="5367338"/>
            <a:ext cx="7315200" cy="804862"/>
          </a:xfrm>
          <a:prstGeom prst="rect">
            <a:avLst/>
          </a:prstGeom>
          <a:noFill/>
          <a:ln>
            <a:noFill/>
          </a:ln>
        </p:spPr>
        <p:txBody>
          <a:bodyPr spcFirstLastPara="1" wrap="square" lIns="81025" tIns="40500" rIns="81025" bIns="40500" anchor="t">
            <a:normAutofit/>
          </a:bodyPr>
          <a:lstStyle>
            <a:lvl1pPr marL="457200" indent="-228600" algn="l">
              <a:lnSpc>
                <a:spcPct val="100000"/>
              </a:lnSpc>
              <a:spcBef>
                <a:spcPts val="288"/>
              </a:spcBef>
              <a:spcAft>
                <a:spcPts val="0"/>
              </a:spcAft>
              <a:buClr>
                <a:schemeClr val="dk1"/>
              </a:buClr>
              <a:buSzPts val="1440"/>
              <a:buNone/>
              <a:defRPr sz="1440"/>
            </a:lvl1pPr>
            <a:lvl2pPr marL="914400" indent="-228600" algn="l">
              <a:lnSpc>
                <a:spcPct val="100000"/>
              </a:lnSpc>
              <a:spcBef>
                <a:spcPts val="264"/>
              </a:spcBef>
              <a:spcAft>
                <a:spcPts val="0"/>
              </a:spcAft>
              <a:buClr>
                <a:schemeClr val="dk1"/>
              </a:buClr>
              <a:buSzPts val="1320"/>
              <a:buNone/>
              <a:defRPr sz="1320"/>
            </a:lvl2pPr>
            <a:lvl3pPr marL="1371600" indent="-228600" algn="l">
              <a:lnSpc>
                <a:spcPct val="100000"/>
              </a:lnSpc>
              <a:spcBef>
                <a:spcPts val="216"/>
              </a:spcBef>
              <a:spcAft>
                <a:spcPts val="0"/>
              </a:spcAft>
              <a:buClr>
                <a:schemeClr val="dk1"/>
              </a:buClr>
              <a:buSzPts val="1080"/>
              <a:buNone/>
              <a:defRPr sz="1080"/>
            </a:lvl3pPr>
            <a:lvl4pPr marL="1828800" indent="-228600" algn="l">
              <a:lnSpc>
                <a:spcPct val="100000"/>
              </a:lnSpc>
              <a:spcBef>
                <a:spcPts val="192"/>
              </a:spcBef>
              <a:spcAft>
                <a:spcPts val="0"/>
              </a:spcAft>
              <a:buClr>
                <a:schemeClr val="dk1"/>
              </a:buClr>
              <a:buSzPts val="960"/>
              <a:buNone/>
              <a:defRPr sz="960"/>
            </a:lvl4pPr>
            <a:lvl5pPr marL="2286000" indent="-228600" algn="l">
              <a:lnSpc>
                <a:spcPct val="100000"/>
              </a:lnSpc>
              <a:spcBef>
                <a:spcPts val="192"/>
              </a:spcBef>
              <a:spcAft>
                <a:spcPts val="0"/>
              </a:spcAft>
              <a:buClr>
                <a:schemeClr val="dk1"/>
              </a:buClr>
              <a:buSzPts val="960"/>
              <a:buNone/>
              <a:defRPr sz="960"/>
            </a:lvl5pPr>
            <a:lvl6pPr marL="2743200" indent="-228600" algn="l">
              <a:lnSpc>
                <a:spcPct val="100000"/>
              </a:lnSpc>
              <a:spcBef>
                <a:spcPts val="192"/>
              </a:spcBef>
              <a:spcAft>
                <a:spcPts val="0"/>
              </a:spcAft>
              <a:buClr>
                <a:schemeClr val="dk1"/>
              </a:buClr>
              <a:buSzPts val="960"/>
              <a:buNone/>
              <a:defRPr sz="960"/>
            </a:lvl6pPr>
            <a:lvl7pPr marL="3200400" indent="-228600" algn="l">
              <a:lnSpc>
                <a:spcPct val="100000"/>
              </a:lnSpc>
              <a:spcBef>
                <a:spcPts val="192"/>
              </a:spcBef>
              <a:spcAft>
                <a:spcPts val="0"/>
              </a:spcAft>
              <a:buClr>
                <a:schemeClr val="dk1"/>
              </a:buClr>
              <a:buSzPts val="960"/>
              <a:buNone/>
              <a:defRPr sz="960"/>
            </a:lvl7pPr>
            <a:lvl8pPr marL="3657600" indent="-228600" algn="l">
              <a:lnSpc>
                <a:spcPct val="100000"/>
              </a:lnSpc>
              <a:spcBef>
                <a:spcPts val="192"/>
              </a:spcBef>
              <a:spcAft>
                <a:spcPts val="0"/>
              </a:spcAft>
              <a:buClr>
                <a:schemeClr val="dk1"/>
              </a:buClr>
              <a:buSzPts val="960"/>
              <a:buNone/>
              <a:defRPr sz="960"/>
            </a:lvl8pPr>
            <a:lvl9pPr marL="4114800" indent="-228600" algn="l">
              <a:lnSpc>
                <a:spcPct val="100000"/>
              </a:lnSpc>
              <a:spcBef>
                <a:spcPts val="192"/>
              </a:spcBef>
              <a:spcAft>
                <a:spcPts val="0"/>
              </a:spcAft>
              <a:buClr>
                <a:schemeClr val="dk1"/>
              </a:buClr>
              <a:buSzPts val="960"/>
              <a:buNone/>
              <a:defRPr sz="960"/>
            </a:lvl9pPr>
          </a:lstStyle>
          <a:p>
            <a:endParaRPr/>
          </a:p>
        </p:txBody>
      </p:sp>
      <p:sp>
        <p:nvSpPr>
          <p:cNvPr id="65" name="Google Shape;65;p13">
            <a:extLst>
              <a:ext uri="{FF2B5EF4-FFF2-40B4-BE49-F238E27FC236}">
                <a16:creationId xmlns:a16="http://schemas.microsoft.com/office/drawing/2014/main" id="{82DA7E34-0573-4A65-B545-46BB0356F9AF}"/>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6" name="Google Shape;66;p13">
            <a:extLst>
              <a:ext uri="{FF2B5EF4-FFF2-40B4-BE49-F238E27FC236}">
                <a16:creationId xmlns:a16="http://schemas.microsoft.com/office/drawing/2014/main" id="{D3D18E53-5F35-4F1E-8A39-35E4280D655E}"/>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7" name="Google Shape;67;p13">
            <a:extLst>
              <a:ext uri="{FF2B5EF4-FFF2-40B4-BE49-F238E27FC236}">
                <a16:creationId xmlns:a16="http://schemas.microsoft.com/office/drawing/2014/main" id="{68B64BA2-83B8-4A67-980A-92F66D8D458A}"/>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
        <p:cNvGrpSpPr/>
        <p:nvPr/>
      </p:nvGrpSpPr>
      <p:grpSpPr>
        <a:xfrm>
          <a:off x="0" y="0"/>
          <a:ext cx="0" cy="0"/>
          <a:chOff x="0" y="0"/>
          <a:chExt cx="0" cy="0"/>
        </a:xfrm>
      </p:grpSpPr>
      <p:sp>
        <p:nvSpPr>
          <p:cNvPr id="69" name="Google Shape;69;p14">
            <a:extLst>
              <a:ext uri="{FF2B5EF4-FFF2-40B4-BE49-F238E27FC236}">
                <a16:creationId xmlns:a16="http://schemas.microsoft.com/office/drawing/2014/main" id="{1C33C644-6CEA-4D35-A2B6-1178D0627093}"/>
              </a:ext>
            </a:extLst>
          </p:cNvPr>
          <p:cNvSpPr>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0" name="Google Shape;70;p14">
            <a:extLst>
              <a:ext uri="{FF2B5EF4-FFF2-40B4-BE49-F238E27FC236}">
                <a16:creationId xmlns:a16="http://schemas.microsoft.com/office/drawing/2014/main" id="{EFC906B3-82A1-4598-A05D-30DADDD06DD7}"/>
              </a:ext>
            </a:extLst>
          </p:cNvPr>
          <p:cNvSpPr>
            <a:spLocks noGrp="1"/>
          </p:cNvSpPr>
          <p:nvPr>
            <p:ph type="body" idx="1"/>
          </p:nvPr>
        </p:nvSpPr>
        <p:spPr>
          <a:xfrm rot="5400000">
            <a:off x="3833019" y="-1623218"/>
            <a:ext cx="4525963" cy="10972800"/>
          </a:xfrm>
          <a:prstGeom prst="rect">
            <a:avLst/>
          </a:prstGeom>
          <a:noFill/>
          <a:ln>
            <a:noFill/>
          </a:ln>
        </p:spPr>
        <p:txBody>
          <a:bodyPr spcFirstLastPara="1" wrap="square" lIns="81025" tIns="40500" rIns="81025" bIns="405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71" name="Google Shape;71;p14">
            <a:extLst>
              <a:ext uri="{FF2B5EF4-FFF2-40B4-BE49-F238E27FC236}">
                <a16:creationId xmlns:a16="http://schemas.microsoft.com/office/drawing/2014/main" id="{256C72D4-D56B-4D62-9362-96B1CC9BCB08}"/>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2" name="Google Shape;72;p14">
            <a:extLst>
              <a:ext uri="{FF2B5EF4-FFF2-40B4-BE49-F238E27FC236}">
                <a16:creationId xmlns:a16="http://schemas.microsoft.com/office/drawing/2014/main" id="{026E7BC9-12E6-4FB9-82A9-EA4B4F7E5F91}"/>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3" name="Google Shape;73;p14">
            <a:extLst>
              <a:ext uri="{FF2B5EF4-FFF2-40B4-BE49-F238E27FC236}">
                <a16:creationId xmlns:a16="http://schemas.microsoft.com/office/drawing/2014/main" id="{05BEE40D-8492-4ACB-8AD7-9239A8629F51}"/>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
        <p:cNvGrpSpPr/>
        <p:nvPr/>
      </p:nvGrpSpPr>
      <p:grpSpPr>
        <a:xfrm>
          <a:off x="0" y="0"/>
          <a:ext cx="0" cy="0"/>
          <a:chOff x="0" y="0"/>
          <a:chExt cx="0" cy="0"/>
        </a:xfrm>
      </p:grpSpPr>
      <p:sp>
        <p:nvSpPr>
          <p:cNvPr id="75" name="Google Shape;75;p15">
            <a:extLst>
              <a:ext uri="{FF2B5EF4-FFF2-40B4-BE49-F238E27FC236}">
                <a16:creationId xmlns:a16="http://schemas.microsoft.com/office/drawing/2014/main" id="{F1335361-F380-4156-9870-AF69749EBE60}"/>
              </a:ext>
            </a:extLst>
          </p:cNvPr>
          <p:cNvSpPr>
            <a:spLocks noGrp="1"/>
          </p:cNvSpPr>
          <p:nvPr>
            <p:ph type="title"/>
          </p:nvPr>
        </p:nvSpPr>
        <p:spPr>
          <a:xfrm rot="5400000">
            <a:off x="7285038" y="1828803"/>
            <a:ext cx="5851525" cy="2743200"/>
          </a:xfrm>
          <a:prstGeom prst="rect">
            <a:avLst/>
          </a:prstGeom>
          <a:noFill/>
          <a:ln>
            <a:noFill/>
          </a:ln>
        </p:spPr>
        <p:txBody>
          <a:bodyPr spcFirstLastPara="1" wrap="square" lIns="81025" tIns="40500" rIns="81025" bIns="405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6" name="Google Shape;76;p15">
            <a:extLst>
              <a:ext uri="{FF2B5EF4-FFF2-40B4-BE49-F238E27FC236}">
                <a16:creationId xmlns:a16="http://schemas.microsoft.com/office/drawing/2014/main" id="{A63D3F64-A548-4C44-AED4-9A45007D7A92}"/>
              </a:ext>
            </a:extLst>
          </p:cNvPr>
          <p:cNvSpPr>
            <a:spLocks noGrp="1"/>
          </p:cNvSpPr>
          <p:nvPr>
            <p:ph type="body" idx="1"/>
          </p:nvPr>
        </p:nvSpPr>
        <p:spPr>
          <a:xfrm rot="5400000">
            <a:off x="1697038" y="-812797"/>
            <a:ext cx="5851525" cy="8026400"/>
          </a:xfrm>
          <a:prstGeom prst="rect">
            <a:avLst/>
          </a:prstGeom>
          <a:noFill/>
          <a:ln>
            <a:noFill/>
          </a:ln>
        </p:spPr>
        <p:txBody>
          <a:bodyPr spcFirstLastPara="1" wrap="square" lIns="81025" tIns="40500" rIns="81025" bIns="405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77" name="Google Shape;77;p15">
            <a:extLst>
              <a:ext uri="{FF2B5EF4-FFF2-40B4-BE49-F238E27FC236}">
                <a16:creationId xmlns:a16="http://schemas.microsoft.com/office/drawing/2014/main" id="{25304FB7-E45B-44A1-828A-424CF81E8C1D}"/>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8" name="Google Shape;78;p15">
            <a:extLst>
              <a:ext uri="{FF2B5EF4-FFF2-40B4-BE49-F238E27FC236}">
                <a16:creationId xmlns:a16="http://schemas.microsoft.com/office/drawing/2014/main" id="{A067FB5E-3829-450B-A0E6-F74A56180B43}"/>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9" name="Google Shape;79;p15">
            <a:extLst>
              <a:ext uri="{FF2B5EF4-FFF2-40B4-BE49-F238E27FC236}">
                <a16:creationId xmlns:a16="http://schemas.microsoft.com/office/drawing/2014/main" id="{8C9FACA5-83DE-402D-B13A-8AFFB74EDFAF}"/>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pn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62A23B-DBCE-C62C-1265-F31E2A5AA12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09949A17-E8A7-6E20-0EA8-D838BF9B6625}"/>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EE0BCC5-47DA-7507-8175-520644C0A6DC}"/>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6246DAB4-64D8-47E1-86DF-DDDBF407C837}" type="datetimeFigureOut">
              <a:t>8/1/2026</a:t>
            </a:fld>
            <a:endParaRPr/>
          </a:p>
        </p:txBody>
      </p:sp>
      <p:sp>
        <p:nvSpPr>
          <p:cNvPr id="5" name="Footer Placeholder 4">
            <a:extLst>
              <a:ext uri="{FF2B5EF4-FFF2-40B4-BE49-F238E27FC236}">
                <a16:creationId xmlns:a16="http://schemas.microsoft.com/office/drawing/2014/main" id="{BEA7B08C-E7C0-E7FA-87A6-2B08C5BC05E0}"/>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D5C213AB-30A1-72C4-9F44-AB53ADE85903}"/>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1A8B65B4-F627-48A4-BDD7-73C74112FD6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
        <p:cNvGrpSpPr/>
        <p:nvPr/>
      </p:nvGrpSpPr>
      <p:grpSpPr>
        <a:xfrm>
          <a:off x="0" y="0"/>
          <a:ext cx="0" cy="0"/>
          <a:chOff x="0" y="0"/>
          <a:chExt cx="0" cy="0"/>
        </a:xfrm>
      </p:grpSpPr>
      <p:sp>
        <p:nvSpPr>
          <p:cNvPr id="6" name="Google Shape;6;p4">
            <a:extLst>
              <a:ext uri="{FF2B5EF4-FFF2-40B4-BE49-F238E27FC236}">
                <a16:creationId xmlns:a16="http://schemas.microsoft.com/office/drawing/2014/main" id="{0A5262AC-D482-49BE-B894-0E85DE3BDC7E}"/>
              </a:ext>
            </a:extLst>
          </p:cNvPr>
          <p:cNvSpPr>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ormAutofit/>
          </a:bodyPr>
          <a:lstStyle>
            <a:lvl1pPr marR="0" algn="ctr">
              <a:lnSpc>
                <a:spcPct val="100000"/>
              </a:lnSpc>
              <a:spcBef>
                <a:spcPts val="0"/>
              </a:spcBef>
              <a:spcAft>
                <a:spcPts val="0"/>
              </a:spcAft>
              <a:buClr>
                <a:schemeClr val="dk1"/>
              </a:buClr>
              <a:buSzPts val="4680"/>
              <a:buFont typeface="Calibri"/>
              <a:buNone/>
              <a:defRPr sz="4680" b="0"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a:endParaRPr/>
          </a:p>
        </p:txBody>
      </p:sp>
      <p:sp>
        <p:nvSpPr>
          <p:cNvPr id="7" name="Google Shape;7;p4">
            <a:extLst>
              <a:ext uri="{FF2B5EF4-FFF2-40B4-BE49-F238E27FC236}">
                <a16:creationId xmlns:a16="http://schemas.microsoft.com/office/drawing/2014/main" id="{550806F5-195A-4C31-BF3D-08EB1349CDFB}"/>
              </a:ext>
            </a:extLst>
          </p:cNvPr>
          <p:cNvSpPr>
            <a:spLocks noGrp="1"/>
          </p:cNvSpPr>
          <p:nvPr>
            <p:ph type="body" idx="1"/>
          </p:nvPr>
        </p:nvSpPr>
        <p:spPr>
          <a:xfrm>
            <a:off x="609600" y="1600201"/>
            <a:ext cx="10972800" cy="4525963"/>
          </a:xfrm>
          <a:prstGeom prst="rect">
            <a:avLst/>
          </a:prstGeom>
          <a:noFill/>
          <a:ln>
            <a:noFill/>
          </a:ln>
        </p:spPr>
        <p:txBody>
          <a:bodyPr spcFirstLastPara="1" wrap="square" lIns="81025" tIns="40500" rIns="81025" bIns="40500" anchor="t">
            <a:normAutofit/>
          </a:bodyPr>
          <a:lstStyle>
            <a:lvl1pPr marL="457200" marR="0" indent="-441960" algn="l">
              <a:lnSpc>
                <a:spcPct val="100000"/>
              </a:lnSpc>
              <a:spcBef>
                <a:spcPts val="672"/>
              </a:spcBef>
              <a:spcAft>
                <a:spcPts val="0"/>
              </a:spcAft>
              <a:buClr>
                <a:schemeClr val="dk1"/>
              </a:buClr>
              <a:buSzPts val="3360"/>
              <a:buFont typeface="Arial"/>
              <a:buChar char="•"/>
              <a:defRPr sz="3359" b="0" i="0" u="none" cap="none">
                <a:solidFill>
                  <a:schemeClr val="dk1"/>
                </a:solidFill>
                <a:latin typeface="Calibri"/>
                <a:ea typeface="Calibri"/>
                <a:cs typeface="Calibri"/>
              </a:defRPr>
            </a:lvl1pPr>
            <a:lvl2pPr marL="914400" marR="0" indent="-419100" algn="l">
              <a:lnSpc>
                <a:spcPct val="100000"/>
              </a:lnSpc>
              <a:spcBef>
                <a:spcPts val="600"/>
              </a:spcBef>
              <a:spcAft>
                <a:spcPts val="0"/>
              </a:spcAft>
              <a:buClr>
                <a:schemeClr val="dk1"/>
              </a:buClr>
              <a:buSzPts val="3000"/>
              <a:buFont typeface="Arial"/>
              <a:buChar char="–"/>
              <a:defRPr sz="3000" b="0" i="0" u="none" cap="none">
                <a:solidFill>
                  <a:schemeClr val="dk1"/>
                </a:solidFill>
                <a:latin typeface="Calibri"/>
                <a:ea typeface="Calibri"/>
                <a:cs typeface="Calibri"/>
              </a:defRPr>
            </a:lvl2pPr>
            <a:lvl3pPr marL="1371600" marR="0" indent="-388619" algn="l">
              <a:lnSpc>
                <a:spcPct val="100000"/>
              </a:lnSpc>
              <a:spcBef>
                <a:spcPts val="504"/>
              </a:spcBef>
              <a:spcAft>
                <a:spcPts val="0"/>
              </a:spcAft>
              <a:buClr>
                <a:schemeClr val="dk1"/>
              </a:buClr>
              <a:buSzPts val="2520"/>
              <a:buFont typeface="Arial"/>
              <a:buChar char="•"/>
              <a:defRPr sz="2520" b="0" i="0" u="none" cap="none">
                <a:solidFill>
                  <a:schemeClr val="dk1"/>
                </a:solidFill>
                <a:latin typeface="Calibri"/>
                <a:ea typeface="Calibri"/>
                <a:cs typeface="Calibri"/>
              </a:defRPr>
            </a:lvl3pPr>
            <a:lvl4pPr marL="1828800" marR="0" indent="-365760"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4pPr>
            <a:lvl5pPr marL="2286000" marR="0" indent="-365760"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5pPr>
            <a:lvl6pPr marL="2743200" marR="0" indent="-365760"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6pPr>
            <a:lvl7pPr marL="3200400" marR="0" indent="-365760"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7pPr>
            <a:lvl8pPr marL="3657600" marR="0" indent="-365759"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8pPr>
            <a:lvl9pPr marL="4114800" marR="0" indent="-365759" algn="l">
              <a:lnSpc>
                <a:spcPct val="100000"/>
              </a:lnSpc>
              <a:spcBef>
                <a:spcPts val="432"/>
              </a:spcBef>
              <a:spcAft>
                <a:spcPts val="0"/>
              </a:spcAft>
              <a:buClr>
                <a:schemeClr val="dk1"/>
              </a:buClr>
              <a:buSzPts val="2160"/>
              <a:buFont typeface="Arial"/>
              <a:buChar char="•"/>
              <a:defRPr sz="2160" b="0" i="0" u="none" cap="none">
                <a:solidFill>
                  <a:schemeClr val="dk1"/>
                </a:solidFill>
                <a:latin typeface="Calibri"/>
                <a:ea typeface="Calibri"/>
                <a:cs typeface="Calibri"/>
              </a:defRPr>
            </a:lvl9pPr>
          </a:lstStyle>
          <a:p>
            <a:endParaRPr/>
          </a:p>
        </p:txBody>
      </p:sp>
      <p:sp>
        <p:nvSpPr>
          <p:cNvPr id="8" name="Google Shape;8;p4">
            <a:extLst>
              <a:ext uri="{FF2B5EF4-FFF2-40B4-BE49-F238E27FC236}">
                <a16:creationId xmlns:a16="http://schemas.microsoft.com/office/drawing/2014/main" id="{EEB2E6FC-0FAF-4F4B-AAAF-BD578F95EF99}"/>
              </a:ext>
            </a:extLst>
          </p:cNvPr>
          <p:cNvSpPr>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oAutofit/>
          </a:bodyPr>
          <a:lstStyle>
            <a:lvl1pPr marR="0" algn="l">
              <a:lnSpc>
                <a:spcPct val="100000"/>
              </a:lnSpc>
              <a:spcBef>
                <a:spcPts val="0"/>
              </a:spcBef>
              <a:spcAft>
                <a:spcPts val="0"/>
              </a:spcAft>
              <a:buClr>
                <a:srgbClr val="000000"/>
              </a:buClr>
              <a:buSzPts val="1400"/>
              <a:buFont typeface="Arial"/>
              <a:buNone/>
              <a:defRPr sz="132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9pPr>
          </a:lstStyle>
          <a:p>
            <a:endParaRPr/>
          </a:p>
        </p:txBody>
      </p:sp>
      <p:sp>
        <p:nvSpPr>
          <p:cNvPr id="9" name="Google Shape;9;p4">
            <a:extLst>
              <a:ext uri="{FF2B5EF4-FFF2-40B4-BE49-F238E27FC236}">
                <a16:creationId xmlns:a16="http://schemas.microsoft.com/office/drawing/2014/main" id="{C624326D-9E83-485C-A99B-E62777906BEA}"/>
              </a:ext>
            </a:extLst>
          </p:cNvPr>
          <p:cNvSpPr>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oAutofit/>
          </a:bodyPr>
          <a:lstStyle>
            <a:lvl1pPr marR="0" algn="ctr">
              <a:lnSpc>
                <a:spcPct val="100000"/>
              </a:lnSpc>
              <a:spcBef>
                <a:spcPts val="0"/>
              </a:spcBef>
              <a:spcAft>
                <a:spcPts val="0"/>
              </a:spcAft>
              <a:buClr>
                <a:srgbClr val="000000"/>
              </a:buClr>
              <a:buSzPts val="1400"/>
              <a:buFont typeface="Arial"/>
              <a:buNone/>
              <a:defRPr sz="1320" b="0" i="0" u="non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2051" b="0" i="0" u="none" cap="none">
                <a:solidFill>
                  <a:schemeClr val="dk1"/>
                </a:solidFill>
                <a:latin typeface="Calibri"/>
                <a:ea typeface="Calibri"/>
                <a:cs typeface="Calibri"/>
              </a:defRPr>
            </a:lvl9pPr>
          </a:lstStyle>
          <a:p>
            <a:endParaRPr/>
          </a:p>
        </p:txBody>
      </p:sp>
      <p:sp>
        <p:nvSpPr>
          <p:cNvPr id="10" name="Google Shape;10;p4">
            <a:extLst>
              <a:ext uri="{FF2B5EF4-FFF2-40B4-BE49-F238E27FC236}">
                <a16:creationId xmlns:a16="http://schemas.microsoft.com/office/drawing/2014/main" id="{BCC41D2D-E811-4F07-91C4-87FB0E7D8330}"/>
              </a:ext>
            </a:extLst>
          </p:cNvPr>
          <p:cNvSpPr>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oAutofit/>
          </a:bodyPr>
          <a:lstStyle>
            <a:lvl1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320"/>
              <a:buFont typeface="Arial"/>
              <a:buNone/>
              <a:defRPr sz="1320" b="0" i="0" u="none" cap="none">
                <a:solidFill>
                  <a:srgbClr val="888888"/>
                </a:solidFill>
                <a:latin typeface="Calibri"/>
                <a:ea typeface="Calibri"/>
                <a:cs typeface="Calibri"/>
              </a:defRPr>
            </a:lvl9pPr>
          </a:lstStyle>
          <a:p>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
        <p:cNvGrpSpPr/>
        <p:nvPr/>
      </p:nvGrpSpPr>
      <p:grpSpPr>
        <a:xfrm>
          <a:off x="0" y="0"/>
          <a:ext cx="0" cy="0"/>
          <a:chOff x="0" y="0"/>
          <a:chExt cx="0" cy="0"/>
        </a:xfrm>
      </p:grpSpPr>
      <p:sp>
        <p:nvSpPr>
          <p:cNvPr id="84" name="Google Shape;84;p1">
            <a:extLst>
              <a:ext uri="{FF2B5EF4-FFF2-40B4-BE49-F238E27FC236}">
                <a16:creationId xmlns:a16="http://schemas.microsoft.com/office/drawing/2014/main" id="{44BF1FA5-8825-4368-8F62-B505FC5FBC5F}"/>
              </a:ext>
            </a:extLst>
          </p:cNvPr>
          <p:cNvSpPr>
            <a:spLocks noGrp="1"/>
          </p:cNvSpPr>
          <p:nvPr>
            <p:ph type="ctrTitle"/>
          </p:nvPr>
        </p:nvSpPr>
        <p:spPr>
          <a:xfrm>
            <a:off x="898421" y="3165988"/>
            <a:ext cx="10370574" cy="1472483"/>
          </a:xfrm>
          <a:prstGeom prst="rect">
            <a:avLst/>
          </a:prstGeom>
          <a:noFill/>
          <a:ln>
            <a:noFill/>
          </a:ln>
        </p:spPr>
        <p:txBody>
          <a:bodyPr spcFirstLastPara="1" wrap="square" lIns="81025" tIns="40500" rIns="81025" bIns="40500" anchor="ctr">
            <a:normAutofit fontScale="90000"/>
          </a:bodyPr>
          <a:lstStyle/>
          <a:p>
            <a:pPr lvl="0">
              <a:buSzPct val="96609"/>
              <a:buNone/>
            </a:pPr>
            <a:r>
              <a:rPr sz="3100">
                <a:solidFill>
                  <a:srgbClr val="00B050"/>
                </a:solidFill>
              </a:rPr>
              <a:t>An Explainable AI Framework for Analysis of X-Ray Polarimetry Data from XPoSat
Under the Guidance of
Ms. Soujanya</a:t>
            </a:r>
          </a:p>
        </p:txBody>
      </p:sp>
      <p:sp>
        <p:nvSpPr>
          <p:cNvPr id="3" name="Google Shape;84;p1">
            <a:extLst>
              <a:ext uri="{FF2B5EF4-FFF2-40B4-BE49-F238E27FC236}">
                <a16:creationId xmlns:a16="http://schemas.microsoft.com/office/drawing/2014/main" id="{E2DD3DBB-4560-4B9F-8617-3454D925C52B}"/>
              </a:ext>
            </a:extLst>
          </p:cNvPr>
          <p:cNvSpPr>
            <a:spLocks noGrp="1"/>
          </p:cNvSpPr>
          <p:nvPr/>
        </p:nvSpPr>
        <p:spPr>
          <a:xfrm>
            <a:off x="7118553" y="4638471"/>
            <a:ext cx="4308987" cy="1472483"/>
          </a:xfrm>
          <a:prstGeom prst="rect">
            <a:avLst/>
          </a:prstGeom>
          <a:noFill/>
          <a:ln>
            <a:noFill/>
          </a:ln>
        </p:spPr>
        <p:txBody>
          <a:bodyPr spcFirstLastPara="1" wrap="square" lIns="81025" tIns="40500" rIns="81025" bIns="40500" anchor="ctr">
            <a:normAutofit/>
          </a:bodyPr>
          <a:lstStyle>
            <a:lvl1pPr marR="0" algn="ctr">
              <a:lnSpc>
                <a:spcPct val="100000"/>
              </a:lnSpc>
              <a:spcBef>
                <a:spcPts val="0"/>
              </a:spcBef>
              <a:spcAft>
                <a:spcPts val="0"/>
              </a:spcAft>
              <a:buClr>
                <a:schemeClr val="dk1"/>
              </a:buClr>
              <a:buSzPts val="1800"/>
              <a:buFont typeface="Calibri"/>
              <a:buNone/>
              <a:defRPr sz="4680" b="0" i="0" u="non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a:pPr algn="ctr"/>
            <a:r>
              <a:rPr sz="1300" b="1"/>
              <a:t>Team No.: 17</a:t>
            </a:r>
          </a:p>
          <a:p>
            <a:pPr algn="ctr"/>
            <a:r>
              <a:rPr sz="1250"/>
              <a:t>G Sai Saatvik — 23BD1A058M</a:t>
            </a:r>
          </a:p>
          <a:p>
            <a:pPr algn="ctr"/>
            <a:r>
              <a:rPr sz="1250"/>
              <a:t>R Srihitha — 23BD1A059M</a:t>
            </a:r>
          </a:p>
          <a:p>
            <a:pPr algn="ctr"/>
            <a:r>
              <a:rPr sz="1250"/>
              <a:t>N Shruthi — 23BD1A059B</a:t>
            </a:r>
          </a:p>
          <a:p>
            <a:pPr algn="ctr"/>
            <a:r>
              <a:rPr sz="1250"/>
              <a:t>K Rajkumar — 24BD5A0530</a:t>
            </a:r>
          </a:p>
        </p:txBody>
      </p:sp>
    </p:spTree>
    <p:extLst>
      <p:ext uri="{BB962C8B-B14F-4D97-AF65-F5344CB8AC3E}">
        <p14:creationId xmlns:p14="http://schemas.microsoft.com/office/powerpoint/2010/main" val="2167017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618B2FCD-70D3-FABB-14A4-EE31D414CD44}"/>
              </a:ext>
            </a:extLst>
          </p:cNvPr>
          <p:cNvSpPr>
            <a:spLocks noGrp="1"/>
          </p:cNvSpPr>
          <p:nvPr/>
        </p:nvSpPr>
        <p:spPr>
          <a:xfrm>
            <a:off x="6307104" y="292508"/>
            <a:ext cx="5196280" cy="6272981"/>
          </a:xfrm>
          <a:prstGeom prst="roundRect">
            <a:avLst/>
          </a:prstGeom>
          <a:ln>
            <a:solidFill>
              <a:srgbClr val="00B050"/>
            </a:solidFill>
          </a:ln>
        </p:spPr>
        <p:style>
          <a:lnRef idx="2">
            <a:schemeClr val="accent6"/>
          </a:lnRef>
          <a:fillRef idx="1">
            <a:schemeClr val="lt1"/>
          </a:fillRef>
          <a:effectRef idx="0">
            <a:schemeClr val="accent6"/>
          </a:effectRef>
          <a:fontRef idx="minor">
            <a:schemeClr val="dk1"/>
          </a:fontRef>
        </p:style>
        <p:txBody>
          <a:bodyPr anchor="ctr"/>
          <a:lstStyle/>
          <a:p>
            <a:pPr algn="ctr">
              <a:buNone/>
            </a:pPr>
            <a:endParaRPr/>
          </a:p>
        </p:txBody>
      </p:sp>
      <p:sp>
        <p:nvSpPr>
          <p:cNvPr id="19" name="TextBox 18">
            <a:extLst>
              <a:ext uri="{FF2B5EF4-FFF2-40B4-BE49-F238E27FC236}">
                <a16:creationId xmlns:a16="http://schemas.microsoft.com/office/drawing/2014/main" id="{18515CDB-EF62-0128-D1F6-30CC90B0985D}"/>
              </a:ext>
            </a:extLst>
          </p:cNvPr>
          <p:cNvSpPr>
            <a:spLocks noGrp="1"/>
          </p:cNvSpPr>
          <p:nvPr/>
        </p:nvSpPr>
        <p:spPr>
          <a:xfrm>
            <a:off x="6744929" y="474344"/>
            <a:ext cx="4257368" cy="5909310"/>
          </a:xfrm>
          <a:prstGeom prst="rect">
            <a:avLst/>
          </a:prstGeom>
          <a:noFill/>
        </p:spPr>
        <p:txBody>
          <a:bodyPr wrap="square" anchor="t">
            <a:normAutofit lnSpcReduction="10000"/>
          </a:bodyPr>
          <a:lstStyle/>
          <a:p>
            <a:pPr algn="l">
              <a:lnSpc>
                <a:spcPct val="102000"/>
              </a:lnSpc>
              <a:spcAft>
                <a:spcPts val="18"/>
              </a:spcAft>
              <a:buNone/>
              <a:defRPr sz="1350"/>
            </a:pPr>
            <a:r>
              <a:rPr sz="1350" b="1" dirty="0">
                <a:solidFill>
                  <a:srgbClr val="4472C4"/>
                </a:solidFill>
              </a:rPr>
              <a:t>ABSTRACT</a:t>
            </a:r>
          </a:p>
          <a:p>
            <a:pPr algn="l">
              <a:lnSpc>
                <a:spcPct val="102000"/>
              </a:lnSpc>
              <a:buNone/>
              <a:defRPr sz="1350"/>
            </a:pPr>
            <a:r>
              <a:rPr sz="1350" dirty="0" err="1">
                <a:solidFill>
                  <a:srgbClr val="111111"/>
                </a:solidFill>
              </a:rPr>
              <a:t>XPoSat’s</a:t>
            </a:r>
            <a:r>
              <a:rPr sz="1350" dirty="0">
                <a:solidFill>
                  <a:srgbClr val="111111"/>
                </a:solidFill>
              </a:rPr>
              <a:t> POLIX payload records polarization-sensitive scattering information across multiple Level-2 FITS products. The proposed study aims to transform exposure, energy–azimuth, timing, detector-balance and source-azimuth </a:t>
            </a:r>
            <a:r>
              <a:rPr sz="1350" dirty="0" err="1">
                <a:solidFill>
                  <a:srgbClr val="111111"/>
                </a:solidFill>
              </a:rPr>
              <a:t>behaviour</a:t>
            </a:r>
            <a:r>
              <a:rPr sz="1350" dirty="0">
                <a:solidFill>
                  <a:srgbClr val="111111"/>
                </a:solidFill>
              </a:rPr>
              <a:t> into interpretable features for unsupervised observation screening when trusted anomaly labels are unavailable. Product-aware explanations will connect unusualness to original FITS products, while </a:t>
            </a:r>
            <a:r>
              <a:rPr sz="1350" dirty="0" err="1">
                <a:solidFill>
                  <a:srgbClr val="111111"/>
                </a:solidFill>
              </a:rPr>
              <a:t>WeightedRoll</a:t>
            </a:r>
            <a:r>
              <a:rPr sz="1350" dirty="0">
                <a:solidFill>
                  <a:srgbClr val="111111"/>
                </a:solidFill>
              </a:rPr>
              <a:t> and blank-sky comparison remain an independent physical diagnostic. The expected contribution is a traceable workflow for expert prioritization—not source classification. Statistical unusualness is not a discovery, and calibrated polarization degree or official sky polarization angle is outside the present claim without validated background treatment and mission calibration.</a:t>
            </a:r>
            <a:endParaRPr lang="en-IN" sz="1350" dirty="0">
              <a:solidFill>
                <a:srgbClr val="111111"/>
              </a:solidFill>
            </a:endParaRPr>
          </a:p>
          <a:p>
            <a:pPr algn="l">
              <a:lnSpc>
                <a:spcPct val="102000"/>
              </a:lnSpc>
              <a:buNone/>
              <a:defRPr sz="1350"/>
            </a:pPr>
            <a:endParaRPr lang="en-IN" sz="1350" b="1" dirty="0">
              <a:solidFill>
                <a:schemeClr val="accent1"/>
              </a:solidFill>
            </a:endParaRPr>
          </a:p>
          <a:p>
            <a:pPr>
              <a:lnSpc>
                <a:spcPct val="102000"/>
              </a:lnSpc>
              <a:defRPr sz="1350"/>
            </a:pPr>
            <a:r>
              <a:rPr lang="en-IN" sz="1350" b="1" dirty="0">
                <a:solidFill>
                  <a:schemeClr val="accent1"/>
                </a:solidFill>
              </a:rPr>
              <a:t>Introduction about XPOSAT and POLIX:</a:t>
            </a:r>
            <a:br>
              <a:rPr lang="en-IN" sz="1350" dirty="0">
                <a:solidFill>
                  <a:srgbClr val="111111"/>
                </a:solidFill>
              </a:rPr>
            </a:br>
            <a:r>
              <a:rPr lang="en-US" dirty="0" err="1"/>
              <a:t>XPoSat</a:t>
            </a:r>
            <a:r>
              <a:rPr lang="en-US" dirty="0"/>
              <a:t> is India's first dedicated X-ray polarimetry mission developed by ISRO to study the polarization properties of cosmic X-ray sources. The POLIX instrument generates Level-2 scientific data that require complex manual analysis. This project proposes an Explainable Artificial Intelligence (XAI) framework to automatically analyze POLIX data by extracting scientific features and applying unsupervised machine learning techniques for anomaly detection. </a:t>
            </a:r>
            <a:endParaRPr sz="1350" dirty="0">
              <a:solidFill>
                <a:srgbClr val="111111"/>
              </a:solidFill>
            </a:endParaRPr>
          </a:p>
        </p:txBody>
      </p:sp>
      <p:pic>
        <p:nvPicPr>
          <p:cNvPr id="23" name="Picture 34"/>
          <p:cNvPicPr>
            <a:picLocks noChangeAspect="1"/>
          </p:cNvPicPr>
          <p:nvPr/>
        </p:nvPicPr>
        <p:blipFill>
          <a:blip r:embed="rId3"/>
          <a:stretch>
            <a:fillRect/>
          </a:stretch>
        </p:blipFill>
        <p:spPr>
          <a:xfrm>
            <a:off x="473972" y="2396600"/>
            <a:ext cx="5614219" cy="4096322"/>
          </a:xfrm>
          <a:prstGeom prst="rect">
            <a:avLst/>
          </a:prstGeom>
        </p:spPr>
      </p:pic>
      <p:sp>
        <p:nvSpPr>
          <p:cNvPr id="2" name="Rectangle: Rounded Corners 1">
            <a:extLst>
              <a:ext uri="{FF2B5EF4-FFF2-40B4-BE49-F238E27FC236}">
                <a16:creationId xmlns:a16="http://schemas.microsoft.com/office/drawing/2014/main" id="{FD91CDA0-B537-71C5-CFF9-E55C503850F3}"/>
              </a:ext>
            </a:extLst>
          </p:cNvPr>
          <p:cNvSpPr>
            <a:spLocks noGrp="1"/>
          </p:cNvSpPr>
          <p:nvPr/>
        </p:nvSpPr>
        <p:spPr>
          <a:xfrm>
            <a:off x="648929" y="1002890"/>
            <a:ext cx="5338916" cy="1179871"/>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a:buNone/>
            </a:pPr>
            <a:endParaRPr/>
          </a:p>
        </p:txBody>
      </p:sp>
      <p:sp>
        <p:nvSpPr>
          <p:cNvPr id="4" name="TextBox 3">
            <a:extLst>
              <a:ext uri="{FF2B5EF4-FFF2-40B4-BE49-F238E27FC236}">
                <a16:creationId xmlns:a16="http://schemas.microsoft.com/office/drawing/2014/main" id="{E1434692-792E-3CB1-612B-E81BC571F758}"/>
              </a:ext>
            </a:extLst>
          </p:cNvPr>
          <p:cNvSpPr>
            <a:spLocks noGrp="1"/>
          </p:cNvSpPr>
          <p:nvPr/>
        </p:nvSpPr>
        <p:spPr>
          <a:xfrm>
            <a:off x="771304" y="1075462"/>
            <a:ext cx="4950611" cy="1384995"/>
          </a:xfrm>
          <a:prstGeom prst="rect">
            <a:avLst/>
          </a:prstGeom>
          <a:noFill/>
        </p:spPr>
        <p:txBody>
          <a:bodyPr wrap="square">
            <a:spAutoFit/>
          </a:bodyPr>
          <a:lstStyle/>
          <a:p>
            <a:pPr marL="285750" lvl="0" indent="-285750">
              <a:spcBef>
                <a:spcPct val="0"/>
              </a:spcBef>
              <a:spcAft>
                <a:spcPct val="0"/>
              </a:spcAft>
              <a:buFont typeface="Wingdings"/>
              <a:buChar char="Ø"/>
            </a:pPr>
            <a:r>
              <a:rPr dirty="0"/>
              <a:t>Understand POLIX Level-2 products.</a:t>
            </a:r>
          </a:p>
          <a:p>
            <a:pPr marL="285750" lvl="0" indent="-285750">
              <a:spcBef>
                <a:spcPct val="0"/>
              </a:spcBef>
              <a:spcAft>
                <a:spcPct val="0"/>
              </a:spcAft>
              <a:buFont typeface="Wingdings"/>
              <a:buChar char="Ø"/>
            </a:pPr>
            <a:r>
              <a:rPr sz="1400" dirty="0">
                <a:latin typeface="Arial"/>
                <a:ea typeface="Arial"/>
                <a:cs typeface="Arial"/>
              </a:rPr>
              <a:t>Screen observations without trusted labels.</a:t>
            </a:r>
          </a:p>
          <a:p>
            <a:pPr marL="285750" lvl="0" indent="-285750">
              <a:spcBef>
                <a:spcPct val="0"/>
              </a:spcBef>
              <a:spcAft>
                <a:spcPct val="0"/>
              </a:spcAft>
              <a:buFont typeface="Wingdings"/>
              <a:buChar char="Ø"/>
            </a:pPr>
            <a:r>
              <a:rPr sz="1400" dirty="0">
                <a:latin typeface="Arial"/>
                <a:ea typeface="Arial"/>
                <a:cs typeface="Arial"/>
              </a:rPr>
              <a:t>Explain feature- and product-level evidence.</a:t>
            </a:r>
          </a:p>
          <a:p>
            <a:pPr marL="285750" lvl="0" indent="-285750">
              <a:spcBef>
                <a:spcPct val="0"/>
              </a:spcBef>
              <a:spcAft>
                <a:spcPct val="0"/>
              </a:spcAft>
              <a:buFont typeface="Wingdings"/>
              <a:buChar char="Ø"/>
            </a:pPr>
            <a:r>
              <a:rPr sz="1400" dirty="0">
                <a:latin typeface="Arial"/>
                <a:ea typeface="Arial"/>
                <a:cs typeface="Arial"/>
              </a:rPr>
              <a:t>Keep modulation as a separate diagnostic.</a:t>
            </a:r>
          </a:p>
        </p:txBody>
      </p:sp>
      <p:sp>
        <p:nvSpPr>
          <p:cNvPr id="5" name="Google Shape;11372;p134">
            <a:extLst>
              <a:ext uri="{FF2B5EF4-FFF2-40B4-BE49-F238E27FC236}">
                <a16:creationId xmlns:a16="http://schemas.microsoft.com/office/drawing/2014/main" id="{2077A41D-E2BB-1147-49F7-2B850F78C4BE}"/>
              </a:ext>
            </a:extLst>
          </p:cNvPr>
          <p:cNvSpPr>
            <a:spLocks noGrp="1"/>
          </p:cNvSpPr>
          <p:nvPr/>
        </p:nvSpPr>
        <p:spPr>
          <a:xfrm>
            <a:off x="771304" y="292508"/>
            <a:ext cx="383928" cy="432686"/>
          </a:xfrm>
          <a:custGeom>
            <a:avLst/>
            <a:gdLst/>
            <a:ahLst/>
            <a:cxnLst/>
            <a:rect l="l" t="t" r="r" b="b"/>
            <a:pathLst>
              <a:path w="11847" h="11846">
                <a:moveTo>
                  <a:pt x="10744" y="3718"/>
                </a:moveTo>
                <a:lnTo>
                  <a:pt x="10428" y="4348"/>
                </a:lnTo>
                <a:cubicBezTo>
                  <a:pt x="10397" y="4442"/>
                  <a:pt x="10397" y="4568"/>
                  <a:pt x="10428" y="4663"/>
                </a:cubicBezTo>
                <a:lnTo>
                  <a:pt x="10744" y="5293"/>
                </a:lnTo>
                <a:lnTo>
                  <a:pt x="9483" y="4915"/>
                </a:lnTo>
                <a:lnTo>
                  <a:pt x="9105" y="4505"/>
                </a:lnTo>
                <a:lnTo>
                  <a:pt x="9483" y="4127"/>
                </a:lnTo>
                <a:lnTo>
                  <a:pt x="10744" y="3718"/>
                </a:lnTo>
                <a:close/>
                <a:moveTo>
                  <a:pt x="4443" y="3497"/>
                </a:moveTo>
                <a:cubicBezTo>
                  <a:pt x="4884" y="3497"/>
                  <a:pt x="5262" y="3781"/>
                  <a:pt x="5419" y="4190"/>
                </a:cubicBezTo>
                <a:lnTo>
                  <a:pt x="4443" y="4190"/>
                </a:lnTo>
                <a:cubicBezTo>
                  <a:pt x="4253" y="4190"/>
                  <a:pt x="4096" y="4348"/>
                  <a:pt x="4096" y="4568"/>
                </a:cubicBezTo>
                <a:cubicBezTo>
                  <a:pt x="4096" y="4663"/>
                  <a:pt x="4253" y="4820"/>
                  <a:pt x="4443" y="4820"/>
                </a:cubicBezTo>
                <a:lnTo>
                  <a:pt x="5419" y="4820"/>
                </a:lnTo>
                <a:cubicBezTo>
                  <a:pt x="5262" y="5230"/>
                  <a:pt x="4915" y="5545"/>
                  <a:pt x="4443" y="5545"/>
                </a:cubicBezTo>
                <a:cubicBezTo>
                  <a:pt x="3844" y="5545"/>
                  <a:pt x="3434" y="5072"/>
                  <a:pt x="3434" y="4505"/>
                </a:cubicBezTo>
                <a:cubicBezTo>
                  <a:pt x="3434" y="3970"/>
                  <a:pt x="3907" y="3497"/>
                  <a:pt x="4443" y="3497"/>
                </a:cubicBezTo>
                <a:close/>
                <a:moveTo>
                  <a:pt x="4443" y="2080"/>
                </a:moveTo>
                <a:cubicBezTo>
                  <a:pt x="5671" y="2080"/>
                  <a:pt x="6679" y="2993"/>
                  <a:pt x="6837" y="4159"/>
                </a:cubicBezTo>
                <a:lnTo>
                  <a:pt x="6144" y="4159"/>
                </a:lnTo>
                <a:cubicBezTo>
                  <a:pt x="5986" y="3371"/>
                  <a:pt x="5262" y="2773"/>
                  <a:pt x="4443" y="2773"/>
                </a:cubicBezTo>
                <a:cubicBezTo>
                  <a:pt x="3497" y="2773"/>
                  <a:pt x="2710" y="3560"/>
                  <a:pt x="2710" y="4505"/>
                </a:cubicBezTo>
                <a:cubicBezTo>
                  <a:pt x="2710" y="5451"/>
                  <a:pt x="3497" y="6238"/>
                  <a:pt x="4443" y="6238"/>
                </a:cubicBezTo>
                <a:cubicBezTo>
                  <a:pt x="5262" y="6238"/>
                  <a:pt x="5986" y="5671"/>
                  <a:pt x="6144" y="4883"/>
                </a:cubicBezTo>
                <a:lnTo>
                  <a:pt x="6837" y="4883"/>
                </a:lnTo>
                <a:cubicBezTo>
                  <a:pt x="6679" y="6049"/>
                  <a:pt x="5671" y="6963"/>
                  <a:pt x="4443" y="6963"/>
                </a:cubicBezTo>
                <a:cubicBezTo>
                  <a:pt x="3119" y="6963"/>
                  <a:pt x="2017" y="5860"/>
                  <a:pt x="2017" y="4505"/>
                </a:cubicBezTo>
                <a:cubicBezTo>
                  <a:pt x="2017" y="3182"/>
                  <a:pt x="3119" y="2080"/>
                  <a:pt x="4443" y="2080"/>
                </a:cubicBezTo>
                <a:close/>
                <a:moveTo>
                  <a:pt x="4474" y="662"/>
                </a:moveTo>
                <a:cubicBezTo>
                  <a:pt x="6459" y="662"/>
                  <a:pt x="8097" y="2206"/>
                  <a:pt x="8255" y="4127"/>
                </a:cubicBezTo>
                <a:lnTo>
                  <a:pt x="7562" y="4127"/>
                </a:lnTo>
                <a:cubicBezTo>
                  <a:pt x="7372" y="2584"/>
                  <a:pt x="6049" y="1355"/>
                  <a:pt x="4443" y="1355"/>
                </a:cubicBezTo>
                <a:cubicBezTo>
                  <a:pt x="2710" y="1355"/>
                  <a:pt x="1324" y="2773"/>
                  <a:pt x="1324" y="4474"/>
                </a:cubicBezTo>
                <a:cubicBezTo>
                  <a:pt x="1324" y="6175"/>
                  <a:pt x="2741" y="7593"/>
                  <a:pt x="4443" y="7593"/>
                </a:cubicBezTo>
                <a:cubicBezTo>
                  <a:pt x="6049" y="7593"/>
                  <a:pt x="7372" y="6364"/>
                  <a:pt x="7562" y="4820"/>
                </a:cubicBezTo>
                <a:lnTo>
                  <a:pt x="8255" y="4820"/>
                </a:lnTo>
                <a:cubicBezTo>
                  <a:pt x="8097" y="6774"/>
                  <a:pt x="6459" y="8286"/>
                  <a:pt x="4474" y="8286"/>
                </a:cubicBezTo>
                <a:cubicBezTo>
                  <a:pt x="2395" y="8286"/>
                  <a:pt x="662" y="6616"/>
                  <a:pt x="662" y="4474"/>
                </a:cubicBezTo>
                <a:cubicBezTo>
                  <a:pt x="662" y="2363"/>
                  <a:pt x="2363" y="662"/>
                  <a:pt x="4474" y="662"/>
                </a:cubicBezTo>
                <a:close/>
                <a:moveTo>
                  <a:pt x="5734" y="8822"/>
                </a:moveTo>
                <a:lnTo>
                  <a:pt x="6049" y="9767"/>
                </a:lnTo>
                <a:lnTo>
                  <a:pt x="2836" y="9767"/>
                </a:lnTo>
                <a:lnTo>
                  <a:pt x="3151" y="8822"/>
                </a:lnTo>
                <a:cubicBezTo>
                  <a:pt x="3529" y="8916"/>
                  <a:pt x="4001" y="9011"/>
                  <a:pt x="4443" y="9011"/>
                </a:cubicBezTo>
                <a:cubicBezTo>
                  <a:pt x="4884" y="9011"/>
                  <a:pt x="5356" y="8916"/>
                  <a:pt x="5734" y="8822"/>
                </a:cubicBezTo>
                <a:close/>
                <a:moveTo>
                  <a:pt x="6522" y="10428"/>
                </a:moveTo>
                <a:cubicBezTo>
                  <a:pt x="6963" y="10428"/>
                  <a:pt x="7372" y="10680"/>
                  <a:pt x="7530" y="11121"/>
                </a:cubicBezTo>
                <a:lnTo>
                  <a:pt x="1418" y="11121"/>
                </a:lnTo>
                <a:cubicBezTo>
                  <a:pt x="1576" y="10743"/>
                  <a:pt x="1922" y="10428"/>
                  <a:pt x="2395" y="10428"/>
                </a:cubicBezTo>
                <a:close/>
                <a:moveTo>
                  <a:pt x="4474" y="0"/>
                </a:moveTo>
                <a:cubicBezTo>
                  <a:pt x="1985" y="0"/>
                  <a:pt x="0" y="1985"/>
                  <a:pt x="0" y="4474"/>
                </a:cubicBezTo>
                <a:cubicBezTo>
                  <a:pt x="0" y="6238"/>
                  <a:pt x="1040" y="7813"/>
                  <a:pt x="2552" y="8538"/>
                </a:cubicBezTo>
                <a:lnTo>
                  <a:pt x="2143" y="9767"/>
                </a:lnTo>
                <a:cubicBezTo>
                  <a:pt x="1324" y="9861"/>
                  <a:pt x="693" y="10586"/>
                  <a:pt x="693" y="11499"/>
                </a:cubicBezTo>
                <a:cubicBezTo>
                  <a:pt x="693" y="11688"/>
                  <a:pt x="851" y="11846"/>
                  <a:pt x="1040" y="11846"/>
                </a:cubicBezTo>
                <a:lnTo>
                  <a:pt x="7971" y="11846"/>
                </a:lnTo>
                <a:cubicBezTo>
                  <a:pt x="8192" y="11846"/>
                  <a:pt x="8349" y="11688"/>
                  <a:pt x="8349" y="11499"/>
                </a:cubicBezTo>
                <a:cubicBezTo>
                  <a:pt x="8349" y="10617"/>
                  <a:pt x="7719" y="9924"/>
                  <a:pt x="6900" y="9767"/>
                </a:cubicBezTo>
                <a:lnTo>
                  <a:pt x="6490" y="8538"/>
                </a:lnTo>
                <a:cubicBezTo>
                  <a:pt x="7782" y="7908"/>
                  <a:pt x="8727" y="6679"/>
                  <a:pt x="8979" y="5230"/>
                </a:cubicBezTo>
                <a:lnTo>
                  <a:pt x="9137" y="5388"/>
                </a:lnTo>
                <a:cubicBezTo>
                  <a:pt x="9168" y="5419"/>
                  <a:pt x="9200" y="5451"/>
                  <a:pt x="9263" y="5451"/>
                </a:cubicBezTo>
                <a:lnTo>
                  <a:pt x="11374" y="6175"/>
                </a:lnTo>
                <a:cubicBezTo>
                  <a:pt x="11403" y="6183"/>
                  <a:pt x="11435" y="6186"/>
                  <a:pt x="11466" y="6186"/>
                </a:cubicBezTo>
                <a:cubicBezTo>
                  <a:pt x="11569" y="6186"/>
                  <a:pt x="11672" y="6145"/>
                  <a:pt x="11720" y="6049"/>
                </a:cubicBezTo>
                <a:cubicBezTo>
                  <a:pt x="11815" y="5923"/>
                  <a:pt x="11846" y="5766"/>
                  <a:pt x="11783" y="5671"/>
                </a:cubicBezTo>
                <a:lnTo>
                  <a:pt x="11153" y="4442"/>
                </a:lnTo>
                <a:lnTo>
                  <a:pt x="11783" y="3214"/>
                </a:lnTo>
                <a:cubicBezTo>
                  <a:pt x="11815" y="3151"/>
                  <a:pt x="11783" y="2993"/>
                  <a:pt x="11689" y="2899"/>
                </a:cubicBezTo>
                <a:cubicBezTo>
                  <a:pt x="11641" y="2802"/>
                  <a:pt x="11519" y="2761"/>
                  <a:pt x="11422" y="2761"/>
                </a:cubicBezTo>
                <a:cubicBezTo>
                  <a:pt x="11392" y="2761"/>
                  <a:pt x="11364" y="2765"/>
                  <a:pt x="11342" y="2773"/>
                </a:cubicBezTo>
                <a:lnTo>
                  <a:pt x="9200" y="3497"/>
                </a:lnTo>
                <a:cubicBezTo>
                  <a:pt x="9168" y="3497"/>
                  <a:pt x="9105" y="3529"/>
                  <a:pt x="9105" y="3560"/>
                </a:cubicBezTo>
                <a:lnTo>
                  <a:pt x="8916" y="3718"/>
                </a:lnTo>
                <a:cubicBezTo>
                  <a:pt x="8570" y="1607"/>
                  <a:pt x="6742" y="0"/>
                  <a:pt x="4474" y="0"/>
                </a:cubicBezTo>
                <a:close/>
              </a:path>
            </a:pathLst>
          </a:custGeom>
          <a:solidFill>
            <a:srgbClr val="5F7D95"/>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1" name="Arrow: Chevron 10">
            <a:extLst>
              <a:ext uri="{FF2B5EF4-FFF2-40B4-BE49-F238E27FC236}">
                <a16:creationId xmlns:a16="http://schemas.microsoft.com/office/drawing/2014/main" id="{2BDB386A-C1FF-AA38-9A55-0D6C9CD12BF1}"/>
              </a:ext>
            </a:extLst>
          </p:cNvPr>
          <p:cNvSpPr>
            <a:spLocks noGrp="1"/>
          </p:cNvSpPr>
          <p:nvPr/>
        </p:nvSpPr>
        <p:spPr>
          <a:xfrm>
            <a:off x="1155232" y="262515"/>
            <a:ext cx="2281084" cy="535249"/>
          </a:xfrm>
          <a:prstGeom prst="chevron">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anchor="ctr"/>
          <a:lstStyle/>
          <a:p>
            <a:pPr algn="ctr">
              <a:buNone/>
            </a:pPr>
            <a:r>
              <a:rPr>
                <a:solidFill>
                  <a:schemeClr val="tx1"/>
                </a:solidFill>
              </a:rPr>
              <a:t>OBJECTIVES</a:t>
            </a:r>
          </a:p>
        </p:txBody>
      </p:sp>
    </p:spTree>
    <p:extLst>
      <p:ext uri="{BB962C8B-B14F-4D97-AF65-F5344CB8AC3E}">
        <p14:creationId xmlns:p14="http://schemas.microsoft.com/office/powerpoint/2010/main" val="1607190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7F0BD12-68CF-44E2-BED1-0BE2A34C263F}"/>
              </a:ext>
            </a:extLst>
          </p:cNvPr>
          <p:cNvSpPr>
            <a:spLocks noGrp="1"/>
          </p:cNvSpPr>
          <p:nvPr>
            <p:ph type="title"/>
          </p:nvPr>
        </p:nvSpPr>
        <p:spPr>
          <a:xfrm>
            <a:off x="609600" y="235309"/>
            <a:ext cx="10972800" cy="1143000"/>
          </a:xfrm>
        </p:spPr>
        <p:txBody>
          <a:bodyPr/>
          <a:lstStyle/>
          <a:p>
            <a:r>
              <a:t>INTRODUCTION</a:t>
            </a:r>
          </a:p>
        </p:txBody>
      </p:sp>
      <p:sp>
        <p:nvSpPr>
          <p:cNvPr id="2" name="Flowchart: Alternate Process 1">
            <a:extLst>
              <a:ext uri="{FF2B5EF4-FFF2-40B4-BE49-F238E27FC236}">
                <a16:creationId xmlns:a16="http://schemas.microsoft.com/office/drawing/2014/main" id="{8193771D-E962-0049-4ADC-D04A1E4C96D6}"/>
              </a:ext>
            </a:extLst>
          </p:cNvPr>
          <p:cNvSpPr>
            <a:spLocks noGrp="1"/>
          </p:cNvSpPr>
          <p:nvPr/>
        </p:nvSpPr>
        <p:spPr>
          <a:xfrm>
            <a:off x="857852" y="5070635"/>
            <a:ext cx="10687665" cy="1455174"/>
          </a:xfrm>
          <a:prstGeom prst="flowChartAlternateProcess">
            <a:avLst/>
          </a:prstGeom>
        </p:spPr>
        <p:style>
          <a:lnRef idx="2">
            <a:schemeClr val="accent6"/>
          </a:lnRef>
          <a:fillRef idx="1">
            <a:schemeClr val="lt1"/>
          </a:fillRef>
          <a:effectRef idx="0">
            <a:schemeClr val="accent6"/>
          </a:effectRef>
          <a:fontRef idx="minor">
            <a:schemeClr val="dk1"/>
          </a:fontRef>
        </p:style>
        <p:txBody>
          <a:bodyPr anchor="ctr"/>
          <a:lstStyle/>
          <a:p>
            <a:r>
              <a:rPr dirty="0"/>
              <a:t>The project proposes observation-level screening—not source classification—while preserving the distinction between statistical unusualness and calibrated polarimetric inference.</a:t>
            </a:r>
          </a:p>
        </p:txBody>
      </p:sp>
      <p:pic>
        <p:nvPicPr>
          <p:cNvPr id="49" name="Graphic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33801" y="5124266"/>
            <a:ext cx="469489" cy="469489"/>
          </a:xfrm>
          <a:prstGeom prst="rect">
            <a:avLst/>
          </a:prstGeom>
        </p:spPr>
      </p:pic>
      <p:sp>
        <p:nvSpPr>
          <p:cNvPr id="18" name="Google Shape;9872;p130">
            <a:extLst>
              <a:ext uri="{FF2B5EF4-FFF2-40B4-BE49-F238E27FC236}">
                <a16:creationId xmlns:a16="http://schemas.microsoft.com/office/drawing/2014/main" id="{8B693E68-A23F-C287-13DE-8540D5C45505}"/>
              </a:ext>
            </a:extLst>
          </p:cNvPr>
          <p:cNvSpPr>
            <a:spLocks noGrp="1"/>
          </p:cNvSpPr>
          <p:nvPr/>
        </p:nvSpPr>
        <p:spPr>
          <a:xfrm>
            <a:off x="959872" y="1585223"/>
            <a:ext cx="5072370" cy="1544441"/>
          </a:xfrm>
          <a:custGeom>
            <a:avLst/>
            <a:gdLst/>
            <a:ahLst/>
            <a:cxnLst/>
            <a:rect l="l" t="t" r="r" b="b"/>
            <a:pathLst>
              <a:path w="140281" h="6336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9" name="Google Shape;9873;p130">
            <a:extLst>
              <a:ext uri="{FF2B5EF4-FFF2-40B4-BE49-F238E27FC236}">
                <a16:creationId xmlns:a16="http://schemas.microsoft.com/office/drawing/2014/main" id="{6B32007A-2BE9-6416-51F2-97906B051767}"/>
              </a:ext>
            </a:extLst>
          </p:cNvPr>
          <p:cNvSpPr>
            <a:spLocks noGrp="1"/>
          </p:cNvSpPr>
          <p:nvPr/>
        </p:nvSpPr>
        <p:spPr>
          <a:xfrm>
            <a:off x="959872" y="3293029"/>
            <a:ext cx="5072370" cy="1544441"/>
          </a:xfrm>
          <a:custGeom>
            <a:avLst/>
            <a:gdLst/>
            <a:ahLst/>
            <a:cxnLst/>
            <a:rect l="l" t="t" r="r" b="b"/>
            <a:pathLst>
              <a:path w="140281" h="6336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0" name="Google Shape;9874;p130">
            <a:extLst>
              <a:ext uri="{FF2B5EF4-FFF2-40B4-BE49-F238E27FC236}">
                <a16:creationId xmlns:a16="http://schemas.microsoft.com/office/drawing/2014/main" id="{2C5D4366-E772-F5FE-CF30-57DA86B5C47B}"/>
              </a:ext>
            </a:extLst>
          </p:cNvPr>
          <p:cNvSpPr>
            <a:spLocks noGrp="1"/>
          </p:cNvSpPr>
          <p:nvPr/>
        </p:nvSpPr>
        <p:spPr>
          <a:xfrm>
            <a:off x="6215061" y="1585223"/>
            <a:ext cx="5072370" cy="1544441"/>
          </a:xfrm>
          <a:custGeom>
            <a:avLst/>
            <a:gdLst/>
            <a:ahLst/>
            <a:cxnLst/>
            <a:rect l="l" t="t" r="r" b="b"/>
            <a:pathLst>
              <a:path w="140281" h="6336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1" name="Google Shape;9875;p130">
            <a:extLst>
              <a:ext uri="{FF2B5EF4-FFF2-40B4-BE49-F238E27FC236}">
                <a16:creationId xmlns:a16="http://schemas.microsoft.com/office/drawing/2014/main" id="{1D634AE7-3774-F9D8-3E79-C2A6F7280F0A}"/>
              </a:ext>
            </a:extLst>
          </p:cNvPr>
          <p:cNvSpPr>
            <a:spLocks noGrp="1"/>
          </p:cNvSpPr>
          <p:nvPr/>
        </p:nvSpPr>
        <p:spPr>
          <a:xfrm>
            <a:off x="6215061" y="3293029"/>
            <a:ext cx="5072370" cy="1544441"/>
          </a:xfrm>
          <a:custGeom>
            <a:avLst/>
            <a:gdLst/>
            <a:ahLst/>
            <a:cxnLst/>
            <a:rect l="l" t="t" r="r" b="b"/>
            <a:pathLst>
              <a:path w="140281" h="6336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2" name="Google Shape;9876;p130">
            <a:extLst>
              <a:ext uri="{FF2B5EF4-FFF2-40B4-BE49-F238E27FC236}">
                <a16:creationId xmlns:a16="http://schemas.microsoft.com/office/drawing/2014/main" id="{A6375B55-02B5-6417-A7FC-D28A1A33CD91}"/>
              </a:ext>
            </a:extLst>
          </p:cNvPr>
          <p:cNvSpPr>
            <a:spLocks noGrp="1"/>
          </p:cNvSpPr>
          <p:nvPr/>
        </p:nvSpPr>
        <p:spPr>
          <a:xfrm>
            <a:off x="4726590" y="2312446"/>
            <a:ext cx="2666844" cy="1797801"/>
          </a:xfrm>
          <a:custGeom>
            <a:avLst/>
            <a:gdLst/>
            <a:ahLst/>
            <a:cxnLst/>
            <a:rect l="l" t="t" r="r" b="b"/>
            <a:pathLst>
              <a:path w="73754" h="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 name="TextBox 23">
            <a:extLst>
              <a:ext uri="{FF2B5EF4-FFF2-40B4-BE49-F238E27FC236}">
                <a16:creationId xmlns:a16="http://schemas.microsoft.com/office/drawing/2014/main" id="{97BABA58-05E6-29B8-B191-E1A85FA97E37}"/>
              </a:ext>
            </a:extLst>
          </p:cNvPr>
          <p:cNvSpPr>
            <a:spLocks noGrp="1"/>
          </p:cNvSpPr>
          <p:nvPr/>
        </p:nvSpPr>
        <p:spPr>
          <a:xfrm>
            <a:off x="1364226" y="3716154"/>
            <a:ext cx="3687097" cy="954107"/>
          </a:xfrm>
          <a:prstGeom prst="rect">
            <a:avLst/>
          </a:prstGeom>
          <a:noFill/>
        </p:spPr>
        <p:txBody>
          <a:bodyPr wrap="square">
            <a:spAutoFit/>
          </a:bodyPr>
          <a:lstStyle/>
          <a:p>
            <a:r>
              <a:rPr sz="1400"/>
              <a:t>XPoSat carries POLIX for 8–30 keV polarimetry and XSPECT for 0.8–15 keV spectroscopy and timing. POLIX uses a central beryllium scatterer, four proportional counters and 48 anode cells.</a:t>
            </a:r>
          </a:p>
        </p:txBody>
      </p:sp>
      <p:sp>
        <p:nvSpPr>
          <p:cNvPr id="26" name="TextBox 25">
            <a:extLst>
              <a:ext uri="{FF2B5EF4-FFF2-40B4-BE49-F238E27FC236}">
                <a16:creationId xmlns:a16="http://schemas.microsoft.com/office/drawing/2014/main" id="{7A618C72-511D-94BE-5E43-3E273225FF0A}"/>
              </a:ext>
            </a:extLst>
          </p:cNvPr>
          <p:cNvSpPr>
            <a:spLocks noGrp="1"/>
          </p:cNvSpPr>
          <p:nvPr/>
        </p:nvSpPr>
        <p:spPr>
          <a:xfrm>
            <a:off x="7393435" y="3728337"/>
            <a:ext cx="4030088" cy="954107"/>
          </a:xfrm>
          <a:prstGeom prst="rect">
            <a:avLst/>
          </a:prstGeom>
          <a:noFill/>
        </p:spPr>
        <p:txBody>
          <a:bodyPr wrap="square">
            <a:spAutoFit/>
          </a:bodyPr>
          <a:lstStyle/>
          <a:p>
            <a:r>
              <a:rPr sz="1400"/>
              <a:t>One POLIX observation spans heterogeneous FITS products. Manual comparison is repetitive; labels are unavailable; and a score must remain traceable to scientific evidence.</a:t>
            </a:r>
          </a:p>
        </p:txBody>
      </p:sp>
      <p:sp>
        <p:nvSpPr>
          <p:cNvPr id="30" name="TextBox 29">
            <a:extLst>
              <a:ext uri="{FF2B5EF4-FFF2-40B4-BE49-F238E27FC236}">
                <a16:creationId xmlns:a16="http://schemas.microsoft.com/office/drawing/2014/main" id="{EAEB6DCB-801F-1D9A-1B21-0FC5C4DC6F42}"/>
              </a:ext>
            </a:extLst>
          </p:cNvPr>
          <p:cNvSpPr>
            <a:spLocks noGrp="1"/>
          </p:cNvSpPr>
          <p:nvPr/>
        </p:nvSpPr>
        <p:spPr>
          <a:xfrm>
            <a:off x="7531510" y="2044086"/>
            <a:ext cx="3700618" cy="977732"/>
          </a:xfrm>
          <a:prstGeom prst="rect">
            <a:avLst/>
          </a:prstGeom>
          <a:noFill/>
        </p:spPr>
        <p:txBody>
          <a:bodyPr wrap="square">
            <a:spAutoFit/>
          </a:bodyPr>
          <a:lstStyle/>
          <a:p>
            <a:r>
              <a:rPr sz="1400"/>
              <a:t>Linear polarization adds degree and orientation information related to emission asymmetry, magnetic-field structure and scattering geometry.</a:t>
            </a:r>
          </a:p>
        </p:txBody>
      </p:sp>
      <p:graphicFrame>
        <p:nvGraphicFramePr>
          <p:cNvPr id="58" name="Table 30"/>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0000"/>
                    </a:ext>
                  </a:extLst>
                </a:gridCol>
              </a:tblGrid>
              <a:tr h="0">
                <a:tc>
                  <a:txBody>
                    <a:bodyPr/>
                    <a:lstStyle/>
                    <a:p>
                      <a:pPr>
                        <a:buNone/>
                      </a:pPr>
                      <a:endParaRPr/>
                    </a:p>
                  </a:txBody>
                  <a:tcPr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59" name="Table 31"/>
          <p:cNvGraphicFramePr/>
          <p:nvPr/>
        </p:nvGraphicFramePr>
        <p:xfrm>
          <a:off x="946008" y="2076925"/>
          <a:ext cx="4340059" cy="881706"/>
        </p:xfrm>
        <a:graphic>
          <a:graphicData uri="http://schemas.openxmlformats.org/drawingml/2006/table">
            <a:tbl>
              <a:tblPr/>
              <a:tblGrid>
                <a:gridCol w="4340059">
                  <a:extLst>
                    <a:ext uri="{9D8B030D-6E8A-4147-A177-3AD203B41FA5}">
                      <a16:colId xmlns:a16="http://schemas.microsoft.com/office/drawing/2014/main" val="20000"/>
                    </a:ext>
                  </a:extLst>
                </a:gridCol>
              </a:tblGrid>
              <a:tr h="881706">
                <a:tc>
                  <a:txBody>
                    <a:bodyPr/>
                    <a:lstStyle/>
                    <a:p>
                      <a:pPr>
                        <a:buNone/>
                      </a:pPr>
                      <a:r>
                        <a:rPr sz="1400"/>
                        <a:t>Imaging, spectroscopy and timing locate, characterize and track energetic sources, but may leave source geometry under-constrained.</a:t>
                      </a:r>
                    </a:p>
                  </a:txBody>
                  <a:tcPr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sp>
        <p:nvSpPr>
          <p:cNvPr id="34" name="TextBox 33">
            <a:extLst>
              <a:ext uri="{FF2B5EF4-FFF2-40B4-BE49-F238E27FC236}">
                <a16:creationId xmlns:a16="http://schemas.microsoft.com/office/drawing/2014/main" id="{D9572626-D57F-0579-77AD-A23F710E85AB}"/>
              </a:ext>
            </a:extLst>
          </p:cNvPr>
          <p:cNvSpPr>
            <a:spLocks noGrp="1"/>
          </p:cNvSpPr>
          <p:nvPr/>
        </p:nvSpPr>
        <p:spPr>
          <a:xfrm>
            <a:off x="1612491" y="1731131"/>
            <a:ext cx="6096000" cy="369332"/>
          </a:xfrm>
          <a:prstGeom prst="rect">
            <a:avLst/>
          </a:prstGeom>
          <a:noFill/>
        </p:spPr>
        <p:txBody>
          <a:bodyPr wrap="square">
            <a:spAutoFit/>
          </a:bodyPr>
          <a:lstStyle/>
          <a:p>
            <a:r>
              <a:rPr lang="en-IN" b="1" dirty="0">
                <a:solidFill>
                  <a:srgbClr val="92D050"/>
                </a:solidFill>
              </a:rPr>
              <a:t>X-Ray Astronomy</a:t>
            </a:r>
            <a:endParaRPr b="1" dirty="0">
              <a:solidFill>
                <a:srgbClr val="92D050"/>
              </a:solidFill>
            </a:endParaRPr>
          </a:p>
        </p:txBody>
      </p:sp>
      <p:sp>
        <p:nvSpPr>
          <p:cNvPr id="36" name="TextBox 35">
            <a:extLst>
              <a:ext uri="{FF2B5EF4-FFF2-40B4-BE49-F238E27FC236}">
                <a16:creationId xmlns:a16="http://schemas.microsoft.com/office/drawing/2014/main" id="{AE00F797-A2F6-97B1-D802-B581742C619F}"/>
              </a:ext>
            </a:extLst>
          </p:cNvPr>
          <p:cNvSpPr>
            <a:spLocks noGrp="1"/>
          </p:cNvSpPr>
          <p:nvPr/>
        </p:nvSpPr>
        <p:spPr>
          <a:xfrm>
            <a:off x="7531510" y="1693502"/>
            <a:ext cx="6096000" cy="369332"/>
          </a:xfrm>
          <a:prstGeom prst="rect">
            <a:avLst/>
          </a:prstGeom>
          <a:noFill/>
        </p:spPr>
        <p:txBody>
          <a:bodyPr wrap="square">
            <a:spAutoFit/>
          </a:bodyPr>
          <a:lstStyle/>
          <a:p>
            <a:r>
              <a:rPr b="1">
                <a:solidFill>
                  <a:srgbClr val="00B0F0"/>
                </a:solidFill>
              </a:rPr>
              <a:t>X-Ray Polarization</a:t>
            </a:r>
          </a:p>
        </p:txBody>
      </p:sp>
      <p:sp>
        <p:nvSpPr>
          <p:cNvPr id="38" name="TextBox 37">
            <a:extLst>
              <a:ext uri="{FF2B5EF4-FFF2-40B4-BE49-F238E27FC236}">
                <a16:creationId xmlns:a16="http://schemas.microsoft.com/office/drawing/2014/main" id="{C8D13D7C-F4EA-0519-DD35-315A87B11EE4}"/>
              </a:ext>
            </a:extLst>
          </p:cNvPr>
          <p:cNvSpPr>
            <a:spLocks noGrp="1"/>
          </p:cNvSpPr>
          <p:nvPr/>
        </p:nvSpPr>
        <p:spPr>
          <a:xfrm>
            <a:off x="1612491" y="3355204"/>
            <a:ext cx="6813754" cy="369332"/>
          </a:xfrm>
          <a:prstGeom prst="rect">
            <a:avLst/>
          </a:prstGeom>
          <a:noFill/>
        </p:spPr>
        <p:txBody>
          <a:bodyPr wrap="square">
            <a:spAutoFit/>
          </a:bodyPr>
          <a:lstStyle/>
          <a:p>
            <a:r>
              <a:rPr b="1" dirty="0" err="1">
                <a:solidFill>
                  <a:schemeClr val="accent2"/>
                </a:solidFill>
              </a:rPr>
              <a:t>XPoSat</a:t>
            </a:r>
            <a:r>
              <a:rPr b="1" dirty="0">
                <a:solidFill>
                  <a:schemeClr val="accent2"/>
                </a:solidFill>
              </a:rPr>
              <a:t> / POLIX</a:t>
            </a:r>
          </a:p>
        </p:txBody>
      </p:sp>
      <p:sp>
        <p:nvSpPr>
          <p:cNvPr id="40" name="TextBox 39">
            <a:extLst>
              <a:ext uri="{FF2B5EF4-FFF2-40B4-BE49-F238E27FC236}">
                <a16:creationId xmlns:a16="http://schemas.microsoft.com/office/drawing/2014/main" id="{09B0E923-82FE-03E4-4930-7364DC980122}"/>
              </a:ext>
            </a:extLst>
          </p:cNvPr>
          <p:cNvSpPr>
            <a:spLocks noGrp="1"/>
          </p:cNvSpPr>
          <p:nvPr/>
        </p:nvSpPr>
        <p:spPr>
          <a:xfrm>
            <a:off x="7708491" y="3375430"/>
            <a:ext cx="3119283" cy="369332"/>
          </a:xfrm>
          <a:prstGeom prst="rect">
            <a:avLst/>
          </a:prstGeom>
          <a:noFill/>
        </p:spPr>
        <p:txBody>
          <a:bodyPr wrap="square">
            <a:spAutoFit/>
          </a:bodyPr>
          <a:lstStyle/>
          <a:p>
            <a:r>
              <a:rPr b="1">
                <a:solidFill>
                  <a:srgbClr val="FF0000"/>
                </a:solidFill>
              </a:rPr>
              <a:t>Project Motivation</a:t>
            </a:r>
          </a:p>
        </p:txBody>
      </p:sp>
      <p:sp>
        <p:nvSpPr>
          <p:cNvPr id="42" name="TextBox 41">
            <a:extLst>
              <a:ext uri="{FF2B5EF4-FFF2-40B4-BE49-F238E27FC236}">
                <a16:creationId xmlns:a16="http://schemas.microsoft.com/office/drawing/2014/main" id="{95CBA37F-C3BE-2A4B-9317-976B70085135}"/>
              </a:ext>
            </a:extLst>
          </p:cNvPr>
          <p:cNvSpPr>
            <a:spLocks noGrp="1"/>
          </p:cNvSpPr>
          <p:nvPr/>
        </p:nvSpPr>
        <p:spPr>
          <a:xfrm>
            <a:off x="4984954" y="2958631"/>
            <a:ext cx="6813754" cy="369332"/>
          </a:xfrm>
          <a:prstGeom prst="rect">
            <a:avLst/>
          </a:prstGeom>
          <a:noFill/>
        </p:spPr>
        <p:txBody>
          <a:bodyPr wrap="square">
            <a:spAutoFit/>
          </a:bodyPr>
          <a:lstStyle/>
          <a:p>
            <a:r>
              <a:rPr b="1">
                <a:solidFill>
                  <a:schemeClr val="tx1">
                    <a:lumMod val="95000"/>
                    <a:lumOff val="5000"/>
                  </a:schemeClr>
                </a:solidFill>
              </a:rPr>
              <a:t>INTRODUCTION</a:t>
            </a:r>
          </a:p>
        </p:txBody>
      </p:sp>
      <p:sp>
        <p:nvSpPr>
          <p:cNvPr id="43" name="TextBox 42">
            <a:extLst>
              <a:ext uri="{FF2B5EF4-FFF2-40B4-BE49-F238E27FC236}">
                <a16:creationId xmlns:a16="http://schemas.microsoft.com/office/drawing/2014/main" id="{EAF00366-6148-48A3-DCFF-FE5347B8D83C}"/>
              </a:ext>
            </a:extLst>
          </p:cNvPr>
          <p:cNvSpPr>
            <a:spLocks noGrp="1"/>
          </p:cNvSpPr>
          <p:nvPr/>
        </p:nvSpPr>
        <p:spPr>
          <a:xfrm>
            <a:off x="4291933" y="5190378"/>
            <a:ext cx="3480619" cy="646331"/>
          </a:xfrm>
          <a:prstGeom prst="rect">
            <a:avLst/>
          </a:prstGeom>
          <a:noFill/>
        </p:spPr>
        <p:txBody>
          <a:bodyPr wrap="square">
            <a:spAutoFit/>
          </a:bodyPr>
          <a:lstStyle/>
          <a:p>
            <a:r>
              <a:rPr b="1"/>
              <a:t>INTRODUCTION SUMMARY</a:t>
            </a:r>
          </a:p>
        </p:txBody>
      </p:sp>
    </p:spTree>
    <p:extLst>
      <p:ext uri="{BB962C8B-B14F-4D97-AF65-F5344CB8AC3E}">
        <p14:creationId xmlns:p14="http://schemas.microsoft.com/office/powerpoint/2010/main" val="3143505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B14641E-B445-40C4-B19B-36F589BFBECC}"/>
              </a:ext>
            </a:extLst>
          </p:cNvPr>
          <p:cNvSpPr>
            <a:spLocks noGrp="1"/>
          </p:cNvSpPr>
          <p:nvPr>
            <p:ph type="title"/>
          </p:nvPr>
        </p:nvSpPr>
        <p:spPr>
          <a:xfrm>
            <a:off x="609600" y="235309"/>
            <a:ext cx="10972800" cy="1143000"/>
          </a:xfrm>
        </p:spPr>
        <p:txBody>
          <a:bodyPr/>
          <a:lstStyle/>
          <a:p>
            <a:r>
              <a:t>Why X-Ray Astronomy Needs Polarization</a:t>
            </a:r>
          </a:p>
        </p:txBody>
      </p:sp>
      <p:sp>
        <p:nvSpPr>
          <p:cNvPr id="9" name="orange-rule-64-169">
            <a:extLst>
              <a:ext uri="{FF2B5EF4-FFF2-40B4-BE49-F238E27FC236}">
                <a16:creationId xmlns:a16="http://schemas.microsoft.com/office/drawing/2014/main" id="{05B05481-6B02-4D21-B44E-E083ACC92F68}"/>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7FB01115-00DB-4BDA-8931-1F29E074CF30}"/>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xray-context">
            <a:extLst>
              <a:ext uri="{FF2B5EF4-FFF2-40B4-BE49-F238E27FC236}">
                <a16:creationId xmlns:a16="http://schemas.microsoft.com/office/drawing/2014/main" id="{344334D8-C238-4ED7-B572-EA6F91E154BF}"/>
              </a:ext>
            </a:extLst>
          </p:cNvPr>
          <p:cNvSpPr>
            <a:spLocks noGrp="1"/>
          </p:cNvSpPr>
          <p:nvPr/>
        </p:nvSpPr>
        <p:spPr>
          <a:xfrm>
            <a:off x="742950" y="1847850"/>
            <a:ext cx="10572750" cy="552450"/>
          </a:xfrm>
          <a:prstGeom prst="rect">
            <a:avLst/>
          </a:prstGeom>
          <a:noFill/>
          <a:ln w="0">
            <a:noFill/>
            <a:prstDash val="solid"/>
          </a:ln>
        </p:spPr>
        <p:txBody>
          <a:bodyPr wrap="square" lIns="47625" tIns="38100" rIns="47625" bIns="38100" anchor="ctr">
            <a:noAutofit/>
          </a:bodyPr>
          <a:lstStyle/>
          <a:p>
            <a:pPr algn="ctr">
              <a:defRPr sz="1800" b="1">
                <a:solidFill>
                  <a:srgbClr val="17365D"/>
                </a:solidFill>
                <a:latin typeface="Calibri"/>
                <a:ea typeface="Calibri"/>
                <a:cs typeface="Calibri"/>
              </a:defRPr>
            </a:pPr>
            <a:r>
              <a:rPr sz="1800" b="1">
                <a:solidFill>
                  <a:srgbClr val="17365D"/>
                </a:solidFill>
                <a:latin typeface="Calibri"/>
                <a:ea typeface="Calibri"/>
                <a:cs typeface="Calibri"/>
              </a:rPr>
              <a:t>Compact objects, accretion flows, shocks and hot plasmas release large amounts of energy in X-rays.</a:t>
            </a:r>
          </a:p>
        </p:txBody>
      </p:sp>
      <p:sp>
        <p:nvSpPr>
          <p:cNvPr id="12" name="measure-0">
            <a:extLst>
              <a:ext uri="{FF2B5EF4-FFF2-40B4-BE49-F238E27FC236}">
                <a16:creationId xmlns:a16="http://schemas.microsoft.com/office/drawing/2014/main" id="{79C9E7D5-ABCA-41E2-9601-2C3A5BB3A3A8}"/>
              </a:ext>
            </a:extLst>
          </p:cNvPr>
          <p:cNvSpPr>
            <a:spLocks noGrp="1"/>
          </p:cNvSpPr>
          <p:nvPr/>
        </p:nvSpPr>
        <p:spPr>
          <a:xfrm>
            <a:off x="742950" y="2647950"/>
            <a:ext cx="3190875" cy="1428750"/>
          </a:xfrm>
          <a:prstGeom prst="roundRect">
            <a:avLst>
              <a:gd name="adj" fmla="val 5333"/>
            </a:avLst>
          </a:prstGeom>
          <a:solidFill>
            <a:srgbClr val="E7F3F3"/>
          </a:solidFill>
          <a:ln w="11430">
            <a:solidFill>
              <a:srgbClr val="16858A"/>
            </a:solidFill>
            <a:prstDash val="solid"/>
          </a:ln>
        </p:spPr>
        <p:txBody>
          <a:bodyPr wrap="square" lIns="171450" tIns="133350" rIns="171450" bIns="133350" anchor="ctr">
            <a:noAutofit/>
          </a:bodyPr>
          <a:lstStyle/>
          <a:p>
            <a:pPr algn="ctr">
              <a:defRPr sz="1500">
                <a:solidFill>
                  <a:srgbClr val="17212B"/>
                </a:solidFill>
                <a:latin typeface="Calibri"/>
                <a:ea typeface="Calibri"/>
                <a:cs typeface="Calibri"/>
              </a:defRPr>
            </a:pPr>
            <a:r>
              <a:rPr sz="1500" b="1">
                <a:solidFill>
                  <a:srgbClr val="17212B"/>
                </a:solidFill>
                <a:latin typeface="Calibri"/>
                <a:ea typeface="Calibri"/>
                <a:cs typeface="Calibri"/>
              </a:rPr>
              <a:t>IMAGING</a:t>
            </a:r>
          </a:p>
          <a:p>
            <a:pPr algn="ctr">
              <a:defRPr sz="1500">
                <a:solidFill>
                  <a:srgbClr val="17212B"/>
                </a:solidFill>
                <a:latin typeface="Calibri"/>
                <a:ea typeface="Calibri"/>
                <a:cs typeface="Calibri"/>
              </a:defRPr>
            </a:pPr>
            <a:r>
              <a:rPr sz="1500">
                <a:solidFill>
                  <a:srgbClr val="17212B"/>
                </a:solidFill>
                <a:latin typeface="Calibri"/>
                <a:ea typeface="Calibri"/>
                <a:cs typeface="Calibri"/>
              </a:rPr>
              <a:t>Where is the emission?
Spatial structure and source location</a:t>
            </a:r>
          </a:p>
        </p:txBody>
      </p:sp>
      <p:sp>
        <p:nvSpPr>
          <p:cNvPr id="13" name="measure-1">
            <a:extLst>
              <a:ext uri="{FF2B5EF4-FFF2-40B4-BE49-F238E27FC236}">
                <a16:creationId xmlns:a16="http://schemas.microsoft.com/office/drawing/2014/main" id="{A5ED5ED8-F8E8-4532-9677-01B6D82E2BCB}"/>
              </a:ext>
            </a:extLst>
          </p:cNvPr>
          <p:cNvSpPr>
            <a:spLocks noGrp="1"/>
          </p:cNvSpPr>
          <p:nvPr/>
        </p:nvSpPr>
        <p:spPr>
          <a:xfrm>
            <a:off x="4410075" y="2647950"/>
            <a:ext cx="3190875" cy="1428750"/>
          </a:xfrm>
          <a:prstGeom prst="roundRect">
            <a:avLst>
              <a:gd name="adj" fmla="val 5333"/>
            </a:avLst>
          </a:prstGeom>
          <a:solidFill>
            <a:srgbClr val="FFF0E5"/>
          </a:solidFill>
          <a:ln w="11430">
            <a:solidFill>
              <a:srgbClr val="D95F02"/>
            </a:solidFill>
            <a:prstDash val="solid"/>
          </a:ln>
        </p:spPr>
        <p:txBody>
          <a:bodyPr wrap="square" lIns="171450" tIns="133350" rIns="171450" bIns="133350" anchor="ctr">
            <a:noAutofit/>
          </a:bodyPr>
          <a:lstStyle/>
          <a:p>
            <a:pPr algn="ctr">
              <a:defRPr sz="1500">
                <a:solidFill>
                  <a:srgbClr val="17212B"/>
                </a:solidFill>
                <a:latin typeface="Calibri"/>
                <a:ea typeface="Calibri"/>
                <a:cs typeface="Calibri"/>
              </a:defRPr>
            </a:pPr>
            <a:r>
              <a:rPr sz="1500" b="1">
                <a:solidFill>
                  <a:srgbClr val="17212B"/>
                </a:solidFill>
                <a:latin typeface="Calibri"/>
                <a:ea typeface="Calibri"/>
                <a:cs typeface="Calibri"/>
              </a:rPr>
              <a:t>SPECTROSCOPY</a:t>
            </a:r>
          </a:p>
          <a:p>
            <a:pPr algn="ctr">
              <a:defRPr sz="1500">
                <a:solidFill>
                  <a:srgbClr val="17212B"/>
                </a:solidFill>
                <a:latin typeface="Calibri"/>
                <a:ea typeface="Calibri"/>
                <a:cs typeface="Calibri"/>
              </a:defRPr>
            </a:pPr>
            <a:r>
              <a:rPr sz="1500">
                <a:solidFill>
                  <a:srgbClr val="17212B"/>
                </a:solidFill>
                <a:latin typeface="Calibri"/>
                <a:ea typeface="Calibri"/>
                <a:cs typeface="Calibri"/>
              </a:rPr>
              <a:t>What energies are present?
Composition, temperature and continuum shape</a:t>
            </a:r>
          </a:p>
        </p:txBody>
      </p:sp>
      <p:sp>
        <p:nvSpPr>
          <p:cNvPr id="14" name="measure-2">
            <a:extLst>
              <a:ext uri="{FF2B5EF4-FFF2-40B4-BE49-F238E27FC236}">
                <a16:creationId xmlns:a16="http://schemas.microsoft.com/office/drawing/2014/main" id="{2D26C314-C2A2-404E-9FD2-9DD7D007C0BB}"/>
              </a:ext>
            </a:extLst>
          </p:cNvPr>
          <p:cNvSpPr>
            <a:spLocks noGrp="1"/>
          </p:cNvSpPr>
          <p:nvPr/>
        </p:nvSpPr>
        <p:spPr>
          <a:xfrm>
            <a:off x="8077200" y="2647950"/>
            <a:ext cx="3190875" cy="1428750"/>
          </a:xfrm>
          <a:prstGeom prst="roundRect">
            <a:avLst>
              <a:gd name="adj" fmla="val 5333"/>
            </a:avLst>
          </a:prstGeom>
          <a:solidFill>
            <a:srgbClr val="E7F3F3"/>
          </a:solidFill>
          <a:ln w="11430">
            <a:solidFill>
              <a:srgbClr val="16858A"/>
            </a:solidFill>
            <a:prstDash val="solid"/>
          </a:ln>
        </p:spPr>
        <p:txBody>
          <a:bodyPr wrap="square" lIns="171450" tIns="133350" rIns="171450" bIns="133350" anchor="ctr">
            <a:noAutofit/>
          </a:bodyPr>
          <a:lstStyle/>
          <a:p>
            <a:pPr algn="ctr">
              <a:defRPr sz="1500">
                <a:solidFill>
                  <a:srgbClr val="17212B"/>
                </a:solidFill>
                <a:latin typeface="Calibri"/>
                <a:ea typeface="Calibri"/>
                <a:cs typeface="Calibri"/>
              </a:defRPr>
            </a:pPr>
            <a:r>
              <a:rPr sz="1500" b="1">
                <a:solidFill>
                  <a:srgbClr val="17212B"/>
                </a:solidFill>
                <a:latin typeface="Calibri"/>
                <a:ea typeface="Calibri"/>
                <a:cs typeface="Calibri"/>
              </a:rPr>
              <a:t>TIMING</a:t>
            </a:r>
          </a:p>
          <a:p>
            <a:pPr algn="ctr">
              <a:defRPr sz="1500">
                <a:solidFill>
                  <a:srgbClr val="17212B"/>
                </a:solidFill>
                <a:latin typeface="Calibri"/>
                <a:ea typeface="Calibri"/>
                <a:cs typeface="Calibri"/>
              </a:defRPr>
            </a:pPr>
            <a:r>
              <a:rPr sz="1500">
                <a:solidFill>
                  <a:srgbClr val="17212B"/>
                </a:solidFill>
                <a:latin typeface="Calibri"/>
                <a:ea typeface="Calibri"/>
                <a:cs typeface="Calibri"/>
              </a:rPr>
              <a:t>How does it change?
Variability, periodicity and transient behaviour</a:t>
            </a:r>
          </a:p>
        </p:txBody>
      </p:sp>
      <p:sp>
        <p:nvSpPr>
          <p:cNvPr id="15" name="down-arrow">
            <a:extLst>
              <a:ext uri="{FF2B5EF4-FFF2-40B4-BE49-F238E27FC236}">
                <a16:creationId xmlns:a16="http://schemas.microsoft.com/office/drawing/2014/main" id="{7D1964EE-746B-41C9-B05A-23FDA02FE13F}"/>
              </a:ext>
            </a:extLst>
          </p:cNvPr>
          <p:cNvSpPr>
            <a:spLocks noGrp="1"/>
          </p:cNvSpPr>
          <p:nvPr/>
        </p:nvSpPr>
        <p:spPr>
          <a:xfrm>
            <a:off x="5619750" y="4067175"/>
            <a:ext cx="952500" cy="523875"/>
          </a:xfrm>
          <a:prstGeom prst="rect">
            <a:avLst/>
          </a:prstGeom>
          <a:noFill/>
          <a:ln w="0">
            <a:noFill/>
            <a:prstDash val="solid"/>
          </a:ln>
        </p:spPr>
        <p:txBody>
          <a:bodyPr wrap="square" lIns="47625" tIns="38100" rIns="47625" bIns="38100" anchor="t">
            <a:noAutofit/>
          </a:bodyPr>
          <a:lstStyle/>
          <a:p>
            <a:pPr algn="ctr">
              <a:defRPr sz="2850" b="1">
                <a:solidFill>
                  <a:srgbClr val="D95F02"/>
                </a:solidFill>
                <a:latin typeface="Calibri"/>
                <a:ea typeface="Calibri"/>
                <a:cs typeface="Calibri"/>
              </a:defRPr>
            </a:pPr>
            <a:r>
              <a:rPr sz="2850" b="1">
                <a:solidFill>
                  <a:srgbClr val="D95F02"/>
                </a:solidFill>
                <a:latin typeface="Calibri"/>
                <a:ea typeface="Calibri"/>
                <a:cs typeface="Calibri"/>
              </a:rPr>
              <a:t>↓</a:t>
            </a:r>
          </a:p>
        </p:txBody>
      </p:sp>
      <p:sp>
        <p:nvSpPr>
          <p:cNvPr id="16" name="polarization-adds">
            <a:extLst>
              <a:ext uri="{FF2B5EF4-FFF2-40B4-BE49-F238E27FC236}">
                <a16:creationId xmlns:a16="http://schemas.microsoft.com/office/drawing/2014/main" id="{135A31F7-3DD7-446D-9E0C-5F6AC163A27E}"/>
              </a:ext>
            </a:extLst>
          </p:cNvPr>
          <p:cNvSpPr>
            <a:spLocks noGrp="1"/>
          </p:cNvSpPr>
          <p:nvPr/>
        </p:nvSpPr>
        <p:spPr>
          <a:xfrm>
            <a:off x="2095500" y="4667250"/>
            <a:ext cx="8001000" cy="1047750"/>
          </a:xfrm>
          <a:prstGeom prst="roundRect">
            <a:avLst>
              <a:gd name="adj" fmla="val 7273"/>
            </a:avLst>
          </a:prstGeom>
          <a:solidFill>
            <a:srgbClr val="EEF4FA"/>
          </a:solidFill>
          <a:ln w="13335">
            <a:solidFill>
              <a:srgbClr val="17365D"/>
            </a:solidFill>
            <a:prstDash val="solid"/>
          </a:ln>
        </p:spPr>
        <p:txBody>
          <a:bodyPr wrap="square" lIns="133350" tIns="95250" rIns="133350" bIns="95250" anchor="ctr">
            <a:noAutofit/>
          </a:bodyPr>
          <a:lstStyle/>
          <a:p>
            <a:pPr algn="ctr">
              <a:defRPr sz="1650" b="1">
                <a:solidFill>
                  <a:srgbClr val="17365D"/>
                </a:solidFill>
                <a:latin typeface="Calibri"/>
                <a:ea typeface="Calibri"/>
                <a:cs typeface="Calibri"/>
              </a:defRPr>
            </a:pPr>
            <a:r>
              <a:rPr sz="1650" b="1">
                <a:solidFill>
                  <a:srgbClr val="17365D"/>
                </a:solidFill>
                <a:latin typeface="Calibri"/>
                <a:ea typeface="Calibri"/>
                <a:cs typeface="Calibri"/>
              </a:rPr>
              <a:t>These observables can leave source geometry degenerate. Polarization adds orientation, magnetic-field order and scattering geometry.</a:t>
            </a:r>
          </a:p>
        </p:txBody>
      </p:sp>
    </p:spTree>
    <p:extLst>
      <p:ext uri="{BB962C8B-B14F-4D97-AF65-F5344CB8AC3E}">
        <p14:creationId xmlns:p14="http://schemas.microsoft.com/office/powerpoint/2010/main" val="2842216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POLIX Converts Scattering into Modulation</a:t>
            </a:r>
          </a:p>
        </p:txBody>
      </p:sp>
      <p:sp>
        <p:nvSpPr>
          <p:cNvPr id="9" name="orange-rule-64-169">
            <a:extLst>
              <a:ext uri="{FF2B5EF4-FFF2-40B4-BE49-F238E27FC236}">
                <a16:creationId xmlns:a16="http://schemas.microsoft.com/office/drawing/2014/main" id="{27D4412D-F8AD-4E24-9BF5-1AB26E77253F}"/>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8A67C747-0616-448F-971F-696F31691FC4}"/>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section-Cross-sectional view">
            <a:extLst>
              <a:ext uri="{FF2B5EF4-FFF2-40B4-BE49-F238E27FC236}">
                <a16:creationId xmlns:a16="http://schemas.microsoft.com/office/drawing/2014/main" id="{0D052A48-E92B-4437-A395-02E456BD8191}"/>
              </a:ext>
            </a:extLst>
          </p:cNvPr>
          <p:cNvSpPr>
            <a:spLocks noGrp="1"/>
          </p:cNvSpPr>
          <p:nvPr/>
        </p:nvSpPr>
        <p:spPr>
          <a:xfrm>
            <a:off x="685800" y="1952625"/>
            <a:ext cx="26670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CROSS-SECTIONAL VIEW</a:t>
            </a:r>
          </a:p>
        </p:txBody>
      </p:sp>
      <p:sp>
        <p:nvSpPr>
          <p:cNvPr id="12" name="incoming-label">
            <a:extLst>
              <a:ext uri="{FF2B5EF4-FFF2-40B4-BE49-F238E27FC236}">
                <a16:creationId xmlns:a16="http://schemas.microsoft.com/office/drawing/2014/main" id="{711F4D3E-97D2-4A06-A4A2-68A578658BC1}"/>
              </a:ext>
            </a:extLst>
          </p:cNvPr>
          <p:cNvSpPr>
            <a:spLocks noGrp="1"/>
          </p:cNvSpPr>
          <p:nvPr/>
        </p:nvSpPr>
        <p:spPr>
          <a:xfrm>
            <a:off x="714375" y="2305050"/>
            <a:ext cx="2286000" cy="781050"/>
          </a:xfrm>
          <a:prstGeom prst="rect">
            <a:avLst/>
          </a:prstGeom>
          <a:noFill/>
          <a:ln w="0">
            <a:noFill/>
            <a:prstDash val="solid"/>
          </a:ln>
        </p:spPr>
        <p:txBody>
          <a:bodyPr wrap="square" lIns="47625" tIns="38100" rIns="47625" bIns="38100" anchor="ctr">
            <a:noAutofit/>
          </a:bodyPr>
          <a:lstStyle/>
          <a:p>
            <a:pPr algn="ctr">
              <a:defRPr sz="1425" b="0">
                <a:solidFill>
                  <a:srgbClr val="17365D"/>
                </a:solidFill>
                <a:latin typeface="Calibri"/>
                <a:ea typeface="Calibri"/>
                <a:cs typeface="Calibri"/>
              </a:defRPr>
            </a:pPr>
            <a:r>
              <a:rPr sz="1425" b="0">
                <a:solidFill>
                  <a:srgbClr val="17365D"/>
                </a:solidFill>
                <a:latin typeface="Calibri"/>
                <a:ea typeface="Calibri"/>
                <a:cs typeface="Calibri"/>
              </a:rPr>
              <a:t>Incident X-rays enter along the instrument axis into the central scatterer.</a:t>
            </a:r>
          </a:p>
        </p:txBody>
      </p:sp>
      <p:sp>
        <p:nvSpPr>
          <p:cNvPr id="13" name="be-scatterer">
            <a:extLst>
              <a:ext uri="{FF2B5EF4-FFF2-40B4-BE49-F238E27FC236}">
                <a16:creationId xmlns:a16="http://schemas.microsoft.com/office/drawing/2014/main" id="{D287B2AC-B30C-413F-ACDE-AAF3821AC1AA}"/>
              </a:ext>
            </a:extLst>
          </p:cNvPr>
          <p:cNvSpPr>
            <a:spLocks noGrp="1"/>
          </p:cNvSpPr>
          <p:nvPr/>
        </p:nvSpPr>
        <p:spPr>
          <a:xfrm>
            <a:off x="4667250" y="2857500"/>
            <a:ext cx="2095500" cy="1428750"/>
          </a:xfrm>
          <a:prstGeom prst="ellipse">
            <a:avLst/>
          </a:prstGeom>
          <a:solidFill>
            <a:srgbClr val="FFF0E5"/>
          </a:solidFill>
          <a:ln w="19050">
            <a:solidFill>
              <a:srgbClr val="D95F02"/>
            </a:solidFill>
            <a:prstDash val="solid"/>
          </a:ln>
        </p:spPr>
        <p:txBody>
          <a:bodyPr wrap="square" lIns="228600" tIns="152400" rIns="228600" bIns="152400" anchor="ctr">
            <a:noAutofit/>
          </a:bodyPr>
          <a:lstStyle/>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Central</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beryllium</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scatterer</a:t>
            </a:r>
          </a:p>
        </p:txBody>
      </p:sp>
      <p:sp>
        <p:nvSpPr>
          <p:cNvPr id="14" name="detector-0">
            <a:extLst>
              <a:ext uri="{FF2B5EF4-FFF2-40B4-BE49-F238E27FC236}">
                <a16:creationId xmlns:a16="http://schemas.microsoft.com/office/drawing/2014/main" id="{0375E961-BA35-4145-9EEA-F962D7121318}"/>
              </a:ext>
            </a:extLst>
          </p:cNvPr>
          <p:cNvSpPr>
            <a:spLocks noGrp="1"/>
          </p:cNvSpPr>
          <p:nvPr/>
        </p:nvSpPr>
        <p:spPr>
          <a:xfrm>
            <a:off x="4810125" y="1952625"/>
            <a:ext cx="1809750" cy="704850"/>
          </a:xfrm>
          <a:prstGeom prst="roundRect">
            <a:avLst>
              <a:gd name="adj" fmla="val 10811"/>
            </a:avLst>
          </a:prstGeom>
          <a:solidFill>
            <a:srgbClr val="E7F3F3"/>
          </a:solidFill>
          <a:ln w="14288">
            <a:solidFill>
              <a:srgbClr val="006064"/>
            </a:solidFill>
            <a:prstDash val="solid"/>
          </a:ln>
        </p:spPr>
      </p:sp>
      <p:sp>
        <p:nvSpPr>
          <p:cNvPr id="15" name="detector-label-0">
            <a:extLst>
              <a:ext uri="{FF2B5EF4-FFF2-40B4-BE49-F238E27FC236}">
                <a16:creationId xmlns:a16="http://schemas.microsoft.com/office/drawing/2014/main" id="{E0C84775-6445-464F-A02B-4D8C909CA9F2}"/>
              </a:ext>
            </a:extLst>
          </p:cNvPr>
          <p:cNvSpPr>
            <a:spLocks noGrp="1"/>
          </p:cNvSpPr>
          <p:nvPr/>
        </p:nvSpPr>
        <p:spPr>
          <a:xfrm>
            <a:off x="4886325" y="2028825"/>
            <a:ext cx="1657350" cy="552450"/>
          </a:xfrm>
          <a:prstGeom prst="rect">
            <a:avLst/>
          </a:prstGeom>
          <a:noFill/>
          <a:ln w="0">
            <a:noFill/>
            <a:prstDash val="solid"/>
          </a:ln>
        </p:spPr>
        <p:txBody>
          <a:bodyPr wrap="square" lIns="47625" tIns="38100" rIns="47625" bIns="3810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Counter 1</a:t>
            </a:r>
          </a:p>
        </p:txBody>
      </p:sp>
      <p:sp>
        <p:nvSpPr>
          <p:cNvPr id="16" name="detector-1">
            <a:extLst>
              <a:ext uri="{FF2B5EF4-FFF2-40B4-BE49-F238E27FC236}">
                <a16:creationId xmlns:a16="http://schemas.microsoft.com/office/drawing/2014/main" id="{58D35CEE-C1C8-4E39-9DE5-521147CE3ADD}"/>
              </a:ext>
            </a:extLst>
          </p:cNvPr>
          <p:cNvSpPr>
            <a:spLocks noGrp="1"/>
          </p:cNvSpPr>
          <p:nvPr/>
        </p:nvSpPr>
        <p:spPr>
          <a:xfrm>
            <a:off x="7000875" y="3048000"/>
            <a:ext cx="1809750" cy="704850"/>
          </a:xfrm>
          <a:prstGeom prst="roundRect">
            <a:avLst>
              <a:gd name="adj" fmla="val 10811"/>
            </a:avLst>
          </a:prstGeom>
          <a:solidFill>
            <a:srgbClr val="E7F3F3"/>
          </a:solidFill>
          <a:ln w="14288">
            <a:solidFill>
              <a:srgbClr val="006064"/>
            </a:solidFill>
            <a:prstDash val="solid"/>
          </a:ln>
        </p:spPr>
      </p:sp>
      <p:sp>
        <p:nvSpPr>
          <p:cNvPr id="17" name="detector-label-1">
            <a:extLst>
              <a:ext uri="{FF2B5EF4-FFF2-40B4-BE49-F238E27FC236}">
                <a16:creationId xmlns:a16="http://schemas.microsoft.com/office/drawing/2014/main" id="{9C8D0135-035B-457E-AC19-FBAD9B320EDD}"/>
              </a:ext>
            </a:extLst>
          </p:cNvPr>
          <p:cNvSpPr>
            <a:spLocks noGrp="1"/>
          </p:cNvSpPr>
          <p:nvPr/>
        </p:nvSpPr>
        <p:spPr>
          <a:xfrm>
            <a:off x="7077075" y="3124200"/>
            <a:ext cx="1657350" cy="552450"/>
          </a:xfrm>
          <a:prstGeom prst="rect">
            <a:avLst/>
          </a:prstGeom>
          <a:noFill/>
          <a:ln w="0">
            <a:noFill/>
            <a:prstDash val="solid"/>
          </a:ln>
        </p:spPr>
        <p:txBody>
          <a:bodyPr wrap="square" lIns="47625" tIns="38100" rIns="47625" bIns="3810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Counter 2</a:t>
            </a:r>
          </a:p>
        </p:txBody>
      </p:sp>
      <p:sp>
        <p:nvSpPr>
          <p:cNvPr id="18" name="detector-2">
            <a:extLst>
              <a:ext uri="{FF2B5EF4-FFF2-40B4-BE49-F238E27FC236}">
                <a16:creationId xmlns:a16="http://schemas.microsoft.com/office/drawing/2014/main" id="{4B346CF4-22CA-4C6A-B4A7-E5A22D7465FE}"/>
              </a:ext>
            </a:extLst>
          </p:cNvPr>
          <p:cNvSpPr>
            <a:spLocks noGrp="1"/>
          </p:cNvSpPr>
          <p:nvPr/>
        </p:nvSpPr>
        <p:spPr>
          <a:xfrm>
            <a:off x="4810125" y="4524375"/>
            <a:ext cx="1809750" cy="704850"/>
          </a:xfrm>
          <a:prstGeom prst="roundRect">
            <a:avLst>
              <a:gd name="adj" fmla="val 10811"/>
            </a:avLst>
          </a:prstGeom>
          <a:solidFill>
            <a:srgbClr val="E7F3F3"/>
          </a:solidFill>
          <a:ln w="14288">
            <a:solidFill>
              <a:srgbClr val="006064"/>
            </a:solidFill>
            <a:prstDash val="solid"/>
          </a:ln>
        </p:spPr>
      </p:sp>
      <p:sp>
        <p:nvSpPr>
          <p:cNvPr id="19" name="detector-label-2">
            <a:extLst>
              <a:ext uri="{FF2B5EF4-FFF2-40B4-BE49-F238E27FC236}">
                <a16:creationId xmlns:a16="http://schemas.microsoft.com/office/drawing/2014/main" id="{EDCFB9EC-35FD-4BAE-97AF-164C53EA256E}"/>
              </a:ext>
            </a:extLst>
          </p:cNvPr>
          <p:cNvSpPr>
            <a:spLocks noGrp="1"/>
          </p:cNvSpPr>
          <p:nvPr/>
        </p:nvSpPr>
        <p:spPr>
          <a:xfrm>
            <a:off x="4886325" y="4600575"/>
            <a:ext cx="1657350" cy="552450"/>
          </a:xfrm>
          <a:prstGeom prst="rect">
            <a:avLst/>
          </a:prstGeom>
          <a:noFill/>
          <a:ln w="0">
            <a:noFill/>
            <a:prstDash val="solid"/>
          </a:ln>
        </p:spPr>
        <p:txBody>
          <a:bodyPr wrap="square" lIns="47625" tIns="38100" rIns="47625" bIns="3810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Counter 3</a:t>
            </a:r>
          </a:p>
        </p:txBody>
      </p:sp>
      <p:sp>
        <p:nvSpPr>
          <p:cNvPr id="20" name="detector-3">
            <a:extLst>
              <a:ext uri="{FF2B5EF4-FFF2-40B4-BE49-F238E27FC236}">
                <a16:creationId xmlns:a16="http://schemas.microsoft.com/office/drawing/2014/main" id="{502F6964-8F78-4A91-ADFC-CCCC36825147}"/>
              </a:ext>
            </a:extLst>
          </p:cNvPr>
          <p:cNvSpPr>
            <a:spLocks noGrp="1"/>
          </p:cNvSpPr>
          <p:nvPr/>
        </p:nvSpPr>
        <p:spPr>
          <a:xfrm>
            <a:off x="2619375" y="3048000"/>
            <a:ext cx="1809750" cy="704850"/>
          </a:xfrm>
          <a:prstGeom prst="roundRect">
            <a:avLst>
              <a:gd name="adj" fmla="val 10811"/>
            </a:avLst>
          </a:prstGeom>
          <a:solidFill>
            <a:srgbClr val="E7F3F3"/>
          </a:solidFill>
          <a:ln w="14288">
            <a:solidFill>
              <a:srgbClr val="006064"/>
            </a:solidFill>
            <a:prstDash val="solid"/>
          </a:ln>
        </p:spPr>
      </p:sp>
      <p:sp>
        <p:nvSpPr>
          <p:cNvPr id="21" name="detector-label-3">
            <a:extLst>
              <a:ext uri="{FF2B5EF4-FFF2-40B4-BE49-F238E27FC236}">
                <a16:creationId xmlns:a16="http://schemas.microsoft.com/office/drawing/2014/main" id="{DC9F22F1-521D-4551-B63D-EE6833BADB67}"/>
              </a:ext>
            </a:extLst>
          </p:cNvPr>
          <p:cNvSpPr>
            <a:spLocks noGrp="1"/>
          </p:cNvSpPr>
          <p:nvPr/>
        </p:nvSpPr>
        <p:spPr>
          <a:xfrm>
            <a:off x="2695575" y="3124200"/>
            <a:ext cx="1657350" cy="552450"/>
          </a:xfrm>
          <a:prstGeom prst="rect">
            <a:avLst/>
          </a:prstGeom>
          <a:noFill/>
          <a:ln w="0">
            <a:noFill/>
            <a:prstDash val="solid"/>
          </a:ln>
        </p:spPr>
        <p:txBody>
          <a:bodyPr wrap="square" lIns="47625" tIns="38100" rIns="47625" bIns="38100" anchor="ctr">
            <a:noAutofit/>
          </a:bodyPr>
          <a:lstStyle/>
          <a:p>
            <a:pPr algn="ctr">
              <a:defRPr sz="1425" b="1">
                <a:solidFill>
                  <a:srgbClr val="006064"/>
                </a:solidFill>
                <a:latin typeface="Calibri"/>
                <a:ea typeface="Calibri"/>
                <a:cs typeface="Calibri"/>
              </a:defRPr>
            </a:pPr>
            <a:r>
              <a:rPr sz="1425" b="1">
                <a:solidFill>
                  <a:srgbClr val="006064"/>
                </a:solidFill>
                <a:latin typeface="Calibri"/>
                <a:ea typeface="Calibri"/>
                <a:cs typeface="Calibri"/>
              </a:rPr>
              <a:t>Counter 4</a:t>
            </a:r>
          </a:p>
        </p:txBody>
      </p:sp>
      <p:sp>
        <p:nvSpPr>
          <p:cNvPr id="22" name="scatter-arrows">
            <a:extLst>
              <a:ext uri="{FF2B5EF4-FFF2-40B4-BE49-F238E27FC236}">
                <a16:creationId xmlns:a16="http://schemas.microsoft.com/office/drawing/2014/main" id="{250B905D-A9BF-4A24-82D2-D29E8E2528E4}"/>
              </a:ext>
            </a:extLst>
          </p:cNvPr>
          <p:cNvSpPr>
            <a:spLocks noGrp="1"/>
          </p:cNvSpPr>
          <p:nvPr/>
        </p:nvSpPr>
        <p:spPr>
          <a:xfrm>
            <a:off x="3600450" y="2524125"/>
            <a:ext cx="4238625" cy="2190750"/>
          </a:xfrm>
          <a:prstGeom prst="rect">
            <a:avLst/>
          </a:prstGeom>
          <a:noFill/>
          <a:ln w="0">
            <a:noFill/>
            <a:prstDash val="solid"/>
          </a:ln>
        </p:spPr>
        <p:txBody>
          <a:bodyPr wrap="square" lIns="47625" tIns="38100" rIns="47625" bIns="38100" anchor="ctr">
            <a:noAutofit/>
          </a:bodyPr>
          <a:lstStyle/>
          <a:p>
            <a:pPr algn="ctr">
              <a:defRPr sz="3150" b="1">
                <a:solidFill>
                  <a:srgbClr val="52606D"/>
                </a:solidFill>
                <a:latin typeface="Calibri"/>
                <a:ea typeface="Calibri"/>
                <a:cs typeface="Calibri"/>
              </a:defRPr>
            </a:pPr>
            <a:r>
              <a:rPr sz="3150" b="1">
                <a:solidFill>
                  <a:srgbClr val="52606D"/>
                </a:solidFill>
                <a:latin typeface="Calibri"/>
                <a:ea typeface="Calibri"/>
                <a:cs typeface="Calibri"/>
              </a:rPr>
              <a:t>↖        ↗</a:t>
            </a:r>
          </a:p>
          <a:p>
            <a:endParaRPr sz="3150" b="1">
              <a:solidFill>
                <a:srgbClr val="52606D"/>
              </a:solidFill>
              <a:latin typeface="Calibri"/>
              <a:ea typeface="Calibri"/>
              <a:cs typeface="Calibri"/>
            </a:endParaRPr>
          </a:p>
          <a:p>
            <a:pPr algn="ctr">
              <a:defRPr sz="3150" b="1">
                <a:solidFill>
                  <a:srgbClr val="52606D"/>
                </a:solidFill>
                <a:latin typeface="Calibri"/>
                <a:ea typeface="Calibri"/>
                <a:cs typeface="Calibri"/>
              </a:defRPr>
            </a:pPr>
            <a:r>
              <a:rPr sz="3150" b="1">
                <a:solidFill>
                  <a:srgbClr val="52606D"/>
                </a:solidFill>
                <a:latin typeface="Calibri"/>
                <a:ea typeface="Calibri"/>
                <a:cs typeface="Calibri"/>
              </a:rPr>
              <a:t>↙        ↘</a:t>
            </a:r>
          </a:p>
        </p:txBody>
      </p:sp>
      <p:sp>
        <p:nvSpPr>
          <p:cNvPr id="23" name="section-Documented detector facts">
            <a:extLst>
              <a:ext uri="{FF2B5EF4-FFF2-40B4-BE49-F238E27FC236}">
                <a16:creationId xmlns:a16="http://schemas.microsoft.com/office/drawing/2014/main" id="{3F91ACB1-F32F-44CA-BA4F-E7111031688C}"/>
              </a:ext>
            </a:extLst>
          </p:cNvPr>
          <p:cNvSpPr>
            <a:spLocks noGrp="1"/>
          </p:cNvSpPr>
          <p:nvPr/>
        </p:nvSpPr>
        <p:spPr>
          <a:xfrm>
            <a:off x="8810625" y="1952625"/>
            <a:ext cx="2571750" cy="266700"/>
          </a:xfrm>
          <a:prstGeom prst="rect">
            <a:avLst/>
          </a:prstGeom>
          <a:noFill/>
          <a:ln w="0">
            <a:noFill/>
            <a:prstDash val="solid"/>
          </a:ln>
        </p:spPr>
        <p:txBody>
          <a:bodyPr wrap="square" lIns="19050" tIns="19050" rIns="19050" bIns="19050" anchor="ctr">
            <a:noAutofit/>
          </a:bodyPr>
          <a:lstStyle/>
          <a:p>
            <a:pPr algn="l">
              <a:defRPr sz="1200" b="1">
                <a:solidFill>
                  <a:srgbClr val="D95F02"/>
                </a:solidFill>
                <a:latin typeface="Calibri"/>
                <a:ea typeface="Calibri"/>
                <a:cs typeface="Calibri"/>
              </a:defRPr>
            </a:pPr>
            <a:r>
              <a:rPr sz="1200" b="1">
                <a:solidFill>
                  <a:srgbClr val="D95F02"/>
                </a:solidFill>
                <a:latin typeface="Calibri"/>
                <a:ea typeface="Calibri"/>
                <a:cs typeface="Calibri"/>
              </a:rPr>
              <a:t>DOCUMENTED DETECTOR FACTS</a:t>
            </a:r>
          </a:p>
        </p:txBody>
      </p:sp>
      <p:sp>
        <p:nvSpPr>
          <p:cNvPr id="24" name="detector-facts">
            <a:extLst>
              <a:ext uri="{FF2B5EF4-FFF2-40B4-BE49-F238E27FC236}">
                <a16:creationId xmlns:a16="http://schemas.microsoft.com/office/drawing/2014/main" id="{E09C1EC0-CAA4-4C43-A046-83FB3A3566A3}"/>
              </a:ext>
            </a:extLst>
          </p:cNvPr>
          <p:cNvSpPr>
            <a:spLocks noGrp="1"/>
          </p:cNvSpPr>
          <p:nvPr/>
        </p:nvSpPr>
        <p:spPr>
          <a:xfrm>
            <a:off x="8810625" y="2333625"/>
            <a:ext cx="2667000" cy="2762250"/>
          </a:xfrm>
          <a:prstGeom prst="rect">
            <a:avLst/>
          </a:prstGeom>
          <a:noFill/>
          <a:ln w="0">
            <a:noFill/>
            <a:prstDash val="solid"/>
          </a:ln>
        </p:spPr>
        <p:txBody>
          <a:bodyPr wrap="square" lIns="47625" tIns="38100" rIns="47625" bIns="38100" anchor="t">
            <a:noAutofit/>
          </a:bodyPr>
          <a:lstStyle/>
          <a:p>
            <a:pPr algn="l">
              <a:defRPr sz="1463" b="0">
                <a:solidFill>
                  <a:srgbClr val="17212B"/>
                </a:solidFill>
                <a:latin typeface="Calibri"/>
                <a:ea typeface="Calibri"/>
                <a:cs typeface="Calibri"/>
              </a:defRPr>
            </a:pPr>
            <a:r>
              <a:rPr sz="1463" b="0">
                <a:solidFill>
                  <a:srgbClr val="17212B"/>
                </a:solidFill>
                <a:latin typeface="Calibri"/>
                <a:ea typeface="Calibri"/>
                <a:cs typeface="Calibri"/>
              </a:rPr>
              <a:t>• Four position-sensitive proportional counters</a:t>
            </a:r>
          </a:p>
          <a:p>
            <a:endParaRPr sz="1463" b="0">
              <a:solidFill>
                <a:srgbClr val="17212B"/>
              </a:solidFill>
              <a:latin typeface="Calibri"/>
              <a:ea typeface="Calibri"/>
              <a:cs typeface="Calibri"/>
            </a:endParaRPr>
          </a:p>
          <a:p>
            <a:pPr algn="l">
              <a:defRPr sz="1463" b="0">
                <a:solidFill>
                  <a:srgbClr val="17212B"/>
                </a:solidFill>
                <a:latin typeface="Calibri"/>
                <a:ea typeface="Calibri"/>
                <a:cs typeface="Calibri"/>
              </a:defRPr>
            </a:pPr>
            <a:r>
              <a:rPr sz="1463" b="0">
                <a:solidFill>
                  <a:srgbClr val="17212B"/>
                </a:solidFill>
                <a:latin typeface="Calibri"/>
                <a:ea typeface="Calibri"/>
                <a:cs typeface="Calibri"/>
              </a:rPr>
              <a:t>• 48 anode cells in total</a:t>
            </a:r>
          </a:p>
          <a:p>
            <a:endParaRPr sz="1463" b="0">
              <a:solidFill>
                <a:srgbClr val="17212B"/>
              </a:solidFill>
              <a:latin typeface="Calibri"/>
              <a:ea typeface="Calibri"/>
              <a:cs typeface="Calibri"/>
            </a:endParaRPr>
          </a:p>
          <a:p>
            <a:pPr algn="l">
              <a:defRPr sz="1463" b="0">
                <a:solidFill>
                  <a:srgbClr val="17212B"/>
                </a:solidFill>
                <a:latin typeface="Calibri"/>
                <a:ea typeface="Calibri"/>
                <a:cs typeface="Calibri"/>
              </a:defRPr>
            </a:pPr>
            <a:r>
              <a:rPr sz="1463" b="0">
                <a:solidFill>
                  <a:srgbClr val="17212B"/>
                </a:solidFill>
                <a:latin typeface="Calibri"/>
                <a:ea typeface="Calibri"/>
                <a:cs typeface="Calibri"/>
              </a:rPr>
              <a:t>• Thomson-scattering sensitivity</a:t>
            </a:r>
          </a:p>
          <a:p>
            <a:endParaRPr sz="1463" b="0">
              <a:solidFill>
                <a:srgbClr val="17212B"/>
              </a:solidFill>
              <a:latin typeface="Calibri"/>
              <a:ea typeface="Calibri"/>
              <a:cs typeface="Calibri"/>
            </a:endParaRPr>
          </a:p>
          <a:p>
            <a:pPr algn="l">
              <a:defRPr sz="1463" b="0">
                <a:solidFill>
                  <a:srgbClr val="17212B"/>
                </a:solidFill>
                <a:latin typeface="Calibri"/>
                <a:ea typeface="Calibri"/>
                <a:cs typeface="Calibri"/>
              </a:defRPr>
            </a:pPr>
            <a:r>
              <a:rPr sz="1463" b="0">
                <a:solidFill>
                  <a:srgbClr val="17212B"/>
                </a:solidFill>
                <a:latin typeface="Calibri"/>
                <a:ea typeface="Calibri"/>
                <a:cs typeface="Calibri"/>
              </a:rPr>
              <a:t>• Polarization produces a preferred azimuthal count pattern</a:t>
            </a:r>
          </a:p>
        </p:txBody>
      </p:sp>
      <p:sp>
        <p:nvSpPr>
          <p:cNvPr id="25" name="polix-principle">
            <a:extLst>
              <a:ext uri="{FF2B5EF4-FFF2-40B4-BE49-F238E27FC236}">
                <a16:creationId xmlns:a16="http://schemas.microsoft.com/office/drawing/2014/main" id="{7B134603-46EF-403D-84C1-808488CBEBC4}"/>
              </a:ext>
            </a:extLst>
          </p:cNvPr>
          <p:cNvSpPr>
            <a:spLocks noGrp="1"/>
          </p:cNvSpPr>
          <p:nvPr/>
        </p:nvSpPr>
        <p:spPr>
          <a:xfrm>
            <a:off x="1619250" y="5353050"/>
            <a:ext cx="8572500" cy="609600"/>
          </a:xfrm>
          <a:prstGeom prst="roundRect">
            <a:avLst>
              <a:gd name="adj" fmla="val 12500"/>
            </a:avLst>
          </a:prstGeom>
          <a:solidFill>
            <a:srgbClr val="EEF4FA"/>
          </a:solidFill>
          <a:ln w="13335">
            <a:solidFill>
              <a:srgbClr val="17365D"/>
            </a:solidFill>
            <a:prstDash val="solid"/>
          </a:ln>
        </p:spPr>
        <p:txBody>
          <a:bodyPr wrap="square" lIns="133350" tIns="95250" rIns="133350" bIns="95250" anchor="ctr">
            <a:no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The modulation pattern is evidence from which polarization information may be inferred after background treatment and calibration.</a:t>
            </a:r>
          </a:p>
        </p:txBody>
      </p:sp>
    </p:spTree>
    <p:extLst>
      <p:ext uri="{BB962C8B-B14F-4D97-AF65-F5344CB8AC3E}">
        <p14:creationId xmlns:p14="http://schemas.microsoft.com/office/powerpoint/2010/main" val="3950149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8CF55-0332-6239-82A6-C536132FA67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17A6AF5-0F7B-2072-C4EB-1E602FEB4A7B}"/>
              </a:ext>
            </a:extLst>
          </p:cNvPr>
          <p:cNvSpPr>
            <a:spLocks noGrp="1"/>
          </p:cNvSpPr>
          <p:nvPr>
            <p:ph type="title"/>
          </p:nvPr>
        </p:nvSpPr>
        <p:spPr>
          <a:xfrm>
            <a:off x="609600" y="235309"/>
            <a:ext cx="8148320" cy="435251"/>
          </a:xfrm>
        </p:spPr>
        <p:txBody>
          <a:bodyPr>
            <a:normAutofit fontScale="90000"/>
          </a:bodyPr>
          <a:lstStyle/>
          <a:p>
            <a:r>
              <a:rPr lang="en-US" dirty="0">
                <a:solidFill>
                  <a:srgbClr val="FF0000"/>
                </a:solidFill>
              </a:rPr>
              <a:t>BASE PAPERS</a:t>
            </a:r>
          </a:p>
        </p:txBody>
      </p:sp>
      <p:pic>
        <p:nvPicPr>
          <p:cNvPr id="3" name="Picture 2">
            <a:extLst>
              <a:ext uri="{FF2B5EF4-FFF2-40B4-BE49-F238E27FC236}">
                <a16:creationId xmlns:a16="http://schemas.microsoft.com/office/drawing/2014/main" id="{2A29C442-DAC3-5414-1322-FAA6FFA54AEA}"/>
              </a:ext>
            </a:extLst>
          </p:cNvPr>
          <p:cNvPicPr>
            <a:picLocks noChangeAspect="1"/>
          </p:cNvPicPr>
          <p:nvPr/>
        </p:nvPicPr>
        <p:blipFill>
          <a:blip r:embed="rId3"/>
          <a:stretch>
            <a:fillRect/>
          </a:stretch>
        </p:blipFill>
        <p:spPr>
          <a:xfrm>
            <a:off x="8286995" y="2026363"/>
            <a:ext cx="3350274" cy="4440315"/>
          </a:xfrm>
          <a:prstGeom prst="rect">
            <a:avLst/>
          </a:prstGeom>
        </p:spPr>
      </p:pic>
      <p:pic>
        <p:nvPicPr>
          <p:cNvPr id="7" name="Picture 6">
            <a:extLst>
              <a:ext uri="{FF2B5EF4-FFF2-40B4-BE49-F238E27FC236}">
                <a16:creationId xmlns:a16="http://schemas.microsoft.com/office/drawing/2014/main" id="{5E1FED37-0707-7D78-4649-87F6A1EF11EE}"/>
              </a:ext>
            </a:extLst>
          </p:cNvPr>
          <p:cNvPicPr>
            <a:picLocks noChangeAspect="1"/>
          </p:cNvPicPr>
          <p:nvPr/>
        </p:nvPicPr>
        <p:blipFill>
          <a:blip r:embed="rId4"/>
          <a:stretch>
            <a:fillRect/>
          </a:stretch>
        </p:blipFill>
        <p:spPr>
          <a:xfrm>
            <a:off x="4484201" y="2114191"/>
            <a:ext cx="3223597" cy="4264660"/>
          </a:xfrm>
          <a:prstGeom prst="rect">
            <a:avLst/>
          </a:prstGeom>
        </p:spPr>
      </p:pic>
      <p:pic>
        <p:nvPicPr>
          <p:cNvPr id="11" name="Picture 10">
            <a:extLst>
              <a:ext uri="{FF2B5EF4-FFF2-40B4-BE49-F238E27FC236}">
                <a16:creationId xmlns:a16="http://schemas.microsoft.com/office/drawing/2014/main" id="{7945A4E0-15DD-17B4-E243-6BBA0C4FD44A}"/>
              </a:ext>
            </a:extLst>
          </p:cNvPr>
          <p:cNvPicPr>
            <a:picLocks noChangeAspect="1"/>
          </p:cNvPicPr>
          <p:nvPr/>
        </p:nvPicPr>
        <p:blipFill>
          <a:blip r:embed="rId5"/>
          <a:stretch>
            <a:fillRect/>
          </a:stretch>
        </p:blipFill>
        <p:spPr>
          <a:xfrm>
            <a:off x="412491" y="1806456"/>
            <a:ext cx="3594801" cy="4440315"/>
          </a:xfrm>
          <a:prstGeom prst="rect">
            <a:avLst/>
          </a:prstGeom>
        </p:spPr>
      </p:pic>
      <p:sp>
        <p:nvSpPr>
          <p:cNvPr id="14" name="TextBox 13">
            <a:extLst>
              <a:ext uri="{FF2B5EF4-FFF2-40B4-BE49-F238E27FC236}">
                <a16:creationId xmlns:a16="http://schemas.microsoft.com/office/drawing/2014/main" id="{E23BD4D0-9486-E080-453F-95FB1866A268}"/>
              </a:ext>
            </a:extLst>
          </p:cNvPr>
          <p:cNvSpPr txBox="1"/>
          <p:nvPr/>
        </p:nvSpPr>
        <p:spPr>
          <a:xfrm>
            <a:off x="518160" y="894080"/>
            <a:ext cx="3230880" cy="923330"/>
          </a:xfrm>
          <a:prstGeom prst="rect">
            <a:avLst/>
          </a:prstGeom>
          <a:noFill/>
        </p:spPr>
        <p:txBody>
          <a:bodyPr wrap="square" rtlCol="0">
            <a:spAutoFit/>
          </a:bodyPr>
          <a:lstStyle/>
          <a:p>
            <a:pPr algn="ctr"/>
            <a:r>
              <a:rPr lang="en-US" dirty="0"/>
              <a:t>Explainable Machine Learning Classification of Chandra X-ray Sources</a:t>
            </a:r>
            <a:endParaRPr lang="en-IN" dirty="0"/>
          </a:p>
        </p:txBody>
      </p:sp>
      <p:sp>
        <p:nvSpPr>
          <p:cNvPr id="15" name="TextBox 14">
            <a:extLst>
              <a:ext uri="{FF2B5EF4-FFF2-40B4-BE49-F238E27FC236}">
                <a16:creationId xmlns:a16="http://schemas.microsoft.com/office/drawing/2014/main" id="{1F8542C9-4F7F-3123-A901-D7593FDEFF63}"/>
              </a:ext>
            </a:extLst>
          </p:cNvPr>
          <p:cNvSpPr txBox="1"/>
          <p:nvPr/>
        </p:nvSpPr>
        <p:spPr>
          <a:xfrm>
            <a:off x="4484201" y="865741"/>
            <a:ext cx="3095159" cy="923330"/>
          </a:xfrm>
          <a:prstGeom prst="rect">
            <a:avLst/>
          </a:prstGeom>
          <a:noFill/>
        </p:spPr>
        <p:txBody>
          <a:bodyPr wrap="square" rtlCol="0">
            <a:spAutoFit/>
          </a:bodyPr>
          <a:lstStyle/>
          <a:p>
            <a:r>
              <a:rPr lang="en-US" dirty="0"/>
              <a:t>Unsupervised Machine Learning for the Classification of Astrophysical X-ray Sources</a:t>
            </a:r>
            <a:endParaRPr lang="en-IN" dirty="0"/>
          </a:p>
        </p:txBody>
      </p:sp>
      <p:sp>
        <p:nvSpPr>
          <p:cNvPr id="16" name="TextBox 15">
            <a:extLst>
              <a:ext uri="{FF2B5EF4-FFF2-40B4-BE49-F238E27FC236}">
                <a16:creationId xmlns:a16="http://schemas.microsoft.com/office/drawing/2014/main" id="{BD02AD03-413E-4A15-C13B-2822BBB34D48}"/>
              </a:ext>
            </a:extLst>
          </p:cNvPr>
          <p:cNvSpPr txBox="1"/>
          <p:nvPr/>
        </p:nvSpPr>
        <p:spPr>
          <a:xfrm>
            <a:off x="8286995" y="1006165"/>
            <a:ext cx="3095159" cy="646331"/>
          </a:xfrm>
          <a:prstGeom prst="rect">
            <a:avLst/>
          </a:prstGeom>
          <a:noFill/>
        </p:spPr>
        <p:txBody>
          <a:bodyPr wrap="square" rtlCol="0">
            <a:spAutoFit/>
          </a:bodyPr>
          <a:lstStyle/>
          <a:p>
            <a:r>
              <a:rPr lang="en-US" dirty="0"/>
              <a:t>X-Ray Polarization Detection of Cassiopeia A with IXPE</a:t>
            </a:r>
            <a:endParaRPr lang="en-IN" dirty="0"/>
          </a:p>
        </p:txBody>
      </p:sp>
      <p:sp>
        <p:nvSpPr>
          <p:cNvPr id="4" name="TextBox 3">
            <a:extLst>
              <a:ext uri="{FF2B5EF4-FFF2-40B4-BE49-F238E27FC236}">
                <a16:creationId xmlns:a16="http://schemas.microsoft.com/office/drawing/2014/main" id="{82DD0241-A64B-D427-C8B4-673EA6313FBC}"/>
              </a:ext>
            </a:extLst>
          </p:cNvPr>
          <p:cNvSpPr txBox="1"/>
          <p:nvPr/>
        </p:nvSpPr>
        <p:spPr>
          <a:xfrm>
            <a:off x="518160" y="6373678"/>
            <a:ext cx="12983239"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t>Initial interpretability influence                  </a:t>
            </a:r>
            <a:r>
              <a:rPr kumimoji="0" lang="en-IN" sz="1800" b="0" i="0" u="none" strike="noStrike" kern="1200" cap="none" spc="0" normalizeH="0" baseline="0" noProof="0" dirty="0">
                <a:ln>
                  <a:noFill/>
                </a:ln>
                <a:solidFill>
                  <a:prstClr val="black"/>
                </a:solidFill>
                <a:effectLst/>
                <a:uLnTx/>
                <a:uFillTx/>
                <a:latin typeface="Calibri"/>
                <a:ea typeface="+mn-ea"/>
                <a:cs typeface="+mn-cs"/>
              </a:rPr>
              <a:t>Initial unsupervised-learning influence</a:t>
            </a:r>
          </a:p>
          <a:p>
            <a:pPr algn="ctr">
              <a:buNone/>
            </a:pPr>
            <a:endParaRPr lang="en-IN" sz="1800" dirty="0"/>
          </a:p>
        </p:txBody>
      </p:sp>
    </p:spTree>
    <p:extLst>
      <p:ext uri="{BB962C8B-B14F-4D97-AF65-F5344CB8AC3E}">
        <p14:creationId xmlns:p14="http://schemas.microsoft.com/office/powerpoint/2010/main" val="1360398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lang="en-US" dirty="0"/>
              <a:t>Existing System</a:t>
            </a:r>
          </a:p>
        </p:txBody>
      </p:sp>
      <p:pic>
        <p:nvPicPr>
          <p:cNvPr id="7" name="Picture 6">
            <a:extLst>
              <a:ext uri="{FF2B5EF4-FFF2-40B4-BE49-F238E27FC236}">
                <a16:creationId xmlns:a16="http://schemas.microsoft.com/office/drawing/2014/main" id="{60F4902E-C72E-6073-783A-7F4B6C03B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65908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A77C9-1143-2516-CA4D-4573F1C92A45}"/>
              </a:ext>
            </a:extLst>
          </p:cNvPr>
          <p:cNvSpPr>
            <a:spLocks noGrp="1"/>
          </p:cNvSpPr>
          <p:nvPr>
            <p:ph type="title"/>
          </p:nvPr>
        </p:nvSpPr>
        <p:spPr>
          <a:xfrm>
            <a:off x="102435" y="-253469"/>
            <a:ext cx="10515600" cy="1325563"/>
          </a:xfrm>
        </p:spPr>
        <p:txBody>
          <a:bodyPr>
            <a:normAutofit/>
          </a:bodyPr>
          <a:lstStyle/>
          <a:p>
            <a:r>
              <a:rPr sz="2800" b="1" dirty="0"/>
              <a:t>BASE-PAPER INTERPRETATION</a:t>
            </a:r>
          </a:p>
        </p:txBody>
      </p:sp>
      <p:sp>
        <p:nvSpPr>
          <p:cNvPr id="25" name="Flowchart: Alternate Process 24">
            <a:extLst>
              <a:ext uri="{FF2B5EF4-FFF2-40B4-BE49-F238E27FC236}">
                <a16:creationId xmlns:a16="http://schemas.microsoft.com/office/drawing/2014/main" id="{834CFB90-8472-8BA9-B309-014A913DC270}"/>
              </a:ext>
            </a:extLst>
          </p:cNvPr>
          <p:cNvSpPr>
            <a:spLocks noGrp="1"/>
          </p:cNvSpPr>
          <p:nvPr/>
        </p:nvSpPr>
        <p:spPr>
          <a:xfrm>
            <a:off x="477775" y="937157"/>
            <a:ext cx="2802193" cy="4149212"/>
          </a:xfrm>
          <a:prstGeom prst="flowChartAlternateProcess">
            <a:avLst/>
          </a:prstGeom>
        </p:spPr>
        <p:style>
          <a:lnRef idx="2">
            <a:schemeClr val="accent6"/>
          </a:lnRef>
          <a:fillRef idx="1">
            <a:schemeClr val="lt1"/>
          </a:fillRef>
          <a:effectRef idx="0">
            <a:schemeClr val="accent6"/>
          </a:effectRef>
          <a:fontRef idx="minor">
            <a:schemeClr val="dk1"/>
          </a:fontRef>
        </p:style>
        <p:txBody>
          <a:bodyPr anchor="ctr"/>
          <a:lstStyle/>
          <a:p>
            <a:pPr algn="ctr"/>
            <a:r>
              <a:rPr lang="en-US" sz="1400" b="1" dirty="0">
                <a:solidFill>
                  <a:srgbClr val="00B050"/>
                </a:solidFill>
              </a:rPr>
              <a:t>Explainable Machine Learning Classification of Chandra X-ray Sources</a:t>
            </a:r>
          </a:p>
          <a:p>
            <a:pPr algn="ctr">
              <a:buNone/>
            </a:pPr>
            <a:endParaRPr sz="1400" b="1" dirty="0">
              <a:solidFill>
                <a:srgbClr val="00B050"/>
              </a:solidFill>
            </a:endParaRPr>
          </a:p>
          <a:p>
            <a:pPr algn="ctr">
              <a:buNone/>
            </a:pPr>
            <a:r>
              <a:rPr sz="1400" dirty="0"/>
              <a:t>Supervised </a:t>
            </a:r>
            <a:r>
              <a:rPr sz="1400" dirty="0" err="1"/>
              <a:t>LightGBM</a:t>
            </a:r>
            <a:r>
              <a:rPr sz="1400" dirty="0"/>
              <a:t> classification of Chandra sources with SHAP explanations.</a:t>
            </a:r>
          </a:p>
          <a:p>
            <a:pPr algn="ctr">
              <a:buNone/>
            </a:pPr>
            <a:endParaRPr sz="1400" dirty="0"/>
          </a:p>
          <a:p>
            <a:pPr algn="ctr">
              <a:buNone/>
            </a:pPr>
            <a:r>
              <a:rPr sz="1400" dirty="0"/>
              <a:t>ADAPTED: scientific interpretability and feature attribution.</a:t>
            </a:r>
          </a:p>
          <a:p>
            <a:pPr algn="ctr">
              <a:buNone/>
            </a:pPr>
            <a:r>
              <a:rPr sz="1400" dirty="0"/>
              <a:t>NOT ADOPTED: classification labels, </a:t>
            </a:r>
            <a:r>
              <a:rPr sz="1400" dirty="0" err="1"/>
              <a:t>LightGBM</a:t>
            </a:r>
            <a:r>
              <a:rPr sz="1400" dirty="0"/>
              <a:t> and SHAP as the project method.</a:t>
            </a:r>
          </a:p>
        </p:txBody>
      </p:sp>
      <p:sp>
        <p:nvSpPr>
          <p:cNvPr id="26" name="Flowchart: Alternate Process 25">
            <a:extLst>
              <a:ext uri="{FF2B5EF4-FFF2-40B4-BE49-F238E27FC236}">
                <a16:creationId xmlns:a16="http://schemas.microsoft.com/office/drawing/2014/main" id="{48080B42-A62C-BA74-5BFC-C8E94961EF78}"/>
              </a:ext>
            </a:extLst>
          </p:cNvPr>
          <p:cNvSpPr>
            <a:spLocks noGrp="1"/>
          </p:cNvSpPr>
          <p:nvPr/>
        </p:nvSpPr>
        <p:spPr>
          <a:xfrm>
            <a:off x="8933986" y="784860"/>
            <a:ext cx="2802193" cy="4149212"/>
          </a:xfrm>
          <a:prstGeom prst="flowChartAlternateProcess">
            <a:avLst/>
          </a:prstGeom>
        </p:spPr>
        <p:style>
          <a:lnRef idx="2">
            <a:schemeClr val="accent6"/>
          </a:lnRef>
          <a:fillRef idx="1">
            <a:schemeClr val="lt1"/>
          </a:fillRef>
          <a:effectRef idx="0">
            <a:schemeClr val="accent6"/>
          </a:effectRef>
          <a:fontRef idx="minor">
            <a:schemeClr val="dk1"/>
          </a:fontRef>
        </p:style>
        <p:txBody>
          <a:bodyPr anchor="ctr"/>
          <a:lstStyle/>
          <a:p>
            <a:pPr algn="ctr"/>
            <a:r>
              <a:rPr lang="en-US" sz="1400" b="1" dirty="0">
                <a:solidFill>
                  <a:schemeClr val="accent2"/>
                </a:solidFill>
              </a:rPr>
              <a:t>X-Ray Polarization Detection of Cassiopeia A with IXPE</a:t>
            </a:r>
          </a:p>
          <a:p>
            <a:pPr algn="ctr">
              <a:buNone/>
            </a:pPr>
            <a:endParaRPr sz="1400" b="1" dirty="0">
              <a:solidFill>
                <a:schemeClr val="accent2"/>
              </a:solidFill>
            </a:endParaRPr>
          </a:p>
          <a:p>
            <a:pPr algn="ctr">
              <a:buNone/>
            </a:pPr>
            <a:r>
              <a:rPr sz="1400" dirty="0"/>
              <a:t>IXPE detection of Cassiopeia A polarization demonstrates how calibrated polarimetry constrains magnetic structure.</a:t>
            </a:r>
          </a:p>
          <a:p>
            <a:pPr algn="ctr">
              <a:buNone/>
            </a:pPr>
            <a:endParaRPr sz="1400" dirty="0"/>
          </a:p>
          <a:p>
            <a:pPr algn="ctr">
              <a:buNone/>
            </a:pPr>
            <a:r>
              <a:rPr sz="1400" dirty="0"/>
              <a:t>ROLE: physical-science foundation—not a POLIX ML base paper and not transferable calibration.</a:t>
            </a:r>
          </a:p>
        </p:txBody>
      </p:sp>
      <p:sp>
        <p:nvSpPr>
          <p:cNvPr id="27" name="Flowchart: Alternate Process 26">
            <a:extLst>
              <a:ext uri="{FF2B5EF4-FFF2-40B4-BE49-F238E27FC236}">
                <a16:creationId xmlns:a16="http://schemas.microsoft.com/office/drawing/2014/main" id="{65D297B4-2B22-761A-690A-0ABC0C0E16BF}"/>
              </a:ext>
            </a:extLst>
          </p:cNvPr>
          <p:cNvSpPr>
            <a:spLocks noGrp="1"/>
          </p:cNvSpPr>
          <p:nvPr/>
        </p:nvSpPr>
        <p:spPr>
          <a:xfrm flipH="1">
            <a:off x="4050890" y="745909"/>
            <a:ext cx="4277030" cy="4149212"/>
          </a:xfrm>
          <a:prstGeom prst="flowChartAlternateProcess">
            <a:avLst/>
          </a:prstGeom>
        </p:spPr>
        <p:style>
          <a:lnRef idx="2">
            <a:schemeClr val="accent6"/>
          </a:lnRef>
          <a:fillRef idx="1">
            <a:schemeClr val="lt1"/>
          </a:fillRef>
          <a:effectRef idx="0">
            <a:schemeClr val="accent6"/>
          </a:effectRef>
          <a:fontRef idx="minor">
            <a:schemeClr val="dk1"/>
          </a:fontRef>
        </p:style>
        <p:txBody>
          <a:bodyPr anchor="ctr"/>
          <a:lstStyle/>
          <a:p>
            <a:pPr algn="ctr"/>
            <a:r>
              <a:rPr lang="en-US" sz="1400" b="1" dirty="0">
                <a:solidFill>
                  <a:srgbClr val="0070C0"/>
                </a:solidFill>
              </a:rPr>
              <a:t>Unsupervised Machine Learning for the Classification of Astrophysical X-ray Sources</a:t>
            </a:r>
          </a:p>
          <a:p>
            <a:pPr algn="ctr">
              <a:buNone/>
            </a:pPr>
            <a:endParaRPr dirty="0"/>
          </a:p>
          <a:p>
            <a:pPr algn="ctr">
              <a:buNone/>
            </a:pPr>
            <a:r>
              <a:rPr sz="1400" dirty="0"/>
              <a:t>ADAPTED: learning when labels are weak or unavailable.</a:t>
            </a:r>
          </a:p>
          <a:p>
            <a:pPr algn="ctr">
              <a:buNone/>
            </a:pPr>
            <a:r>
              <a:rPr sz="1400" dirty="0"/>
              <a:t>NOT ADOPTED: source-class probabilities; our output is observation unusualness.</a:t>
            </a:r>
          </a:p>
        </p:txBody>
      </p:sp>
      <p:sp>
        <p:nvSpPr>
          <p:cNvPr id="28" name="Flowchart: Alternate Process 27">
            <a:extLst>
              <a:ext uri="{FF2B5EF4-FFF2-40B4-BE49-F238E27FC236}">
                <a16:creationId xmlns:a16="http://schemas.microsoft.com/office/drawing/2014/main" id="{047CFBF6-35F3-D1BD-9FB4-069EA9D1AD44}"/>
              </a:ext>
            </a:extLst>
          </p:cNvPr>
          <p:cNvSpPr>
            <a:spLocks noGrp="1"/>
          </p:cNvSpPr>
          <p:nvPr/>
        </p:nvSpPr>
        <p:spPr>
          <a:xfrm>
            <a:off x="1780549" y="5437239"/>
            <a:ext cx="7701827" cy="1325563"/>
          </a:xfrm>
          <a:prstGeom prst="flowChartAlternateProcess">
            <a:avLst/>
          </a:prstGeom>
        </p:spPr>
        <p:style>
          <a:lnRef idx="2">
            <a:schemeClr val="accent6"/>
          </a:lnRef>
          <a:fillRef idx="1">
            <a:schemeClr val="lt1"/>
          </a:fillRef>
          <a:effectRef idx="0">
            <a:schemeClr val="accent6"/>
          </a:effectRef>
          <a:fontRef idx="minor">
            <a:schemeClr val="dk1"/>
          </a:fontRef>
        </p:style>
        <p:txBody>
          <a:bodyPr anchor="ctr"/>
          <a:lstStyle/>
          <a:p>
            <a:pPr algn="ctr">
              <a:buNone/>
            </a:pPr>
            <a:r>
              <a:rPr sz="1400" b="1" dirty="0"/>
              <a:t>CURRENT FOUNDATION</a:t>
            </a:r>
          </a:p>
          <a:p>
            <a:pPr algn="ctr">
              <a:buNone/>
            </a:pPr>
            <a:endParaRPr sz="1400" b="1" dirty="0"/>
          </a:p>
          <a:p>
            <a:pPr algn="ctr">
              <a:buNone/>
            </a:pPr>
            <a:r>
              <a:rPr sz="1400" dirty="0"/>
              <a:t>No single paper covers the project. The defensible base-source set combines the POLIX Level-2 handbook, Isolation Forest, anomaly-explanation literature and Stokes-based polarimetry. The three papers above remain valuable influences with clearly limited roles.</a:t>
            </a:r>
          </a:p>
        </p:txBody>
      </p:sp>
    </p:spTree>
    <p:extLst>
      <p:ext uri="{BB962C8B-B14F-4D97-AF65-F5344CB8AC3E}">
        <p14:creationId xmlns:p14="http://schemas.microsoft.com/office/powerpoint/2010/main" val="3235220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lang="en-US" dirty="0"/>
              <a:t>LITERATURE SURVEY</a:t>
            </a:r>
          </a:p>
        </p:txBody>
      </p:sp>
      <p:sp>
        <p:nvSpPr>
          <p:cNvPr id="2" name="Flowchart: Alternate Process 1">
            <a:extLst>
              <a:ext uri="{FF2B5EF4-FFF2-40B4-BE49-F238E27FC236}">
                <a16:creationId xmlns:a16="http://schemas.microsoft.com/office/drawing/2014/main" id="{8193771D-E962-0049-4ADC-D04A1E4C96D6}"/>
              </a:ext>
            </a:extLst>
          </p:cNvPr>
          <p:cNvSpPr/>
          <p:nvPr/>
        </p:nvSpPr>
        <p:spPr>
          <a:xfrm>
            <a:off x="959873" y="5003389"/>
            <a:ext cx="10687665" cy="1455174"/>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sz="1400" dirty="0"/>
          </a:p>
          <a:p>
            <a:endParaRPr lang="en-US" sz="1400" dirty="0"/>
          </a:p>
          <a:p>
            <a:r>
              <a:rPr lang="en-US" sz="1400" dirty="0"/>
              <a:t>Existing research demonstrates the growing application of X-ray polarimetry, machine learning, and Explainable AI in astronomical data analysis. These advancements provide a strong foundation for developing intelligent and interpretable scientific analysis frameworks.</a:t>
            </a:r>
          </a:p>
        </p:txBody>
      </p:sp>
      <p:pic>
        <p:nvPicPr>
          <p:cNvPr id="4" name="Graphic 3" descr="Lightbulb and gear with solid fill">
            <a:extLst>
              <a:ext uri="{FF2B5EF4-FFF2-40B4-BE49-F238E27FC236}">
                <a16:creationId xmlns:a16="http://schemas.microsoft.com/office/drawing/2014/main" id="{C5FB9DED-2D0C-DD39-0984-9FC1511621B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33801" y="5124266"/>
            <a:ext cx="469489" cy="469489"/>
          </a:xfrm>
          <a:prstGeom prst="rect">
            <a:avLst/>
          </a:prstGeom>
        </p:spPr>
      </p:pic>
      <p:grpSp>
        <p:nvGrpSpPr>
          <p:cNvPr id="17" name="Google Shape;9871;p130">
            <a:extLst>
              <a:ext uri="{FF2B5EF4-FFF2-40B4-BE49-F238E27FC236}">
                <a16:creationId xmlns:a16="http://schemas.microsoft.com/office/drawing/2014/main" id="{CFA228C8-38CB-CE14-6829-6707B6DA12AF}"/>
              </a:ext>
            </a:extLst>
          </p:cNvPr>
          <p:cNvGrpSpPr/>
          <p:nvPr/>
        </p:nvGrpSpPr>
        <p:grpSpPr>
          <a:xfrm>
            <a:off x="959872" y="1585223"/>
            <a:ext cx="10327560" cy="3252248"/>
            <a:chOff x="238125" y="1188750"/>
            <a:chExt cx="7140450" cy="3335550"/>
          </a:xfrm>
        </p:grpSpPr>
        <p:sp>
          <p:nvSpPr>
            <p:cNvPr id="18" name="Google Shape;9872;p130">
              <a:extLst>
                <a:ext uri="{FF2B5EF4-FFF2-40B4-BE49-F238E27FC236}">
                  <a16:creationId xmlns:a16="http://schemas.microsoft.com/office/drawing/2014/main" id="{8B693E68-A23F-C287-13DE-8540D5C45505}"/>
                </a:ext>
              </a:extLst>
            </p:cNvPr>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873;p130">
              <a:extLst>
                <a:ext uri="{FF2B5EF4-FFF2-40B4-BE49-F238E27FC236}">
                  <a16:creationId xmlns:a16="http://schemas.microsoft.com/office/drawing/2014/main" id="{6B32007A-2BE9-6416-51F2-97906B051767}"/>
                </a:ext>
              </a:extLst>
            </p:cNvPr>
            <p:cNvSpPr/>
            <p:nvPr/>
          </p:nvSpPr>
          <p:spPr>
            <a:xfrm>
              <a:off x="238125" y="2940300"/>
              <a:ext cx="3507025" cy="1584000"/>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874;p130">
              <a:extLst>
                <a:ext uri="{FF2B5EF4-FFF2-40B4-BE49-F238E27FC236}">
                  <a16:creationId xmlns:a16="http://schemas.microsoft.com/office/drawing/2014/main" id="{2C5D4366-E772-F5FE-CF30-57DA86B5C47B}"/>
                </a:ext>
              </a:extLst>
            </p:cNvPr>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875;p130">
              <a:extLst>
                <a:ext uri="{FF2B5EF4-FFF2-40B4-BE49-F238E27FC236}">
                  <a16:creationId xmlns:a16="http://schemas.microsoft.com/office/drawing/2014/main" id="{1D634AE7-3774-F9D8-3E79-C2A6F7280F0A}"/>
                </a:ext>
              </a:extLst>
            </p:cNvPr>
            <p:cNvSpPr/>
            <p:nvPr/>
          </p:nvSpPr>
          <p:spPr>
            <a:xfrm>
              <a:off x="3871550" y="2940300"/>
              <a:ext cx="3507025" cy="1584000"/>
            </a:xfrm>
            <a:custGeom>
              <a:avLst/>
              <a:gdLst/>
              <a:ahLst/>
              <a:cxnLst/>
              <a:rect l="l" t="t" r="r" b="b"/>
              <a:pathLst>
                <a:path w="140281" h="63360" extrusionOk="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2" name="Google Shape;9876;p130">
              <a:extLst>
                <a:ext uri="{FF2B5EF4-FFF2-40B4-BE49-F238E27FC236}">
                  <a16:creationId xmlns:a16="http://schemas.microsoft.com/office/drawing/2014/main" id="{A6375B55-02B5-6417-A7FC-D28A1A33CD91}"/>
                </a:ext>
              </a:extLst>
            </p:cNvPr>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TextBox 23">
            <a:extLst>
              <a:ext uri="{FF2B5EF4-FFF2-40B4-BE49-F238E27FC236}">
                <a16:creationId xmlns:a16="http://schemas.microsoft.com/office/drawing/2014/main" id="{97BABA58-05E6-29B8-B191-E1A85FA97E37}"/>
              </a:ext>
            </a:extLst>
          </p:cNvPr>
          <p:cNvSpPr txBox="1"/>
          <p:nvPr/>
        </p:nvSpPr>
        <p:spPr>
          <a:xfrm>
            <a:off x="1364226" y="3716154"/>
            <a:ext cx="3687097" cy="954107"/>
          </a:xfrm>
          <a:prstGeom prst="rect">
            <a:avLst/>
          </a:prstGeom>
          <a:noFill/>
        </p:spPr>
        <p:txBody>
          <a:bodyPr wrap="square">
            <a:spAutoFit/>
          </a:bodyPr>
          <a:lstStyle/>
          <a:p>
            <a:r>
              <a:rPr lang="en-US" sz="1400" dirty="0"/>
              <a:t>Machine learning techniques are </a:t>
            </a:r>
          </a:p>
          <a:p>
            <a:r>
              <a:rPr lang="en-US" sz="1400" dirty="0"/>
              <a:t>increasingly used to automate feature extraction, pattern recognition, and anomaly detection in large astronomical datasets.</a:t>
            </a:r>
            <a:endParaRPr lang="en-IN" sz="1400" dirty="0"/>
          </a:p>
        </p:txBody>
      </p:sp>
      <p:sp>
        <p:nvSpPr>
          <p:cNvPr id="26" name="TextBox 25">
            <a:extLst>
              <a:ext uri="{FF2B5EF4-FFF2-40B4-BE49-F238E27FC236}">
                <a16:creationId xmlns:a16="http://schemas.microsoft.com/office/drawing/2014/main" id="{7A618C72-511D-94BE-5E43-3E273225FF0A}"/>
              </a:ext>
            </a:extLst>
          </p:cNvPr>
          <p:cNvSpPr txBox="1"/>
          <p:nvPr/>
        </p:nvSpPr>
        <p:spPr>
          <a:xfrm>
            <a:off x="7393435" y="3728337"/>
            <a:ext cx="4030088" cy="954107"/>
          </a:xfrm>
          <a:prstGeom prst="rect">
            <a:avLst/>
          </a:prstGeom>
          <a:noFill/>
        </p:spPr>
        <p:txBody>
          <a:bodyPr wrap="square">
            <a:spAutoFit/>
          </a:bodyPr>
          <a:lstStyle/>
          <a:p>
            <a:r>
              <a:rPr lang="en-US" sz="1400" dirty="0"/>
              <a:t>Explainable AI improves the transparency</a:t>
            </a:r>
          </a:p>
          <a:p>
            <a:r>
              <a:rPr lang="en-US" sz="1400" dirty="0"/>
              <a:t> of AI models by providing interpretable explanations, enabling researchers to</a:t>
            </a:r>
          </a:p>
          <a:p>
            <a:r>
              <a:rPr lang="en-US" sz="1400" dirty="0"/>
              <a:t> better understand and trust model predictions.</a:t>
            </a:r>
            <a:endParaRPr lang="en-IN" sz="1400" dirty="0"/>
          </a:p>
        </p:txBody>
      </p:sp>
      <p:sp>
        <p:nvSpPr>
          <p:cNvPr id="30" name="TextBox 29">
            <a:extLst>
              <a:ext uri="{FF2B5EF4-FFF2-40B4-BE49-F238E27FC236}">
                <a16:creationId xmlns:a16="http://schemas.microsoft.com/office/drawing/2014/main" id="{EAEB6DCB-801F-1D9A-1B21-0FC5C4DC6F42}"/>
              </a:ext>
            </a:extLst>
          </p:cNvPr>
          <p:cNvSpPr txBox="1"/>
          <p:nvPr/>
        </p:nvSpPr>
        <p:spPr>
          <a:xfrm>
            <a:off x="7531510" y="2044086"/>
            <a:ext cx="3700618" cy="977732"/>
          </a:xfrm>
          <a:prstGeom prst="rect">
            <a:avLst/>
          </a:prstGeom>
          <a:noFill/>
        </p:spPr>
        <p:txBody>
          <a:bodyPr wrap="square">
            <a:spAutoFit/>
          </a:bodyPr>
          <a:lstStyle/>
          <a:p>
            <a:r>
              <a:rPr lang="en-US" sz="1400" dirty="0"/>
              <a:t>Polarimetry measures the polarization properties of X-rays, such as Polarization Degree (PD) and Polarization Angle (PA), to understand the physical characteristics of celestial objects.</a:t>
            </a:r>
            <a:endParaRPr lang="en-IN" sz="1400" dirty="0"/>
          </a:p>
        </p:txBody>
      </p:sp>
      <p:graphicFrame>
        <p:nvGraphicFramePr>
          <p:cNvPr id="31" name="Table 30">
            <a:extLst>
              <a:ext uri="{FF2B5EF4-FFF2-40B4-BE49-F238E27FC236}">
                <a16:creationId xmlns:a16="http://schemas.microsoft.com/office/drawing/2014/main" id="{98D95DBF-1FAD-9ACA-96F6-EA72E4E0BE86}"/>
              </a:ext>
            </a:extLst>
          </p:cNvPr>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698152282"/>
                    </a:ext>
                  </a:extLst>
                </a:gridCol>
              </a:tblGrid>
              <a:tr h="0">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184799904"/>
                  </a:ext>
                </a:extLst>
              </a:tr>
            </a:tbl>
          </a:graphicData>
        </a:graphic>
      </p:graphicFrame>
      <p:graphicFrame>
        <p:nvGraphicFramePr>
          <p:cNvPr id="32" name="Table 31">
            <a:extLst>
              <a:ext uri="{FF2B5EF4-FFF2-40B4-BE49-F238E27FC236}">
                <a16:creationId xmlns:a16="http://schemas.microsoft.com/office/drawing/2014/main" id="{C4503DD7-C3C0-7048-565E-5DBFF52854BD}"/>
              </a:ext>
            </a:extLst>
          </p:cNvPr>
          <p:cNvGraphicFramePr>
            <a:graphicFrameLocks noGrp="1"/>
          </p:cNvGraphicFramePr>
          <p:nvPr/>
        </p:nvGraphicFramePr>
        <p:xfrm>
          <a:off x="946008" y="2076925"/>
          <a:ext cx="4340059" cy="881706"/>
        </p:xfrm>
        <a:graphic>
          <a:graphicData uri="http://schemas.openxmlformats.org/drawingml/2006/table">
            <a:tbl>
              <a:tblPr/>
              <a:tblGrid>
                <a:gridCol w="4340059">
                  <a:extLst>
                    <a:ext uri="{9D8B030D-6E8A-4147-A177-3AD203B41FA5}">
                      <a16:colId xmlns:a16="http://schemas.microsoft.com/office/drawing/2014/main" val="2386327100"/>
                    </a:ext>
                  </a:extLst>
                </a:gridCol>
              </a:tblGrid>
              <a:tr h="881706">
                <a:tc>
                  <a:txBody>
                    <a:bodyPr/>
                    <a:lstStyle/>
                    <a:p>
                      <a:pPr>
                        <a:buNone/>
                      </a:pPr>
                      <a:r>
                        <a:rPr lang="en-US" sz="1400" dirty="0"/>
                        <a:t>X-ray astronomy studies high-energy cosmic sources using space-based observatories, providing valuable insights into extreme astrophysical phenomena.</a:t>
                      </a:r>
                    </a:p>
                  </a:txBody>
                  <a:tcPr anchor="ctr">
                    <a:lnL>
                      <a:noFill/>
                    </a:lnL>
                    <a:lnR>
                      <a:noFill/>
                    </a:lnR>
                    <a:lnT>
                      <a:noFill/>
                    </a:lnT>
                    <a:lnB>
                      <a:noFill/>
                    </a:lnB>
                    <a:noFill/>
                  </a:tcPr>
                </a:tc>
                <a:extLst>
                  <a:ext uri="{0D108BD9-81ED-4DB2-BD59-A6C34878D82A}">
                    <a16:rowId xmlns:a16="http://schemas.microsoft.com/office/drawing/2014/main" val="2662635069"/>
                  </a:ext>
                </a:extLst>
              </a:tr>
            </a:tbl>
          </a:graphicData>
        </a:graphic>
      </p:graphicFrame>
      <p:sp>
        <p:nvSpPr>
          <p:cNvPr id="34" name="TextBox 33">
            <a:extLst>
              <a:ext uri="{FF2B5EF4-FFF2-40B4-BE49-F238E27FC236}">
                <a16:creationId xmlns:a16="http://schemas.microsoft.com/office/drawing/2014/main" id="{D9572626-D57F-0579-77AD-A23F710E85AB}"/>
              </a:ext>
            </a:extLst>
          </p:cNvPr>
          <p:cNvSpPr txBox="1"/>
          <p:nvPr/>
        </p:nvSpPr>
        <p:spPr>
          <a:xfrm>
            <a:off x="1612491" y="1731131"/>
            <a:ext cx="6096000" cy="369332"/>
          </a:xfrm>
          <a:prstGeom prst="rect">
            <a:avLst/>
          </a:prstGeom>
          <a:noFill/>
        </p:spPr>
        <p:txBody>
          <a:bodyPr wrap="square">
            <a:spAutoFit/>
          </a:bodyPr>
          <a:lstStyle/>
          <a:p>
            <a:r>
              <a:rPr lang="en-IN" b="1" dirty="0">
                <a:solidFill>
                  <a:srgbClr val="92D050"/>
                </a:solidFill>
              </a:rPr>
              <a:t>X-Ray Astronomy</a:t>
            </a:r>
          </a:p>
        </p:txBody>
      </p:sp>
      <p:sp>
        <p:nvSpPr>
          <p:cNvPr id="36" name="TextBox 35">
            <a:extLst>
              <a:ext uri="{FF2B5EF4-FFF2-40B4-BE49-F238E27FC236}">
                <a16:creationId xmlns:a16="http://schemas.microsoft.com/office/drawing/2014/main" id="{AE00F797-A2F6-97B1-D802-B581742C619F}"/>
              </a:ext>
            </a:extLst>
          </p:cNvPr>
          <p:cNvSpPr txBox="1"/>
          <p:nvPr/>
        </p:nvSpPr>
        <p:spPr>
          <a:xfrm>
            <a:off x="7531510" y="1693502"/>
            <a:ext cx="6096000" cy="369332"/>
          </a:xfrm>
          <a:prstGeom prst="rect">
            <a:avLst/>
          </a:prstGeom>
          <a:noFill/>
        </p:spPr>
        <p:txBody>
          <a:bodyPr wrap="square">
            <a:spAutoFit/>
          </a:bodyPr>
          <a:lstStyle/>
          <a:p>
            <a:r>
              <a:rPr lang="en-IN" b="1" dirty="0">
                <a:solidFill>
                  <a:srgbClr val="00B0F0"/>
                </a:solidFill>
              </a:rPr>
              <a:t>X-Ray Polarimetry</a:t>
            </a:r>
          </a:p>
        </p:txBody>
      </p:sp>
      <p:sp>
        <p:nvSpPr>
          <p:cNvPr id="38" name="TextBox 37">
            <a:extLst>
              <a:ext uri="{FF2B5EF4-FFF2-40B4-BE49-F238E27FC236}">
                <a16:creationId xmlns:a16="http://schemas.microsoft.com/office/drawing/2014/main" id="{C8D13D7C-F4EA-0519-DD35-315A87B11EE4}"/>
              </a:ext>
            </a:extLst>
          </p:cNvPr>
          <p:cNvSpPr txBox="1"/>
          <p:nvPr/>
        </p:nvSpPr>
        <p:spPr>
          <a:xfrm>
            <a:off x="1612491" y="3355204"/>
            <a:ext cx="6813754" cy="369332"/>
          </a:xfrm>
          <a:prstGeom prst="rect">
            <a:avLst/>
          </a:prstGeom>
          <a:noFill/>
        </p:spPr>
        <p:txBody>
          <a:bodyPr wrap="square">
            <a:spAutoFit/>
          </a:bodyPr>
          <a:lstStyle/>
          <a:p>
            <a:r>
              <a:rPr lang="en-IN" b="1" dirty="0">
                <a:solidFill>
                  <a:schemeClr val="accent2"/>
                </a:solidFill>
              </a:rPr>
              <a:t>Machine Learning</a:t>
            </a:r>
          </a:p>
        </p:txBody>
      </p:sp>
      <p:sp>
        <p:nvSpPr>
          <p:cNvPr id="40" name="TextBox 39">
            <a:extLst>
              <a:ext uri="{FF2B5EF4-FFF2-40B4-BE49-F238E27FC236}">
                <a16:creationId xmlns:a16="http://schemas.microsoft.com/office/drawing/2014/main" id="{09B0E923-82FE-03E4-4930-7364DC980122}"/>
              </a:ext>
            </a:extLst>
          </p:cNvPr>
          <p:cNvSpPr txBox="1"/>
          <p:nvPr/>
        </p:nvSpPr>
        <p:spPr>
          <a:xfrm>
            <a:off x="7708491" y="3375430"/>
            <a:ext cx="3119283" cy="369332"/>
          </a:xfrm>
          <a:prstGeom prst="rect">
            <a:avLst/>
          </a:prstGeom>
          <a:noFill/>
        </p:spPr>
        <p:txBody>
          <a:bodyPr wrap="square">
            <a:spAutoFit/>
          </a:bodyPr>
          <a:lstStyle/>
          <a:p>
            <a:r>
              <a:rPr lang="en-IN" b="1" dirty="0">
                <a:solidFill>
                  <a:srgbClr val="FF0000"/>
                </a:solidFill>
              </a:rPr>
              <a:t>Explainable AI (XAI)</a:t>
            </a:r>
          </a:p>
        </p:txBody>
      </p:sp>
      <p:sp>
        <p:nvSpPr>
          <p:cNvPr id="42" name="TextBox 41">
            <a:extLst>
              <a:ext uri="{FF2B5EF4-FFF2-40B4-BE49-F238E27FC236}">
                <a16:creationId xmlns:a16="http://schemas.microsoft.com/office/drawing/2014/main" id="{95CBA37F-C3BE-2A4B-9317-976B70085135}"/>
              </a:ext>
            </a:extLst>
          </p:cNvPr>
          <p:cNvSpPr txBox="1"/>
          <p:nvPr/>
        </p:nvSpPr>
        <p:spPr>
          <a:xfrm>
            <a:off x="4984954" y="2958631"/>
            <a:ext cx="6813754" cy="369332"/>
          </a:xfrm>
          <a:prstGeom prst="rect">
            <a:avLst/>
          </a:prstGeom>
          <a:noFill/>
        </p:spPr>
        <p:txBody>
          <a:bodyPr wrap="square">
            <a:spAutoFit/>
          </a:bodyPr>
          <a:lstStyle/>
          <a:p>
            <a:r>
              <a:rPr lang="en-IN" b="1" dirty="0">
                <a:solidFill>
                  <a:schemeClr val="tx1">
                    <a:lumMod val="95000"/>
                    <a:lumOff val="5000"/>
                  </a:schemeClr>
                </a:solidFill>
              </a:rPr>
              <a:t>LITERATURE SURVEY</a:t>
            </a:r>
          </a:p>
        </p:txBody>
      </p:sp>
      <p:sp>
        <p:nvSpPr>
          <p:cNvPr id="43" name="TextBox 42">
            <a:extLst>
              <a:ext uri="{FF2B5EF4-FFF2-40B4-BE49-F238E27FC236}">
                <a16:creationId xmlns:a16="http://schemas.microsoft.com/office/drawing/2014/main" id="{EAF00366-6148-48A3-DCFF-FE5347B8D83C}"/>
              </a:ext>
            </a:extLst>
          </p:cNvPr>
          <p:cNvSpPr txBox="1"/>
          <p:nvPr/>
        </p:nvSpPr>
        <p:spPr>
          <a:xfrm>
            <a:off x="4291933" y="5190378"/>
            <a:ext cx="3480619" cy="646331"/>
          </a:xfrm>
          <a:prstGeom prst="rect">
            <a:avLst/>
          </a:prstGeom>
          <a:noFill/>
        </p:spPr>
        <p:txBody>
          <a:bodyPr wrap="square" rtlCol="0">
            <a:spAutoFit/>
          </a:bodyPr>
          <a:lstStyle/>
          <a:p>
            <a:r>
              <a:rPr lang="en-US" b="1" dirty="0"/>
              <a:t>LITERATURE SUMMARY</a:t>
            </a:r>
            <a:endParaRPr lang="en-US" dirty="0"/>
          </a:p>
          <a:p>
            <a:endParaRPr lang="en-IN" dirty="0"/>
          </a:p>
        </p:txBody>
      </p:sp>
    </p:spTree>
    <p:extLst>
      <p:ext uri="{BB962C8B-B14F-4D97-AF65-F5344CB8AC3E}">
        <p14:creationId xmlns:p14="http://schemas.microsoft.com/office/powerpoint/2010/main" val="2162413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7F0BD12-68CF-44E2-BED1-0BE2A34C263F}"/>
              </a:ext>
            </a:extLst>
          </p:cNvPr>
          <p:cNvSpPr>
            <a:spLocks noGrp="1"/>
          </p:cNvSpPr>
          <p:nvPr>
            <p:ph type="title"/>
          </p:nvPr>
        </p:nvSpPr>
        <p:spPr>
          <a:xfrm>
            <a:off x="609600" y="235309"/>
            <a:ext cx="10972800" cy="1143000"/>
          </a:xfrm>
        </p:spPr>
        <p:txBody>
          <a:bodyPr/>
          <a:lstStyle/>
          <a:p>
            <a:r>
              <a:t>EXISTING SYSTEM</a:t>
            </a:r>
          </a:p>
        </p:txBody>
      </p:sp>
      <p:sp>
        <p:nvSpPr>
          <p:cNvPr id="2" name="Flowchart: Alternate Process 1">
            <a:extLst>
              <a:ext uri="{FF2B5EF4-FFF2-40B4-BE49-F238E27FC236}">
                <a16:creationId xmlns:a16="http://schemas.microsoft.com/office/drawing/2014/main" id="{8193771D-E962-0049-4ADC-D04A1E4C96D6}"/>
              </a:ext>
            </a:extLst>
          </p:cNvPr>
          <p:cNvSpPr>
            <a:spLocks noGrp="1"/>
          </p:cNvSpPr>
          <p:nvPr/>
        </p:nvSpPr>
        <p:spPr>
          <a:xfrm>
            <a:off x="894735" y="5093386"/>
            <a:ext cx="10687665" cy="1455174"/>
          </a:xfrm>
          <a:prstGeom prst="flowChartAlternateProcess">
            <a:avLst/>
          </a:prstGeom>
        </p:spPr>
        <p:style>
          <a:lnRef idx="2">
            <a:schemeClr val="accent6"/>
          </a:lnRef>
          <a:fillRef idx="1">
            <a:schemeClr val="lt1"/>
          </a:fillRef>
          <a:effectRef idx="0">
            <a:schemeClr val="accent6"/>
          </a:effectRef>
          <a:fontRef idx="minor">
            <a:schemeClr val="dk1"/>
          </a:fontRef>
        </p:style>
        <p:txBody>
          <a:bodyPr anchor="ctr"/>
          <a:lstStyle/>
          <a:p>
            <a:r>
              <a:rPr dirty="0"/>
              <a:t>Current practice is scientifically established and expert controlled, but multi-file archive screening remains repetitive and weakly integrated with explainable anomaly ranking.</a:t>
            </a:r>
          </a:p>
        </p:txBody>
      </p:sp>
      <p:pic>
        <p:nvPicPr>
          <p:cNvPr id="49" name="Graphic 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33801" y="5124266"/>
            <a:ext cx="469489" cy="469489"/>
          </a:xfrm>
          <a:prstGeom prst="rect">
            <a:avLst/>
          </a:prstGeom>
        </p:spPr>
      </p:pic>
      <p:sp>
        <p:nvSpPr>
          <p:cNvPr id="18" name="Google Shape;9872;p130">
            <a:extLst>
              <a:ext uri="{FF2B5EF4-FFF2-40B4-BE49-F238E27FC236}">
                <a16:creationId xmlns:a16="http://schemas.microsoft.com/office/drawing/2014/main" id="{8B693E68-A23F-C287-13DE-8540D5C45505}"/>
              </a:ext>
            </a:extLst>
          </p:cNvPr>
          <p:cNvSpPr>
            <a:spLocks noGrp="1"/>
          </p:cNvSpPr>
          <p:nvPr/>
        </p:nvSpPr>
        <p:spPr>
          <a:xfrm>
            <a:off x="959872" y="1585223"/>
            <a:ext cx="5072370" cy="1544441"/>
          </a:xfrm>
          <a:custGeom>
            <a:avLst/>
            <a:gdLst/>
            <a:ahLst/>
            <a:cxnLst/>
            <a:rect l="l" t="t" r="r" b="b"/>
            <a:pathLst>
              <a:path w="140281" h="6336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9" name="Google Shape;9873;p130">
            <a:extLst>
              <a:ext uri="{FF2B5EF4-FFF2-40B4-BE49-F238E27FC236}">
                <a16:creationId xmlns:a16="http://schemas.microsoft.com/office/drawing/2014/main" id="{6B32007A-2BE9-6416-51F2-97906B051767}"/>
              </a:ext>
            </a:extLst>
          </p:cNvPr>
          <p:cNvSpPr>
            <a:spLocks noGrp="1"/>
          </p:cNvSpPr>
          <p:nvPr/>
        </p:nvSpPr>
        <p:spPr>
          <a:xfrm>
            <a:off x="959872" y="3293029"/>
            <a:ext cx="5072370" cy="1544441"/>
          </a:xfrm>
          <a:custGeom>
            <a:avLst/>
            <a:gdLst/>
            <a:ahLst/>
            <a:cxnLst/>
            <a:rect l="l" t="t" r="r" b="b"/>
            <a:pathLst>
              <a:path w="140281" h="6336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0" name="Google Shape;9874;p130">
            <a:extLst>
              <a:ext uri="{FF2B5EF4-FFF2-40B4-BE49-F238E27FC236}">
                <a16:creationId xmlns:a16="http://schemas.microsoft.com/office/drawing/2014/main" id="{2C5D4366-E772-F5FE-CF30-57DA86B5C47B}"/>
              </a:ext>
            </a:extLst>
          </p:cNvPr>
          <p:cNvSpPr>
            <a:spLocks noGrp="1"/>
          </p:cNvSpPr>
          <p:nvPr/>
        </p:nvSpPr>
        <p:spPr>
          <a:xfrm>
            <a:off x="6215061" y="1585223"/>
            <a:ext cx="5072370" cy="1544441"/>
          </a:xfrm>
          <a:custGeom>
            <a:avLst/>
            <a:gdLst/>
            <a:ahLst/>
            <a:cxnLst/>
            <a:rect l="l" t="t" r="r" b="b"/>
            <a:pathLst>
              <a:path w="140281" h="6336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1" name="Google Shape;9875;p130">
            <a:extLst>
              <a:ext uri="{FF2B5EF4-FFF2-40B4-BE49-F238E27FC236}">
                <a16:creationId xmlns:a16="http://schemas.microsoft.com/office/drawing/2014/main" id="{1D634AE7-3774-F9D8-3E79-C2A6F7280F0A}"/>
              </a:ext>
            </a:extLst>
          </p:cNvPr>
          <p:cNvSpPr>
            <a:spLocks noGrp="1"/>
          </p:cNvSpPr>
          <p:nvPr/>
        </p:nvSpPr>
        <p:spPr>
          <a:xfrm>
            <a:off x="6215061" y="3293029"/>
            <a:ext cx="5072370" cy="1544441"/>
          </a:xfrm>
          <a:custGeom>
            <a:avLst/>
            <a:gdLst/>
            <a:ahLst/>
            <a:cxnLst/>
            <a:rect l="l" t="t" r="r" b="b"/>
            <a:pathLst>
              <a:path w="140281" h="6336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2" name="Google Shape;9876;p130">
            <a:extLst>
              <a:ext uri="{FF2B5EF4-FFF2-40B4-BE49-F238E27FC236}">
                <a16:creationId xmlns:a16="http://schemas.microsoft.com/office/drawing/2014/main" id="{A6375B55-02B5-6417-A7FC-D28A1A33CD91}"/>
              </a:ext>
            </a:extLst>
          </p:cNvPr>
          <p:cNvSpPr>
            <a:spLocks noGrp="1"/>
          </p:cNvSpPr>
          <p:nvPr/>
        </p:nvSpPr>
        <p:spPr>
          <a:xfrm>
            <a:off x="4726590" y="2312446"/>
            <a:ext cx="2666844" cy="1797801"/>
          </a:xfrm>
          <a:custGeom>
            <a:avLst/>
            <a:gdLst/>
            <a:ahLst/>
            <a:cxnLst/>
            <a:rect l="l" t="t" r="r" b="b"/>
            <a:pathLst>
              <a:path w="73754" h="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4" name="TextBox 23">
            <a:extLst>
              <a:ext uri="{FF2B5EF4-FFF2-40B4-BE49-F238E27FC236}">
                <a16:creationId xmlns:a16="http://schemas.microsoft.com/office/drawing/2014/main" id="{97BABA58-05E6-29B8-B191-E1A85FA97E37}"/>
              </a:ext>
            </a:extLst>
          </p:cNvPr>
          <p:cNvSpPr>
            <a:spLocks noGrp="1"/>
          </p:cNvSpPr>
          <p:nvPr/>
        </p:nvSpPr>
        <p:spPr>
          <a:xfrm>
            <a:off x="1364226" y="3716154"/>
            <a:ext cx="3687097" cy="954107"/>
          </a:xfrm>
          <a:prstGeom prst="rect">
            <a:avLst/>
          </a:prstGeom>
          <a:noFill/>
        </p:spPr>
        <p:txBody>
          <a:bodyPr wrap="square">
            <a:spAutoFit/>
          </a:bodyPr>
          <a:lstStyle/>
          <a:p>
            <a:r>
              <a:rPr sz="1400"/>
              <a:t>Published polarimetry analyses focus on individual sources, calibrated missions and source-specific physical questions.</a:t>
            </a:r>
          </a:p>
        </p:txBody>
      </p:sp>
      <p:sp>
        <p:nvSpPr>
          <p:cNvPr id="26" name="TextBox 25">
            <a:extLst>
              <a:ext uri="{FF2B5EF4-FFF2-40B4-BE49-F238E27FC236}">
                <a16:creationId xmlns:a16="http://schemas.microsoft.com/office/drawing/2014/main" id="{7A618C72-511D-94BE-5E43-3E273225FF0A}"/>
              </a:ext>
            </a:extLst>
          </p:cNvPr>
          <p:cNvSpPr>
            <a:spLocks noGrp="1"/>
          </p:cNvSpPr>
          <p:nvPr/>
        </p:nvSpPr>
        <p:spPr>
          <a:xfrm>
            <a:off x="7393435" y="3728337"/>
            <a:ext cx="4030088" cy="954107"/>
          </a:xfrm>
          <a:prstGeom prst="rect">
            <a:avLst/>
          </a:prstGeom>
          <a:noFill/>
        </p:spPr>
        <p:txBody>
          <a:bodyPr wrap="square">
            <a:spAutoFit/>
          </a:bodyPr>
          <a:lstStyle/>
          <a:p>
            <a:r>
              <a:rPr sz="1400"/>
              <a:t>Generic PCA, clustering, anomaly detection and explanation methods are available, but do not encode POLIX product meaning automatically.</a:t>
            </a:r>
          </a:p>
        </p:txBody>
      </p:sp>
      <p:sp>
        <p:nvSpPr>
          <p:cNvPr id="30" name="TextBox 29">
            <a:extLst>
              <a:ext uri="{FF2B5EF4-FFF2-40B4-BE49-F238E27FC236}">
                <a16:creationId xmlns:a16="http://schemas.microsoft.com/office/drawing/2014/main" id="{EAEB6DCB-801F-1D9A-1B21-0FC5C4DC6F42}"/>
              </a:ext>
            </a:extLst>
          </p:cNvPr>
          <p:cNvSpPr>
            <a:spLocks noGrp="1"/>
          </p:cNvSpPr>
          <p:nvPr/>
        </p:nvSpPr>
        <p:spPr>
          <a:xfrm>
            <a:off x="7531510" y="2044086"/>
            <a:ext cx="3700618" cy="977732"/>
          </a:xfrm>
          <a:prstGeom prst="rect">
            <a:avLst/>
          </a:prstGeom>
          <a:noFill/>
        </p:spPr>
        <p:txBody>
          <a:bodyPr wrap="square">
            <a:spAutoFit/>
          </a:bodyPr>
          <a:lstStyle/>
          <a:p>
            <a:r>
              <a:rPr sz="1400"/>
              <a:t>Official Level-2 products preserve instrument semantics and provide the starting point for valid scientific analysis.</a:t>
            </a:r>
          </a:p>
        </p:txBody>
      </p:sp>
      <p:graphicFrame>
        <p:nvGraphicFramePr>
          <p:cNvPr id="58" name="Table 30"/>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20000"/>
                    </a:ext>
                  </a:extLst>
                </a:gridCol>
              </a:tblGrid>
              <a:tr h="0">
                <a:tc>
                  <a:txBody>
                    <a:bodyPr/>
                    <a:lstStyle/>
                    <a:p>
                      <a:pPr>
                        <a:buNone/>
                      </a:pPr>
                      <a:endParaRPr/>
                    </a:p>
                  </a:txBody>
                  <a:tcPr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graphicFrame>
        <p:nvGraphicFramePr>
          <p:cNvPr id="59" name="Table 31"/>
          <p:cNvGraphicFramePr/>
          <p:nvPr>
            <p:extLst>
              <p:ext uri="{D42A27DB-BD31-4B8C-83A1-F6EECF244321}">
                <p14:modId xmlns:p14="http://schemas.microsoft.com/office/powerpoint/2010/main" val="967940016"/>
              </p:ext>
            </p:extLst>
          </p:nvPr>
        </p:nvGraphicFramePr>
        <p:xfrm>
          <a:off x="946008" y="2076925"/>
          <a:ext cx="4340059" cy="881706"/>
        </p:xfrm>
        <a:graphic>
          <a:graphicData uri="http://schemas.openxmlformats.org/drawingml/2006/table">
            <a:tbl>
              <a:tblPr/>
              <a:tblGrid>
                <a:gridCol w="4340059">
                  <a:extLst>
                    <a:ext uri="{9D8B030D-6E8A-4147-A177-3AD203B41FA5}">
                      <a16:colId xmlns:a16="http://schemas.microsoft.com/office/drawing/2014/main" val="20000"/>
                    </a:ext>
                  </a:extLst>
                </a:gridCol>
              </a:tblGrid>
              <a:tr h="881706">
                <a:tc>
                  <a:txBody>
                    <a:bodyPr/>
                    <a:lstStyle/>
                    <a:p>
                      <a:pPr>
                        <a:buNone/>
                      </a:pPr>
                      <a:r>
                        <a:rPr sz="1400" dirty="0"/>
                        <a:t>Researchers inspect separate exposure, light-curve, azimuthal, detector-wise and modulation products</a:t>
                      </a:r>
                      <a:endParaRPr lang="en-IN" sz="1400" dirty="0"/>
                    </a:p>
                    <a:p>
                      <a:pPr>
                        <a:buNone/>
                      </a:pPr>
                      <a:r>
                        <a:rPr sz="1400" dirty="0"/>
                        <a:t>with domain knowledge.</a:t>
                      </a:r>
                    </a:p>
                  </a:txBody>
                  <a:tcPr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sp>
        <p:nvSpPr>
          <p:cNvPr id="34" name="TextBox 33">
            <a:extLst>
              <a:ext uri="{FF2B5EF4-FFF2-40B4-BE49-F238E27FC236}">
                <a16:creationId xmlns:a16="http://schemas.microsoft.com/office/drawing/2014/main" id="{D9572626-D57F-0579-77AD-A23F710E85AB}"/>
              </a:ext>
            </a:extLst>
          </p:cNvPr>
          <p:cNvSpPr>
            <a:spLocks noGrp="1"/>
          </p:cNvSpPr>
          <p:nvPr/>
        </p:nvSpPr>
        <p:spPr>
          <a:xfrm>
            <a:off x="1612491" y="1731131"/>
            <a:ext cx="6096000" cy="369332"/>
          </a:xfrm>
          <a:prstGeom prst="rect">
            <a:avLst/>
          </a:prstGeom>
          <a:noFill/>
        </p:spPr>
        <p:txBody>
          <a:bodyPr wrap="square">
            <a:spAutoFit/>
          </a:bodyPr>
          <a:lstStyle/>
          <a:p>
            <a:r>
              <a:rPr b="1">
                <a:solidFill>
                  <a:srgbClr val="92D050"/>
                </a:solidFill>
              </a:rPr>
              <a:t>Manual Product Review</a:t>
            </a:r>
          </a:p>
        </p:txBody>
      </p:sp>
      <p:sp>
        <p:nvSpPr>
          <p:cNvPr id="36" name="TextBox 35">
            <a:extLst>
              <a:ext uri="{FF2B5EF4-FFF2-40B4-BE49-F238E27FC236}">
                <a16:creationId xmlns:a16="http://schemas.microsoft.com/office/drawing/2014/main" id="{AE00F797-A2F6-97B1-D802-B581742C619F}"/>
              </a:ext>
            </a:extLst>
          </p:cNvPr>
          <p:cNvSpPr>
            <a:spLocks noGrp="1"/>
          </p:cNvSpPr>
          <p:nvPr/>
        </p:nvSpPr>
        <p:spPr>
          <a:xfrm>
            <a:off x="7531510" y="1693502"/>
            <a:ext cx="6096000" cy="369332"/>
          </a:xfrm>
          <a:prstGeom prst="rect">
            <a:avLst/>
          </a:prstGeom>
          <a:noFill/>
        </p:spPr>
        <p:txBody>
          <a:bodyPr wrap="square">
            <a:spAutoFit/>
          </a:bodyPr>
          <a:lstStyle/>
          <a:p>
            <a:r>
              <a:rPr b="1">
                <a:solidFill>
                  <a:srgbClr val="00B0F0"/>
                </a:solidFill>
              </a:rPr>
              <a:t>Mission Products &amp; Utilities</a:t>
            </a:r>
          </a:p>
        </p:txBody>
      </p:sp>
      <p:sp>
        <p:nvSpPr>
          <p:cNvPr id="38" name="TextBox 37">
            <a:extLst>
              <a:ext uri="{FF2B5EF4-FFF2-40B4-BE49-F238E27FC236}">
                <a16:creationId xmlns:a16="http://schemas.microsoft.com/office/drawing/2014/main" id="{C8D13D7C-F4EA-0519-DD35-315A87B11EE4}"/>
              </a:ext>
            </a:extLst>
          </p:cNvPr>
          <p:cNvSpPr>
            <a:spLocks noGrp="1"/>
          </p:cNvSpPr>
          <p:nvPr/>
        </p:nvSpPr>
        <p:spPr>
          <a:xfrm>
            <a:off x="1612491" y="3355204"/>
            <a:ext cx="6813754" cy="369332"/>
          </a:xfrm>
          <a:prstGeom prst="rect">
            <a:avLst/>
          </a:prstGeom>
          <a:noFill/>
        </p:spPr>
        <p:txBody>
          <a:bodyPr wrap="square">
            <a:spAutoFit/>
          </a:bodyPr>
          <a:lstStyle/>
          <a:p>
            <a:r>
              <a:rPr b="1">
                <a:solidFill>
                  <a:schemeClr val="accent2"/>
                </a:solidFill>
              </a:rPr>
              <a:t>Target-Specific Studies</a:t>
            </a:r>
          </a:p>
        </p:txBody>
      </p:sp>
      <p:sp>
        <p:nvSpPr>
          <p:cNvPr id="40" name="TextBox 39">
            <a:extLst>
              <a:ext uri="{FF2B5EF4-FFF2-40B4-BE49-F238E27FC236}">
                <a16:creationId xmlns:a16="http://schemas.microsoft.com/office/drawing/2014/main" id="{09B0E923-82FE-03E4-4930-7364DC980122}"/>
              </a:ext>
            </a:extLst>
          </p:cNvPr>
          <p:cNvSpPr>
            <a:spLocks noGrp="1"/>
          </p:cNvSpPr>
          <p:nvPr/>
        </p:nvSpPr>
        <p:spPr>
          <a:xfrm>
            <a:off x="7708491" y="3375430"/>
            <a:ext cx="3119283" cy="369332"/>
          </a:xfrm>
          <a:prstGeom prst="rect">
            <a:avLst/>
          </a:prstGeom>
          <a:noFill/>
        </p:spPr>
        <p:txBody>
          <a:bodyPr wrap="square">
            <a:spAutoFit/>
          </a:bodyPr>
          <a:lstStyle/>
          <a:p>
            <a:r>
              <a:rPr b="1">
                <a:solidFill>
                  <a:srgbClr val="FF0000"/>
                </a:solidFill>
              </a:rPr>
              <a:t>General ML / XAI</a:t>
            </a:r>
          </a:p>
        </p:txBody>
      </p:sp>
      <p:sp>
        <p:nvSpPr>
          <p:cNvPr id="42" name="TextBox 41">
            <a:extLst>
              <a:ext uri="{FF2B5EF4-FFF2-40B4-BE49-F238E27FC236}">
                <a16:creationId xmlns:a16="http://schemas.microsoft.com/office/drawing/2014/main" id="{95CBA37F-C3BE-2A4B-9317-976B70085135}"/>
              </a:ext>
            </a:extLst>
          </p:cNvPr>
          <p:cNvSpPr>
            <a:spLocks noGrp="1"/>
          </p:cNvSpPr>
          <p:nvPr/>
        </p:nvSpPr>
        <p:spPr>
          <a:xfrm>
            <a:off x="4984954" y="2958631"/>
            <a:ext cx="6813754" cy="369332"/>
          </a:xfrm>
          <a:prstGeom prst="rect">
            <a:avLst/>
          </a:prstGeom>
          <a:noFill/>
        </p:spPr>
        <p:txBody>
          <a:bodyPr wrap="square">
            <a:spAutoFit/>
          </a:bodyPr>
          <a:lstStyle/>
          <a:p>
            <a:r>
              <a:rPr b="1">
                <a:solidFill>
                  <a:schemeClr val="tx1">
                    <a:lumMod val="95000"/>
                    <a:lumOff val="5000"/>
                  </a:schemeClr>
                </a:solidFill>
              </a:rPr>
              <a:t>EXISTING SYSTEM</a:t>
            </a:r>
          </a:p>
        </p:txBody>
      </p:sp>
      <p:sp>
        <p:nvSpPr>
          <p:cNvPr id="43" name="TextBox 42">
            <a:extLst>
              <a:ext uri="{FF2B5EF4-FFF2-40B4-BE49-F238E27FC236}">
                <a16:creationId xmlns:a16="http://schemas.microsoft.com/office/drawing/2014/main" id="{EAF00366-6148-48A3-DCFF-FE5347B8D83C}"/>
              </a:ext>
            </a:extLst>
          </p:cNvPr>
          <p:cNvSpPr>
            <a:spLocks noGrp="1"/>
          </p:cNvSpPr>
          <p:nvPr/>
        </p:nvSpPr>
        <p:spPr>
          <a:xfrm>
            <a:off x="4291933" y="5190378"/>
            <a:ext cx="3480619" cy="646331"/>
          </a:xfrm>
          <a:prstGeom prst="rect">
            <a:avLst/>
          </a:prstGeom>
          <a:noFill/>
        </p:spPr>
        <p:txBody>
          <a:bodyPr wrap="square">
            <a:spAutoFit/>
          </a:bodyPr>
          <a:lstStyle/>
          <a:p>
            <a:r>
              <a:rPr b="1"/>
              <a:t>EXISTING-SYSTEM SUMMARY</a:t>
            </a:r>
          </a:p>
        </p:txBody>
      </p:sp>
    </p:spTree>
    <p:extLst>
      <p:ext uri="{BB962C8B-B14F-4D97-AF65-F5344CB8AC3E}">
        <p14:creationId xmlns:p14="http://schemas.microsoft.com/office/powerpoint/2010/main" val="3143505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609600" y="235309"/>
            <a:ext cx="10972800" cy="1143000"/>
          </a:xfrm>
        </p:spPr>
        <p:txBody>
          <a:bodyPr/>
          <a:lstStyle/>
          <a:p>
            <a:r>
              <a:rPr lang="en-US" dirty="0">
                <a:solidFill>
                  <a:srgbClr val="0070C0"/>
                </a:solidFill>
              </a:rPr>
              <a:t>ADVANTAGES OF EXISTING SYSTEM</a:t>
            </a:r>
          </a:p>
        </p:txBody>
      </p:sp>
      <p:sp>
        <p:nvSpPr>
          <p:cNvPr id="2" name="Rectangle: Rounded Corners 1">
            <a:extLst>
              <a:ext uri="{FF2B5EF4-FFF2-40B4-BE49-F238E27FC236}">
                <a16:creationId xmlns:a16="http://schemas.microsoft.com/office/drawing/2014/main" id="{38ADE3D8-09F1-A664-8ED7-40DE4FBA2083}"/>
              </a:ext>
            </a:extLst>
          </p:cNvPr>
          <p:cNvSpPr/>
          <p:nvPr/>
        </p:nvSpPr>
        <p:spPr>
          <a:xfrm>
            <a:off x="360680" y="1483797"/>
            <a:ext cx="3576320" cy="4775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A3B96E24-7149-12E4-BBE8-8DAA6CC9B35C}"/>
              </a:ext>
            </a:extLst>
          </p:cNvPr>
          <p:cNvSpPr/>
          <p:nvPr/>
        </p:nvSpPr>
        <p:spPr>
          <a:xfrm>
            <a:off x="4185921" y="1513840"/>
            <a:ext cx="3576320" cy="4775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4" name="Rectangle: Rounded Corners 3">
            <a:extLst>
              <a:ext uri="{FF2B5EF4-FFF2-40B4-BE49-F238E27FC236}">
                <a16:creationId xmlns:a16="http://schemas.microsoft.com/office/drawing/2014/main" id="{B57337BC-A469-BE32-DC41-5A1C497A0447}"/>
              </a:ext>
            </a:extLst>
          </p:cNvPr>
          <p:cNvSpPr/>
          <p:nvPr/>
        </p:nvSpPr>
        <p:spPr>
          <a:xfrm>
            <a:off x="8006080" y="1513840"/>
            <a:ext cx="3576320" cy="4775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TextBox 4">
            <a:extLst>
              <a:ext uri="{FF2B5EF4-FFF2-40B4-BE49-F238E27FC236}">
                <a16:creationId xmlns:a16="http://schemas.microsoft.com/office/drawing/2014/main" id="{85AAA305-6437-337C-9DE0-D419A220FCB9}"/>
              </a:ext>
            </a:extLst>
          </p:cNvPr>
          <p:cNvSpPr txBox="1"/>
          <p:nvPr/>
        </p:nvSpPr>
        <p:spPr>
          <a:xfrm>
            <a:off x="609600" y="2011680"/>
            <a:ext cx="3078480" cy="4801314"/>
          </a:xfrm>
          <a:prstGeom prst="rect">
            <a:avLst/>
          </a:prstGeom>
          <a:noFill/>
        </p:spPr>
        <p:txBody>
          <a:bodyPr wrap="square" rtlCol="0">
            <a:spAutoFit/>
          </a:bodyPr>
          <a:lstStyle/>
          <a:p>
            <a:r>
              <a:rPr lang="en-US" b="1" dirty="0">
                <a:solidFill>
                  <a:srgbClr val="00B050"/>
                </a:solidFill>
              </a:rPr>
              <a:t>Explainable Machine Learning Classification of Chandra X-ray Sources: SHAP Analysis of Multi-Wavelength Features</a:t>
            </a:r>
          </a:p>
          <a:p>
            <a:endParaRPr lang="en-US" b="1" dirty="0">
              <a:solidFill>
                <a:srgbClr val="00B050"/>
              </a:solidFill>
            </a:endParaRPr>
          </a:p>
          <a:p>
            <a:endParaRPr lang="en-US" dirty="0"/>
          </a:p>
          <a:p>
            <a:pPr marL="285750" indent="-285750">
              <a:buFont typeface="Wingdings" panose="05000000000000000000" pitchFamily="2" charset="2"/>
              <a:buChar char="Ø"/>
            </a:pPr>
            <a:r>
              <a:rPr lang="en-US" dirty="0"/>
              <a:t>Explainable AI using SHAP</a:t>
            </a:r>
          </a:p>
          <a:p>
            <a:endParaRPr lang="en-US" dirty="0"/>
          </a:p>
          <a:p>
            <a:pPr marL="285750" indent="-285750">
              <a:buFont typeface="Wingdings" panose="05000000000000000000" pitchFamily="2" charset="2"/>
              <a:buChar char="Ø"/>
            </a:pPr>
            <a:r>
              <a:rPr lang="en-US" dirty="0"/>
              <a:t>Accurate X-ray source classification</a:t>
            </a:r>
          </a:p>
          <a:p>
            <a:endParaRPr lang="en-US" dirty="0"/>
          </a:p>
          <a:p>
            <a:pPr marL="285750" indent="-285750">
              <a:buFont typeface="Wingdings" panose="05000000000000000000" pitchFamily="2" charset="2"/>
              <a:buChar char="Ø"/>
            </a:pPr>
            <a:r>
              <a:rPr lang="en-US" dirty="0"/>
              <a:t>Interpretable feature analysis.</a:t>
            </a:r>
          </a:p>
          <a:p>
            <a:pPr marL="285750" indent="-285750">
              <a:buFont typeface="Wingdings" panose="05000000000000000000" pitchFamily="2" charset="2"/>
              <a:buChar char="Ø"/>
            </a:pPr>
            <a:endParaRPr lang="en-US" dirty="0"/>
          </a:p>
          <a:p>
            <a:endParaRPr lang="en-US" dirty="0"/>
          </a:p>
          <a:p>
            <a:endParaRPr lang="en-US" dirty="0"/>
          </a:p>
          <a:p>
            <a:endParaRPr lang="en-IN" dirty="0"/>
          </a:p>
        </p:txBody>
      </p:sp>
      <p:sp>
        <p:nvSpPr>
          <p:cNvPr id="6" name="TextBox 5">
            <a:extLst>
              <a:ext uri="{FF2B5EF4-FFF2-40B4-BE49-F238E27FC236}">
                <a16:creationId xmlns:a16="http://schemas.microsoft.com/office/drawing/2014/main" id="{0B0459C5-644C-7869-3FB0-6512C12D4E79}"/>
              </a:ext>
            </a:extLst>
          </p:cNvPr>
          <p:cNvSpPr txBox="1"/>
          <p:nvPr/>
        </p:nvSpPr>
        <p:spPr>
          <a:xfrm>
            <a:off x="4434841" y="2011680"/>
            <a:ext cx="3078480" cy="4524315"/>
          </a:xfrm>
          <a:prstGeom prst="rect">
            <a:avLst/>
          </a:prstGeom>
          <a:noFill/>
        </p:spPr>
        <p:txBody>
          <a:bodyPr wrap="square" rtlCol="0">
            <a:spAutoFit/>
          </a:bodyPr>
          <a:lstStyle/>
          <a:p>
            <a:r>
              <a:rPr lang="en-US" b="1" dirty="0">
                <a:solidFill>
                  <a:srgbClr val="00B050"/>
                </a:solidFill>
              </a:rPr>
              <a:t>Unsupervised Machine Learning for the Classification of Astrophysical X-ray Sources</a:t>
            </a:r>
          </a:p>
          <a:p>
            <a:endParaRPr lang="en-US" dirty="0"/>
          </a:p>
          <a:p>
            <a:endParaRPr lang="en-US" dirty="0"/>
          </a:p>
          <a:p>
            <a:endParaRPr lang="en-US" dirty="0"/>
          </a:p>
          <a:p>
            <a:pPr marL="285750" indent="-285750">
              <a:buFont typeface="Wingdings" panose="05000000000000000000" pitchFamily="2" charset="2"/>
              <a:buChar char="Ø"/>
            </a:pPr>
            <a:r>
              <a:rPr lang="en-US" dirty="0"/>
              <a:t>No labeled data required.</a:t>
            </a:r>
          </a:p>
          <a:p>
            <a:endParaRPr lang="en-US" dirty="0"/>
          </a:p>
          <a:p>
            <a:pPr marL="285750" indent="-285750">
              <a:buFont typeface="Wingdings" panose="05000000000000000000" pitchFamily="2" charset="2"/>
              <a:buChar char="Ø"/>
            </a:pPr>
            <a:r>
              <a:rPr lang="en-US" dirty="0"/>
              <a:t>Detects hidden data patterns.</a:t>
            </a:r>
          </a:p>
          <a:p>
            <a:endParaRPr lang="en-US" dirty="0"/>
          </a:p>
          <a:p>
            <a:pPr marL="285750" indent="-285750">
              <a:buFont typeface="Wingdings" panose="05000000000000000000" pitchFamily="2" charset="2"/>
              <a:buChar char="Ø"/>
            </a:pPr>
            <a:r>
              <a:rPr lang="en-US" dirty="0"/>
              <a:t>Efficient clustering of X-ray sources</a:t>
            </a:r>
          </a:p>
          <a:p>
            <a:endParaRPr lang="en-US" dirty="0"/>
          </a:p>
          <a:p>
            <a:endParaRPr lang="en-US" dirty="0"/>
          </a:p>
          <a:p>
            <a:endParaRPr lang="en-IN" dirty="0"/>
          </a:p>
        </p:txBody>
      </p:sp>
      <p:sp>
        <p:nvSpPr>
          <p:cNvPr id="7" name="TextBox 6">
            <a:extLst>
              <a:ext uri="{FF2B5EF4-FFF2-40B4-BE49-F238E27FC236}">
                <a16:creationId xmlns:a16="http://schemas.microsoft.com/office/drawing/2014/main" id="{73034514-1D69-2C90-8B24-9066DB6B6E13}"/>
              </a:ext>
            </a:extLst>
          </p:cNvPr>
          <p:cNvSpPr txBox="1"/>
          <p:nvPr/>
        </p:nvSpPr>
        <p:spPr>
          <a:xfrm>
            <a:off x="8341360" y="2011680"/>
            <a:ext cx="3078480" cy="4801314"/>
          </a:xfrm>
          <a:prstGeom prst="rect">
            <a:avLst/>
          </a:prstGeom>
          <a:noFill/>
        </p:spPr>
        <p:txBody>
          <a:bodyPr wrap="square" rtlCol="0">
            <a:spAutoFit/>
          </a:bodyPr>
          <a:lstStyle/>
          <a:p>
            <a:r>
              <a:rPr lang="en-US" b="1" dirty="0">
                <a:solidFill>
                  <a:srgbClr val="00B050"/>
                </a:solidFill>
              </a:rPr>
              <a:t>X-Ray Polarization Detection of Cassiopeia A with IXPE</a:t>
            </a:r>
          </a:p>
          <a:p>
            <a:endParaRPr lang="en-US" dirty="0"/>
          </a:p>
          <a:p>
            <a:endParaRPr lang="en-US" dirty="0"/>
          </a:p>
          <a:p>
            <a:endParaRPr lang="en-US" dirty="0"/>
          </a:p>
          <a:p>
            <a:endParaRPr lang="en-US" dirty="0"/>
          </a:p>
          <a:p>
            <a:pPr marL="285750" indent="-285750">
              <a:buFont typeface="Wingdings" panose="05000000000000000000" pitchFamily="2" charset="2"/>
              <a:buChar char="Ø"/>
            </a:pPr>
            <a:r>
              <a:rPr lang="en-US" dirty="0"/>
              <a:t>Accurate polarization measurement.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Reliable PD &amp; PA estimation.</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Better understanding of magnetic fields</a:t>
            </a:r>
          </a:p>
          <a:p>
            <a:pPr marL="285750" indent="-285750">
              <a:buFont typeface="Wingdings" panose="05000000000000000000" pitchFamily="2" charset="2"/>
              <a:buChar char="Ø"/>
            </a:pPr>
            <a:endParaRPr lang="en-US" dirty="0"/>
          </a:p>
          <a:p>
            <a:endParaRPr lang="en-US" dirty="0"/>
          </a:p>
          <a:p>
            <a:endParaRPr lang="en-IN" dirty="0"/>
          </a:p>
        </p:txBody>
      </p:sp>
    </p:spTree>
    <p:extLst>
      <p:ext uri="{BB962C8B-B14F-4D97-AF65-F5344CB8AC3E}">
        <p14:creationId xmlns:p14="http://schemas.microsoft.com/office/powerpoint/2010/main" val="1428212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206DA9E-B692-8CD4-0C09-22C9807891B0}"/>
              </a:ext>
            </a:extLst>
          </p:cNvPr>
          <p:cNvSpPr>
            <a:spLocks noGrp="1"/>
          </p:cNvSpPr>
          <p:nvPr>
            <p:ph type="title"/>
          </p:nvPr>
        </p:nvSpPr>
        <p:spPr>
          <a:xfrm>
            <a:off x="609600" y="235309"/>
            <a:ext cx="10972800" cy="1143000"/>
          </a:xfrm>
        </p:spPr>
        <p:txBody>
          <a:bodyPr/>
          <a:lstStyle/>
          <a:p>
            <a:r>
              <a:rPr>
                <a:solidFill>
                  <a:srgbClr val="0070C0"/>
                </a:solidFill>
              </a:rPr>
              <a:t>EXISTING SYSTEM — LIMITATIONS</a:t>
            </a:r>
          </a:p>
        </p:txBody>
      </p:sp>
      <p:sp>
        <p:nvSpPr>
          <p:cNvPr id="2" name="Rectangle: Rounded Corners 1">
            <a:extLst>
              <a:ext uri="{FF2B5EF4-FFF2-40B4-BE49-F238E27FC236}">
                <a16:creationId xmlns:a16="http://schemas.microsoft.com/office/drawing/2014/main" id="{B4D7693C-25F6-F4EA-79AA-56487035B813}"/>
              </a:ext>
            </a:extLst>
          </p:cNvPr>
          <p:cNvSpPr>
            <a:spLocks noGrp="1"/>
          </p:cNvSpPr>
          <p:nvPr/>
        </p:nvSpPr>
        <p:spPr>
          <a:xfrm>
            <a:off x="365763" y="1493520"/>
            <a:ext cx="3576320" cy="1791940"/>
          </a:xfrm>
          <a:prstGeom prst="roundRect">
            <a:avLst/>
          </a:prstGeom>
          <a:ln>
            <a:solidFill>
              <a:schemeClr val="tx1">
                <a:lumMod val="95000"/>
                <a:lumOff val="5000"/>
              </a:schemeClr>
            </a:solidFill>
          </a:ln>
        </p:spPr>
        <p:style>
          <a:lnRef idx="2">
            <a:schemeClr val="accent6"/>
          </a:lnRef>
          <a:fillRef idx="1">
            <a:schemeClr val="lt1"/>
          </a:fillRef>
          <a:effectRef idx="0">
            <a:schemeClr val="accent6"/>
          </a:effectRef>
          <a:fontRef idx="minor">
            <a:schemeClr val="dk1"/>
          </a:fontRef>
        </p:style>
        <p:txBody>
          <a:bodyPr lIns="114300" tIns="114300" rIns="114300" bIns="114300" anchor="ctr">
            <a:normAutofit/>
          </a:bodyPr>
          <a:lstStyle/>
          <a:p>
            <a:pPr>
              <a:spcAft>
                <a:spcPts val="16"/>
              </a:spcAft>
            </a:pPr>
            <a:r>
              <a:rPr sz="1600" b="1">
                <a:solidFill>
                  <a:srgbClr val="FF0000"/>
                </a:solidFill>
              </a:rPr>
              <a:t>REPETITIVE MULTI-FILE REVIEW</a:t>
            </a:r>
          </a:p>
          <a:p>
            <a:pPr marL="18" indent="-10">
              <a:buChar char="•"/>
            </a:pPr>
            <a:r>
              <a:rPr sz="1400"/>
              <a:t>One observation spans several products</a:t>
            </a:r>
          </a:p>
          <a:p>
            <a:pPr marL="18" indent="-10">
              <a:buChar char="•"/>
            </a:pPr>
            <a:r>
              <a:rPr sz="1400"/>
              <a:t>Archive-level comparison is time-consuming</a:t>
            </a:r>
          </a:p>
          <a:p>
            <a:pPr marL="18" indent="-10">
              <a:buChar char="•"/>
            </a:pPr>
            <a:r>
              <a:rPr sz="1400"/>
              <a:t>Analyst workflows may vary</a:t>
            </a:r>
          </a:p>
        </p:txBody>
      </p:sp>
      <p:sp>
        <p:nvSpPr>
          <p:cNvPr id="3" name="Rectangle: Rounded Corners 2">
            <a:extLst>
              <a:ext uri="{FF2B5EF4-FFF2-40B4-BE49-F238E27FC236}">
                <a16:creationId xmlns:a16="http://schemas.microsoft.com/office/drawing/2014/main" id="{43C65088-8419-3CCC-5450-DA5BF5DDAC3F}"/>
              </a:ext>
            </a:extLst>
          </p:cNvPr>
          <p:cNvSpPr>
            <a:spLocks noGrp="1"/>
          </p:cNvSpPr>
          <p:nvPr/>
        </p:nvSpPr>
        <p:spPr>
          <a:xfrm>
            <a:off x="4185921" y="1513840"/>
            <a:ext cx="3576320" cy="1791940"/>
          </a:xfrm>
          <a:prstGeom prst="roundRect">
            <a:avLst/>
          </a:prstGeom>
        </p:spPr>
        <p:style>
          <a:lnRef idx="2">
            <a:schemeClr val="accent6"/>
          </a:lnRef>
          <a:fillRef idx="1">
            <a:schemeClr val="lt1"/>
          </a:fillRef>
          <a:effectRef idx="0">
            <a:schemeClr val="accent6"/>
          </a:effectRef>
          <a:fontRef idx="minor">
            <a:schemeClr val="dk1"/>
          </a:fontRef>
        </p:style>
        <p:txBody>
          <a:bodyPr lIns="114300" tIns="114300" rIns="114300" bIns="114300" anchor="ctr">
            <a:normAutofit/>
          </a:bodyPr>
          <a:lstStyle/>
          <a:p>
            <a:pPr>
              <a:spcAft>
                <a:spcPts val="16"/>
              </a:spcAft>
            </a:pPr>
            <a:r>
              <a:rPr sz="1600" b="1">
                <a:solidFill>
                  <a:srgbClr val="FF0000"/>
                </a:solidFill>
              </a:rPr>
              <a:t>UNLABELLED AND OPAQUE SCREENING</a:t>
            </a:r>
          </a:p>
          <a:p>
            <a:pPr marL="18" indent="-10">
              <a:buChar char="•"/>
            </a:pPr>
            <a:r>
              <a:rPr sz="1400"/>
              <a:t>Trusted anomaly labels are unavailable</a:t>
            </a:r>
          </a:p>
          <a:p>
            <a:pPr marL="18" indent="-10">
              <a:buChar char="•"/>
            </a:pPr>
            <a:r>
              <a:rPr sz="1400"/>
              <a:t>Generic scores may lack product meaning</a:t>
            </a:r>
          </a:p>
          <a:p>
            <a:pPr marL="18" indent="-10">
              <a:buChar char="•"/>
            </a:pPr>
            <a:r>
              <a:rPr sz="1400"/>
              <a:t>Small datasets can produce unstable rankings</a:t>
            </a:r>
          </a:p>
        </p:txBody>
      </p:sp>
      <p:sp>
        <p:nvSpPr>
          <p:cNvPr id="4" name="Rectangle: Rounded Corners 3">
            <a:extLst>
              <a:ext uri="{FF2B5EF4-FFF2-40B4-BE49-F238E27FC236}">
                <a16:creationId xmlns:a16="http://schemas.microsoft.com/office/drawing/2014/main" id="{8DAC366D-88E5-D033-F1C8-CC9976C6EBA2}"/>
              </a:ext>
            </a:extLst>
          </p:cNvPr>
          <p:cNvSpPr>
            <a:spLocks noGrp="1"/>
          </p:cNvSpPr>
          <p:nvPr/>
        </p:nvSpPr>
        <p:spPr>
          <a:xfrm>
            <a:off x="8249918" y="1513840"/>
            <a:ext cx="3576320" cy="1791940"/>
          </a:xfrm>
          <a:prstGeom prst="roundRect">
            <a:avLst/>
          </a:prstGeom>
        </p:spPr>
        <p:style>
          <a:lnRef idx="2">
            <a:schemeClr val="accent6"/>
          </a:lnRef>
          <a:fillRef idx="1">
            <a:schemeClr val="lt1"/>
          </a:fillRef>
          <a:effectRef idx="0">
            <a:schemeClr val="accent6"/>
          </a:effectRef>
          <a:fontRef idx="minor">
            <a:schemeClr val="dk1"/>
          </a:fontRef>
        </p:style>
        <p:txBody>
          <a:bodyPr lIns="114300" tIns="114300" rIns="114300" bIns="114300" anchor="ctr">
            <a:normAutofit/>
          </a:bodyPr>
          <a:lstStyle/>
          <a:p>
            <a:pPr>
              <a:spcAft>
                <a:spcPts val="16"/>
              </a:spcAft>
            </a:pPr>
            <a:r>
              <a:rPr sz="1600" b="1">
                <a:solidFill>
                  <a:srgbClr val="FF0000"/>
                </a:solidFill>
              </a:rPr>
              <a:t>PHYSICAL-CALIBRATION DEPENDENCE</a:t>
            </a:r>
          </a:p>
          <a:p>
            <a:pPr marL="18" indent="-10">
              <a:buChar char="•"/>
            </a:pPr>
            <a:r>
              <a:rPr sz="1400"/>
              <a:t>Statistical anomaly is not polarization</a:t>
            </a:r>
          </a:p>
          <a:p>
            <a:pPr marL="18" indent="-10">
              <a:buChar char="•"/>
            </a:pPr>
            <a:r>
              <a:rPr sz="1400"/>
              <a:t>WeightedRoll includes source and background</a:t>
            </a:r>
          </a:p>
          <a:p>
            <a:pPr marL="18" indent="-10">
              <a:buChar char="•"/>
            </a:pPr>
            <a:r>
              <a:rPr sz="1400"/>
              <a:t>Final PD/PA needs valid calibration</a:t>
            </a:r>
          </a:p>
        </p:txBody>
      </p:sp>
    </p:spTree>
    <p:extLst>
      <p:ext uri="{BB962C8B-B14F-4D97-AF65-F5344CB8AC3E}">
        <p14:creationId xmlns:p14="http://schemas.microsoft.com/office/powerpoint/2010/main" val="4614828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B14641E-B445-40C4-B19B-36F589BFBECC}"/>
              </a:ext>
            </a:extLst>
          </p:cNvPr>
          <p:cNvSpPr>
            <a:spLocks noGrp="1"/>
          </p:cNvSpPr>
          <p:nvPr>
            <p:ph type="title"/>
          </p:nvPr>
        </p:nvSpPr>
        <p:spPr>
          <a:xfrm>
            <a:off x="609600" y="235309"/>
            <a:ext cx="10972800" cy="1143000"/>
          </a:xfrm>
        </p:spPr>
        <p:txBody>
          <a:bodyPr/>
          <a:lstStyle/>
          <a:p>
            <a:r>
              <a:t>Research Problem, Aim and Objectives</a:t>
            </a:r>
          </a:p>
        </p:txBody>
      </p:sp>
      <p:sp>
        <p:nvSpPr>
          <p:cNvPr id="9" name="orange-rule-64-169">
            <a:extLst>
              <a:ext uri="{FF2B5EF4-FFF2-40B4-BE49-F238E27FC236}">
                <a16:creationId xmlns:a16="http://schemas.microsoft.com/office/drawing/2014/main" id="{B3906303-08AB-4D7E-A83B-4F94CC2C1D6A}"/>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C237943B-7BDD-4DBC-A0FA-C48150B73958}"/>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section-Formal problem">
            <a:extLst>
              <a:ext uri="{FF2B5EF4-FFF2-40B4-BE49-F238E27FC236}">
                <a16:creationId xmlns:a16="http://schemas.microsoft.com/office/drawing/2014/main" id="{D11326E7-9DE9-4310-A7FB-92C8B983E03E}"/>
              </a:ext>
            </a:extLst>
          </p:cNvPr>
          <p:cNvSpPr>
            <a:spLocks noGrp="1"/>
          </p:cNvSpPr>
          <p:nvPr/>
        </p:nvSpPr>
        <p:spPr>
          <a:xfrm>
            <a:off x="685800" y="1857375"/>
            <a:ext cx="49530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FORMAL PROBLEM</a:t>
            </a:r>
          </a:p>
        </p:txBody>
      </p:sp>
      <p:sp>
        <p:nvSpPr>
          <p:cNvPr id="12" name="problem-statement">
            <a:extLst>
              <a:ext uri="{FF2B5EF4-FFF2-40B4-BE49-F238E27FC236}">
                <a16:creationId xmlns:a16="http://schemas.microsoft.com/office/drawing/2014/main" id="{E5E1CB07-F774-4628-8A8B-3B8F020912DB}"/>
              </a:ext>
            </a:extLst>
          </p:cNvPr>
          <p:cNvSpPr>
            <a:spLocks noGrp="1"/>
          </p:cNvSpPr>
          <p:nvPr/>
        </p:nvSpPr>
        <p:spPr>
          <a:xfrm>
            <a:off x="685800" y="2190750"/>
            <a:ext cx="4905375" cy="1476375"/>
          </a:xfrm>
          <a:prstGeom prst="rect">
            <a:avLst/>
          </a:prstGeom>
          <a:noFill/>
          <a:ln w="0">
            <a:noFill/>
            <a:prstDash val="solid"/>
          </a:ln>
        </p:spPr>
        <p:txBody>
          <a:bodyPr wrap="square" lIns="47625" tIns="38100" rIns="47625" bIns="38100" anchor="t">
            <a:noAutofit/>
          </a:bodyPr>
          <a:lstStyle/>
          <a:p>
            <a:pPr algn="l">
              <a:defRPr sz="1575" b="0">
                <a:solidFill>
                  <a:srgbClr val="17212B"/>
                </a:solidFill>
                <a:latin typeface="Calibri"/>
                <a:ea typeface="Calibri"/>
                <a:cs typeface="Calibri"/>
              </a:defRPr>
            </a:pPr>
            <a:r>
              <a:rPr sz="1575" b="0">
                <a:solidFill>
                  <a:srgbClr val="17212B"/>
                </a:solidFill>
                <a:latin typeface="Calibri"/>
                <a:ea typeface="Calibri"/>
                <a:cs typeface="Calibri"/>
              </a:rPr>
              <a:t>How can multiple POLIX Level-2 products be analysed automatically, without trusted anomaly labels, to identify unusual observations and explain the responsible features/products—while keeping physical modulation evidence separate and presenting results for researcher review?</a:t>
            </a:r>
          </a:p>
        </p:txBody>
      </p:sp>
      <p:sp>
        <p:nvSpPr>
          <p:cNvPr id="13" name="section-Aim">
            <a:extLst>
              <a:ext uri="{FF2B5EF4-FFF2-40B4-BE49-F238E27FC236}">
                <a16:creationId xmlns:a16="http://schemas.microsoft.com/office/drawing/2014/main" id="{C4A50C93-96AC-47E7-AC38-BBB912733C4C}"/>
              </a:ext>
            </a:extLst>
          </p:cNvPr>
          <p:cNvSpPr>
            <a:spLocks noGrp="1"/>
          </p:cNvSpPr>
          <p:nvPr/>
        </p:nvSpPr>
        <p:spPr>
          <a:xfrm>
            <a:off x="6096000" y="1857375"/>
            <a:ext cx="4953000" cy="266700"/>
          </a:xfrm>
          <a:prstGeom prst="rect">
            <a:avLst/>
          </a:prstGeom>
          <a:noFill/>
          <a:ln w="0">
            <a:noFill/>
            <a:prstDash val="solid"/>
          </a:ln>
        </p:spPr>
        <p:txBody>
          <a:bodyPr wrap="square" lIns="19050" tIns="19050" rIns="19050" bIns="19050" anchor="ctr">
            <a:noAutofit/>
          </a:bodyPr>
          <a:lstStyle/>
          <a:p>
            <a:pPr algn="l">
              <a:defRPr sz="1200" b="1">
                <a:solidFill>
                  <a:srgbClr val="D95F02"/>
                </a:solidFill>
                <a:latin typeface="Calibri"/>
                <a:ea typeface="Calibri"/>
                <a:cs typeface="Calibri"/>
              </a:defRPr>
            </a:pPr>
            <a:r>
              <a:rPr sz="1200" b="1">
                <a:solidFill>
                  <a:srgbClr val="D95F02"/>
                </a:solidFill>
                <a:latin typeface="Calibri"/>
                <a:ea typeface="Calibri"/>
                <a:cs typeface="Calibri"/>
              </a:rPr>
              <a:t>AIM</a:t>
            </a:r>
          </a:p>
        </p:txBody>
      </p:sp>
      <p:sp>
        <p:nvSpPr>
          <p:cNvPr id="14" name="aim-statement">
            <a:extLst>
              <a:ext uri="{FF2B5EF4-FFF2-40B4-BE49-F238E27FC236}">
                <a16:creationId xmlns:a16="http://schemas.microsoft.com/office/drawing/2014/main" id="{15F024FB-48AE-4088-BD95-E8F2BB49BFA0}"/>
              </a:ext>
            </a:extLst>
          </p:cNvPr>
          <p:cNvSpPr>
            <a:spLocks noGrp="1"/>
          </p:cNvSpPr>
          <p:nvPr/>
        </p:nvSpPr>
        <p:spPr>
          <a:xfrm>
            <a:off x="6096000" y="2190750"/>
            <a:ext cx="4953000" cy="1476375"/>
          </a:xfrm>
          <a:prstGeom prst="rect">
            <a:avLst/>
          </a:prstGeom>
          <a:noFill/>
          <a:ln w="0">
            <a:noFill/>
            <a:prstDash val="solid"/>
          </a:ln>
        </p:spPr>
        <p:txBody>
          <a:bodyPr wrap="square" lIns="47625" tIns="38100" rIns="47625" bIns="38100" anchor="ctr">
            <a:noAutofit/>
          </a:bodyPr>
          <a:lstStyle/>
          <a:p>
            <a:pPr algn="l">
              <a:defRPr sz="1650" b="1">
                <a:solidFill>
                  <a:srgbClr val="17365D"/>
                </a:solidFill>
                <a:latin typeface="Calibri"/>
                <a:ea typeface="Calibri"/>
                <a:cs typeface="Calibri"/>
              </a:defRPr>
            </a:pPr>
            <a:r>
              <a:rPr sz="1650" b="1" dirty="0">
                <a:solidFill>
                  <a:srgbClr val="17365D"/>
                </a:solidFill>
                <a:latin typeface="Calibri"/>
                <a:ea typeface="Calibri"/>
                <a:cs typeface="Calibri"/>
              </a:rPr>
              <a:t>The project aims to develop an explainable, unsupervised framework for screening POLIX Level-2 observations and supporting cautious, traceable scientific interpretation.</a:t>
            </a:r>
          </a:p>
        </p:txBody>
      </p:sp>
      <p:sp>
        <p:nvSpPr>
          <p:cNvPr id="15" name="objective-rule">
            <a:extLst>
              <a:ext uri="{FF2B5EF4-FFF2-40B4-BE49-F238E27FC236}">
                <a16:creationId xmlns:a16="http://schemas.microsoft.com/office/drawing/2014/main" id="{0F3FB5FF-256A-4997-973E-823E622CF651}"/>
              </a:ext>
            </a:extLst>
          </p:cNvPr>
          <p:cNvSpPr>
            <a:spLocks noGrp="1"/>
          </p:cNvSpPr>
          <p:nvPr/>
        </p:nvSpPr>
        <p:spPr>
          <a:xfrm>
            <a:off x="685800" y="3857625"/>
            <a:ext cx="10363200" cy="19050"/>
          </a:xfrm>
          <a:prstGeom prst="rect">
            <a:avLst/>
          </a:prstGeom>
          <a:solidFill>
            <a:srgbClr val="CBD5E1"/>
          </a:solidFill>
          <a:ln w="0">
            <a:noFill/>
            <a:prstDash val="solid"/>
          </a:ln>
        </p:spPr>
      </p:sp>
      <p:sp>
        <p:nvSpPr>
          <p:cNvPr id="16" name="section-Proposed objectives">
            <a:extLst>
              <a:ext uri="{FF2B5EF4-FFF2-40B4-BE49-F238E27FC236}">
                <a16:creationId xmlns:a16="http://schemas.microsoft.com/office/drawing/2014/main" id="{8ABC7757-0228-4233-93E6-1533F6F5A095}"/>
              </a:ext>
            </a:extLst>
          </p:cNvPr>
          <p:cNvSpPr>
            <a:spLocks noGrp="1"/>
          </p:cNvSpPr>
          <p:nvPr/>
        </p:nvSpPr>
        <p:spPr>
          <a:xfrm>
            <a:off x="685800" y="4000500"/>
            <a:ext cx="103632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PROPOSED OBJECTIVES</a:t>
            </a:r>
          </a:p>
        </p:txBody>
      </p:sp>
      <p:sp>
        <p:nvSpPr>
          <p:cNvPr id="17" name="objectives-left">
            <a:extLst>
              <a:ext uri="{FF2B5EF4-FFF2-40B4-BE49-F238E27FC236}">
                <a16:creationId xmlns:a16="http://schemas.microsoft.com/office/drawing/2014/main" id="{6AA22F2D-9E95-4DE7-BE5E-72F5ACCB85FE}"/>
              </a:ext>
            </a:extLst>
          </p:cNvPr>
          <p:cNvSpPr>
            <a:spLocks noGrp="1"/>
          </p:cNvSpPr>
          <p:nvPr/>
        </p:nvSpPr>
        <p:spPr>
          <a:xfrm>
            <a:off x="781050" y="4362450"/>
            <a:ext cx="5000625" cy="1524000"/>
          </a:xfrm>
          <a:prstGeom prst="rect">
            <a:avLst/>
          </a:prstGeom>
          <a:noFill/>
          <a:ln w="0">
            <a:noFill/>
            <a:prstDash val="solid"/>
          </a:ln>
        </p:spPr>
        <p:txBody>
          <a:bodyPr wrap="square" lIns="47625" tIns="38100" rIns="47625" bIns="38100" anchor="t">
            <a:noAutofit/>
          </a:bodyPr>
          <a:lstStyle/>
          <a:p>
            <a:pPr algn="l">
              <a:defRPr sz="1388" b="0">
                <a:solidFill>
                  <a:srgbClr val="17212B"/>
                </a:solidFill>
                <a:latin typeface="Calibri"/>
                <a:ea typeface="Calibri"/>
                <a:cs typeface="Calibri"/>
              </a:defRPr>
            </a:pPr>
            <a:r>
              <a:rPr sz="1388" b="0">
                <a:solidFill>
                  <a:srgbClr val="17212B"/>
                </a:solidFill>
                <a:latin typeface="Calibri"/>
                <a:ea typeface="Calibri"/>
                <a:cs typeface="Calibri"/>
              </a:rPr>
              <a:t>1  Study XPoSat/POLIX and Level-2 FITS structure</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2  Define scientifically meaningful features</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3  Compare source and blank-sky observations</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4  Apply PCA and clustering where justified</a:t>
            </a:r>
          </a:p>
        </p:txBody>
      </p:sp>
      <p:sp>
        <p:nvSpPr>
          <p:cNvPr id="18" name="objectives-right">
            <a:extLst>
              <a:ext uri="{FF2B5EF4-FFF2-40B4-BE49-F238E27FC236}">
                <a16:creationId xmlns:a16="http://schemas.microsoft.com/office/drawing/2014/main" id="{0E0109BD-D045-4065-9550-10DBFC9940CE}"/>
              </a:ext>
            </a:extLst>
          </p:cNvPr>
          <p:cNvSpPr>
            <a:spLocks noGrp="1"/>
          </p:cNvSpPr>
          <p:nvPr/>
        </p:nvSpPr>
        <p:spPr>
          <a:xfrm>
            <a:off x="6238875" y="4362450"/>
            <a:ext cx="4953000" cy="1524000"/>
          </a:xfrm>
          <a:prstGeom prst="rect">
            <a:avLst/>
          </a:prstGeom>
          <a:noFill/>
          <a:ln w="0">
            <a:noFill/>
            <a:prstDash val="solid"/>
          </a:ln>
        </p:spPr>
        <p:txBody>
          <a:bodyPr wrap="square" lIns="47625" tIns="38100" rIns="47625" bIns="38100" anchor="t">
            <a:noAutofit/>
          </a:bodyPr>
          <a:lstStyle/>
          <a:p>
            <a:pPr algn="l">
              <a:defRPr sz="1388" b="0">
                <a:solidFill>
                  <a:srgbClr val="17212B"/>
                </a:solidFill>
                <a:latin typeface="Calibri"/>
                <a:ea typeface="Calibri"/>
                <a:cs typeface="Calibri"/>
              </a:defRPr>
            </a:pPr>
            <a:r>
              <a:rPr sz="1388" b="0">
                <a:solidFill>
                  <a:srgbClr val="17212B"/>
                </a:solidFill>
                <a:latin typeface="Calibri"/>
                <a:ea typeface="Calibri"/>
                <a:cs typeface="Calibri"/>
              </a:rPr>
              <a:t>5  Rank unusual observations with unsupervised detection</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6  Explain evidence at feature and product level</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7  Treat WeightedRoll as an independent diagnostic</a:t>
            </a:r>
          </a:p>
          <a:p>
            <a:pPr algn="l">
              <a:defRPr sz="1388" b="0">
                <a:solidFill>
                  <a:srgbClr val="17212B"/>
                </a:solidFill>
                <a:latin typeface="Calibri"/>
                <a:ea typeface="Calibri"/>
                <a:cs typeface="Calibri"/>
              </a:defRPr>
            </a:pPr>
            <a:r>
              <a:rPr sz="1388" b="0">
                <a:solidFill>
                  <a:srgbClr val="17212B"/>
                </a:solidFill>
                <a:latin typeface="Calibri"/>
                <a:ea typeface="Calibri"/>
                <a:cs typeface="Calibri"/>
              </a:rPr>
              <a:t>8  Provide an accessible researcher-oriented interface</a:t>
            </a:r>
          </a:p>
        </p:txBody>
      </p:sp>
    </p:spTree>
    <p:extLst>
      <p:ext uri="{BB962C8B-B14F-4D97-AF65-F5344CB8AC3E}">
        <p14:creationId xmlns:p14="http://schemas.microsoft.com/office/powerpoint/2010/main" val="3951114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53FB2A-5D68-4CE2-88E0-C3E867CD22E3}"/>
              </a:ext>
            </a:extLst>
          </p:cNvPr>
          <p:cNvSpPr>
            <a:spLocks noGrp="1"/>
          </p:cNvSpPr>
          <p:nvPr>
            <p:ph type="title"/>
          </p:nvPr>
        </p:nvSpPr>
        <p:spPr>
          <a:xfrm>
            <a:off x="609600" y="235309"/>
            <a:ext cx="10972800" cy="1143000"/>
          </a:xfrm>
        </p:spPr>
        <p:txBody>
          <a:bodyPr/>
          <a:lstStyle/>
          <a:p>
            <a:r>
              <a:rPr dirty="0">
                <a:solidFill>
                  <a:srgbClr val="0070C0"/>
                </a:solidFill>
              </a:rPr>
              <a:t>ADVANTAGES OF PROPOSED SYSTEM</a:t>
            </a:r>
          </a:p>
        </p:txBody>
      </p:sp>
      <p:sp>
        <p:nvSpPr>
          <p:cNvPr id="3" name="Google Shape;9312;p128">
            <a:extLst>
              <a:ext uri="{FF2B5EF4-FFF2-40B4-BE49-F238E27FC236}">
                <a16:creationId xmlns:a16="http://schemas.microsoft.com/office/drawing/2014/main" id="{A9772BC1-9D61-0D7C-E032-678893783035}"/>
              </a:ext>
            </a:extLst>
          </p:cNvPr>
          <p:cNvSpPr>
            <a:spLocks noGrp="1"/>
          </p:cNvSpPr>
          <p:nvPr/>
        </p:nvSpPr>
        <p:spPr>
          <a:xfrm>
            <a:off x="590530" y="1213093"/>
            <a:ext cx="2458313" cy="1676742"/>
          </a:xfrm>
          <a:custGeom>
            <a:avLst/>
            <a:gdLst/>
            <a:ahLst/>
            <a:cxnLst/>
            <a:rect l="l" t="t" r="r" b="b"/>
            <a:pathLst>
              <a:path w="65726" h="26923">
                <a:moveTo>
                  <a:pt x="0" y="0"/>
                </a:moveTo>
                <a:lnTo>
                  <a:pt x="10782" y="13477"/>
                </a:lnTo>
                <a:lnTo>
                  <a:pt x="0" y="26923"/>
                </a:lnTo>
                <a:lnTo>
                  <a:pt x="54943" y="26923"/>
                </a:lnTo>
                <a:lnTo>
                  <a:pt x="65725" y="13477"/>
                </a:lnTo>
                <a:lnTo>
                  <a:pt x="54943" y="0"/>
                </a:ln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4" name="Google Shape;9313;p128">
            <a:extLst>
              <a:ext uri="{FF2B5EF4-FFF2-40B4-BE49-F238E27FC236}">
                <a16:creationId xmlns:a16="http://schemas.microsoft.com/office/drawing/2014/main" id="{0E860A4A-8964-3C4B-B030-B8F557C839DC}"/>
              </a:ext>
            </a:extLst>
          </p:cNvPr>
          <p:cNvSpPr>
            <a:spLocks noGrp="1"/>
          </p:cNvSpPr>
          <p:nvPr/>
        </p:nvSpPr>
        <p:spPr>
          <a:xfrm>
            <a:off x="2747517" y="1213093"/>
            <a:ext cx="2604303" cy="1676742"/>
          </a:xfrm>
          <a:custGeom>
            <a:avLst/>
            <a:gdLst/>
            <a:ahLst/>
            <a:cxnLst/>
            <a:rect l="l" t="t" r="r" b="b"/>
            <a:pathLst>
              <a:path w="65757" h="26923">
                <a:moveTo>
                  <a:pt x="0" y="0"/>
                </a:moveTo>
                <a:lnTo>
                  <a:pt x="10782" y="13477"/>
                </a:lnTo>
                <a:lnTo>
                  <a:pt x="0" y="26923"/>
                </a:lnTo>
                <a:lnTo>
                  <a:pt x="54975" y="26923"/>
                </a:lnTo>
                <a:lnTo>
                  <a:pt x="65757" y="13477"/>
                </a:lnTo>
                <a:lnTo>
                  <a:pt x="54975" y="0"/>
                </a:ln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5" name="Google Shape;9314;p128">
            <a:extLst>
              <a:ext uri="{FF2B5EF4-FFF2-40B4-BE49-F238E27FC236}">
                <a16:creationId xmlns:a16="http://schemas.microsoft.com/office/drawing/2014/main" id="{0A1968F8-319F-27E4-1F06-8D5626ACEB3B}"/>
              </a:ext>
            </a:extLst>
          </p:cNvPr>
          <p:cNvSpPr>
            <a:spLocks noGrp="1"/>
          </p:cNvSpPr>
          <p:nvPr/>
        </p:nvSpPr>
        <p:spPr>
          <a:xfrm>
            <a:off x="5085017" y="1213093"/>
            <a:ext cx="2394216" cy="1676742"/>
          </a:xfrm>
          <a:custGeom>
            <a:avLst/>
            <a:gdLst/>
            <a:ahLst/>
            <a:cxnLst/>
            <a:rect l="l" t="t" r="r" b="b"/>
            <a:pathLst>
              <a:path w="65757" h="26923">
                <a:moveTo>
                  <a:pt x="0" y="0"/>
                </a:moveTo>
                <a:lnTo>
                  <a:pt x="10782" y="13477"/>
                </a:lnTo>
                <a:lnTo>
                  <a:pt x="0" y="26923"/>
                </a:lnTo>
                <a:lnTo>
                  <a:pt x="54975" y="26923"/>
                </a:lnTo>
                <a:lnTo>
                  <a:pt x="65757" y="13477"/>
                </a:lnTo>
                <a:lnTo>
                  <a:pt x="54975" y="0"/>
                </a:ln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6" name="Google Shape;9315;p128">
            <a:extLst>
              <a:ext uri="{FF2B5EF4-FFF2-40B4-BE49-F238E27FC236}">
                <a16:creationId xmlns:a16="http://schemas.microsoft.com/office/drawing/2014/main" id="{F602B13D-4D2B-CF1A-55C0-3F2E76588A0A}"/>
              </a:ext>
            </a:extLst>
          </p:cNvPr>
          <p:cNvSpPr>
            <a:spLocks noGrp="1"/>
          </p:cNvSpPr>
          <p:nvPr/>
        </p:nvSpPr>
        <p:spPr>
          <a:xfrm>
            <a:off x="9444310" y="1213093"/>
            <a:ext cx="2556635" cy="1676742"/>
          </a:xfrm>
          <a:custGeom>
            <a:avLst/>
            <a:gdLst/>
            <a:ahLst/>
            <a:cxnLst/>
            <a:rect l="l" t="t" r="r" b="b"/>
            <a:pathLst>
              <a:path w="65757" h="26923">
                <a:moveTo>
                  <a:pt x="0" y="0"/>
                </a:moveTo>
                <a:lnTo>
                  <a:pt x="10782" y="13477"/>
                </a:lnTo>
                <a:lnTo>
                  <a:pt x="0" y="26923"/>
                </a:lnTo>
                <a:lnTo>
                  <a:pt x="54975" y="26923"/>
                </a:lnTo>
                <a:lnTo>
                  <a:pt x="65757" y="13477"/>
                </a:lnTo>
                <a:lnTo>
                  <a:pt x="54975" y="0"/>
                </a:ln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7" name="Google Shape;9316;p128">
            <a:extLst>
              <a:ext uri="{FF2B5EF4-FFF2-40B4-BE49-F238E27FC236}">
                <a16:creationId xmlns:a16="http://schemas.microsoft.com/office/drawing/2014/main" id="{A297BD7F-2CAE-CC34-2390-9F5CE1E21EE9}"/>
              </a:ext>
            </a:extLst>
          </p:cNvPr>
          <p:cNvSpPr>
            <a:spLocks noGrp="1"/>
          </p:cNvSpPr>
          <p:nvPr/>
        </p:nvSpPr>
        <p:spPr>
          <a:xfrm>
            <a:off x="7305270" y="1244663"/>
            <a:ext cx="2394216" cy="1676742"/>
          </a:xfrm>
          <a:custGeom>
            <a:avLst/>
            <a:gdLst/>
            <a:ahLst/>
            <a:cxnLst/>
            <a:rect l="l" t="t" r="r" b="b"/>
            <a:pathLst>
              <a:path w="65726" h="26923">
                <a:moveTo>
                  <a:pt x="1" y="0"/>
                </a:moveTo>
                <a:lnTo>
                  <a:pt x="10751" y="13477"/>
                </a:lnTo>
                <a:lnTo>
                  <a:pt x="1" y="26923"/>
                </a:lnTo>
                <a:lnTo>
                  <a:pt x="54944" y="26923"/>
                </a:lnTo>
                <a:lnTo>
                  <a:pt x="65726" y="13477"/>
                </a:lnTo>
                <a:lnTo>
                  <a:pt x="54944" y="0"/>
                </a:ln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1" name="TextBox 10">
            <a:extLst>
              <a:ext uri="{FF2B5EF4-FFF2-40B4-BE49-F238E27FC236}">
                <a16:creationId xmlns:a16="http://schemas.microsoft.com/office/drawing/2014/main" id="{85D65D9B-6070-7288-F2C0-F7E07381CE19}"/>
              </a:ext>
            </a:extLst>
          </p:cNvPr>
          <p:cNvSpPr>
            <a:spLocks noGrp="1"/>
          </p:cNvSpPr>
          <p:nvPr/>
        </p:nvSpPr>
        <p:spPr>
          <a:xfrm>
            <a:off x="1182547" y="1185916"/>
            <a:ext cx="1652793" cy="1676741"/>
          </a:xfrm>
          <a:prstGeom prst="rect">
            <a:avLst/>
          </a:prstGeom>
          <a:noFill/>
        </p:spPr>
        <p:txBody>
          <a:bodyPr wrap="square" anchor="ctr">
            <a:normAutofit/>
          </a:bodyPr>
          <a:lstStyle/>
          <a:p>
            <a:pPr algn="ctr"/>
            <a:r>
              <a:rPr sz="1700" b="1"/>
              <a:t>Multi-Product
Screening</a:t>
            </a:r>
          </a:p>
        </p:txBody>
      </p:sp>
      <p:sp>
        <p:nvSpPr>
          <p:cNvPr id="13" name="TextBox 12">
            <a:extLst>
              <a:ext uri="{FF2B5EF4-FFF2-40B4-BE49-F238E27FC236}">
                <a16:creationId xmlns:a16="http://schemas.microsoft.com/office/drawing/2014/main" id="{18D3AA3D-EAF9-9C98-F4C6-9F3074699EA1}"/>
              </a:ext>
            </a:extLst>
          </p:cNvPr>
          <p:cNvSpPr>
            <a:spLocks noGrp="1"/>
          </p:cNvSpPr>
          <p:nvPr/>
        </p:nvSpPr>
        <p:spPr>
          <a:xfrm>
            <a:off x="3192753" y="1215555"/>
            <a:ext cx="1708022" cy="1711366"/>
          </a:xfrm>
          <a:prstGeom prst="rect">
            <a:avLst/>
          </a:prstGeom>
          <a:noFill/>
        </p:spPr>
        <p:txBody>
          <a:bodyPr wrap="square" anchor="ctr">
            <a:normAutofit/>
          </a:bodyPr>
          <a:lstStyle/>
          <a:p>
            <a:pPr algn="ctr"/>
            <a:r>
              <a:rPr sz="1700" b="1"/>
              <a:t>Prioritize
Observations</a:t>
            </a:r>
          </a:p>
        </p:txBody>
      </p:sp>
      <p:sp>
        <p:nvSpPr>
          <p:cNvPr id="15" name="TextBox 14">
            <a:extLst>
              <a:ext uri="{FF2B5EF4-FFF2-40B4-BE49-F238E27FC236}">
                <a16:creationId xmlns:a16="http://schemas.microsoft.com/office/drawing/2014/main" id="{7D0EB5DA-47D8-8CF2-8629-B3221E44B7A5}"/>
              </a:ext>
            </a:extLst>
          </p:cNvPr>
          <p:cNvSpPr>
            <a:spLocks noGrp="1"/>
          </p:cNvSpPr>
          <p:nvPr/>
        </p:nvSpPr>
        <p:spPr>
          <a:xfrm>
            <a:off x="5205830" y="1423304"/>
            <a:ext cx="2394216" cy="1295868"/>
          </a:xfrm>
          <a:prstGeom prst="rect">
            <a:avLst/>
          </a:prstGeom>
          <a:noFill/>
        </p:spPr>
        <p:txBody>
          <a:bodyPr wrap="square" anchor="ctr">
            <a:normAutofit/>
          </a:bodyPr>
          <a:lstStyle/>
          <a:p>
            <a:pPr algn="ctr"/>
            <a:r>
              <a:rPr sz="1700" b="1" dirty="0"/>
              <a:t>Product-Aware
Evidence</a:t>
            </a:r>
          </a:p>
        </p:txBody>
      </p:sp>
      <p:sp>
        <p:nvSpPr>
          <p:cNvPr id="17" name="TextBox 16">
            <a:extLst>
              <a:ext uri="{FF2B5EF4-FFF2-40B4-BE49-F238E27FC236}">
                <a16:creationId xmlns:a16="http://schemas.microsoft.com/office/drawing/2014/main" id="{30EA4696-B490-29EF-231E-56D961930A99}"/>
              </a:ext>
            </a:extLst>
          </p:cNvPr>
          <p:cNvSpPr>
            <a:spLocks noGrp="1"/>
          </p:cNvSpPr>
          <p:nvPr/>
        </p:nvSpPr>
        <p:spPr>
          <a:xfrm>
            <a:off x="7351645" y="1521662"/>
            <a:ext cx="2556636" cy="1122743"/>
          </a:xfrm>
          <a:prstGeom prst="rect">
            <a:avLst/>
          </a:prstGeom>
          <a:noFill/>
        </p:spPr>
        <p:txBody>
          <a:bodyPr wrap="square" anchor="ctr">
            <a:normAutofit/>
          </a:bodyPr>
          <a:lstStyle/>
          <a:p>
            <a:pPr algn="ctr"/>
            <a:r>
              <a:rPr sz="1700" b="1" dirty="0"/>
              <a:t>Physical
Diagnostic</a:t>
            </a:r>
          </a:p>
        </p:txBody>
      </p:sp>
      <p:sp>
        <p:nvSpPr>
          <p:cNvPr id="19" name="TextBox 18">
            <a:extLst>
              <a:ext uri="{FF2B5EF4-FFF2-40B4-BE49-F238E27FC236}">
                <a16:creationId xmlns:a16="http://schemas.microsoft.com/office/drawing/2014/main" id="{631A69D1-C0E8-699A-E17D-3E30E2CFC5B7}"/>
              </a:ext>
            </a:extLst>
          </p:cNvPr>
          <p:cNvSpPr>
            <a:spLocks noGrp="1"/>
          </p:cNvSpPr>
          <p:nvPr/>
        </p:nvSpPr>
        <p:spPr>
          <a:xfrm>
            <a:off x="9565123" y="1490092"/>
            <a:ext cx="2660788" cy="1122743"/>
          </a:xfrm>
          <a:prstGeom prst="rect">
            <a:avLst/>
          </a:prstGeom>
          <a:noFill/>
        </p:spPr>
        <p:txBody>
          <a:bodyPr wrap="square" anchor="ctr">
            <a:normAutofit/>
          </a:bodyPr>
          <a:lstStyle/>
          <a:p>
            <a:pPr algn="ctr"/>
            <a:r>
              <a:rPr sz="1700" b="1" dirty="0"/>
              <a:t>Reproducible
Workflow</a:t>
            </a:r>
          </a:p>
        </p:txBody>
      </p:sp>
      <p:sp>
        <p:nvSpPr>
          <p:cNvPr id="22" name="Rectangle: Rounded Corners 21">
            <a:extLst>
              <a:ext uri="{FF2B5EF4-FFF2-40B4-BE49-F238E27FC236}">
                <a16:creationId xmlns:a16="http://schemas.microsoft.com/office/drawing/2014/main" id="{16D9E1D5-B409-E71F-39E2-C39BC2DCB84A}"/>
              </a:ext>
            </a:extLst>
          </p:cNvPr>
          <p:cNvSpPr>
            <a:spLocks noGrp="1"/>
          </p:cNvSpPr>
          <p:nvPr/>
        </p:nvSpPr>
        <p:spPr>
          <a:xfrm>
            <a:off x="873854" y="3146996"/>
            <a:ext cx="1995098" cy="2870059"/>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r>
              <a:rPr sz="1400" b="1"/>
              <a:t>1. Multi-Product Screening</a:t>
            </a:r>
          </a:p>
          <a:p>
            <a:r>
              <a:rPr sz="1400"/>
              <a:t>Combines interpretable summaries from related Level-2 products instead of examining each file in isolation.</a:t>
            </a:r>
          </a:p>
        </p:txBody>
      </p:sp>
      <p:sp>
        <p:nvSpPr>
          <p:cNvPr id="23" name="Rectangle: Rounded Corners 22">
            <a:extLst>
              <a:ext uri="{FF2B5EF4-FFF2-40B4-BE49-F238E27FC236}">
                <a16:creationId xmlns:a16="http://schemas.microsoft.com/office/drawing/2014/main" id="{97907C6B-E4DA-48DD-47A1-AE88CC67D1F0}"/>
              </a:ext>
            </a:extLst>
          </p:cNvPr>
          <p:cNvSpPr>
            <a:spLocks noGrp="1"/>
          </p:cNvSpPr>
          <p:nvPr/>
        </p:nvSpPr>
        <p:spPr>
          <a:xfrm>
            <a:off x="2993088" y="3146996"/>
            <a:ext cx="1995098" cy="2870059"/>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r>
              <a:rPr sz="1400" b="1"/>
              <a:t>2. Observation Prioritization</a:t>
            </a:r>
          </a:p>
          <a:p>
            <a:r>
              <a:rPr sz="1400"/>
              <a:t>Ranks observations for expert review without requiring trusted anomaly labels or source classes.</a:t>
            </a:r>
          </a:p>
        </p:txBody>
      </p:sp>
      <p:sp>
        <p:nvSpPr>
          <p:cNvPr id="24" name="Rectangle: Rounded Corners 23">
            <a:extLst>
              <a:ext uri="{FF2B5EF4-FFF2-40B4-BE49-F238E27FC236}">
                <a16:creationId xmlns:a16="http://schemas.microsoft.com/office/drawing/2014/main" id="{A262561B-F9BB-CA12-478A-BB62F1AA0668}"/>
              </a:ext>
            </a:extLst>
          </p:cNvPr>
          <p:cNvSpPr>
            <a:spLocks noGrp="1"/>
          </p:cNvSpPr>
          <p:nvPr/>
        </p:nvSpPr>
        <p:spPr>
          <a:xfrm>
            <a:off x="5189229" y="3146996"/>
            <a:ext cx="2093462" cy="2870059"/>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r>
              <a:rPr sz="1400" b="1"/>
              <a:t>3. Product-Aware Evidence</a:t>
            </a:r>
          </a:p>
          <a:p>
            <a:r>
              <a:rPr sz="1400"/>
              <a:t>Connects unusualness to contributing features, measurement meaning and original FITS product families.</a:t>
            </a:r>
          </a:p>
        </p:txBody>
      </p:sp>
      <p:sp>
        <p:nvSpPr>
          <p:cNvPr id="25" name="Rectangle: Rounded Corners 24">
            <a:extLst>
              <a:ext uri="{FF2B5EF4-FFF2-40B4-BE49-F238E27FC236}">
                <a16:creationId xmlns:a16="http://schemas.microsoft.com/office/drawing/2014/main" id="{63C8DE46-F113-09B6-F6E0-3937AC4219C6}"/>
              </a:ext>
            </a:extLst>
          </p:cNvPr>
          <p:cNvSpPr>
            <a:spLocks noGrp="1"/>
          </p:cNvSpPr>
          <p:nvPr/>
        </p:nvSpPr>
        <p:spPr>
          <a:xfrm>
            <a:off x="7509490" y="3146996"/>
            <a:ext cx="1904500" cy="287005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r>
              <a:rPr sz="1400" b="1"/>
              <a:t>4. Independent Physical Check</a:t>
            </a:r>
          </a:p>
          <a:p>
            <a:r>
              <a:rPr sz="1400"/>
              <a:t>Keeps WeightedRoll and blank-sky modulation evidence separate from the primary anomaly features.</a:t>
            </a:r>
          </a:p>
        </p:txBody>
      </p:sp>
      <p:sp>
        <p:nvSpPr>
          <p:cNvPr id="26" name="Rectangle: Rounded Corners 25">
            <a:extLst>
              <a:ext uri="{FF2B5EF4-FFF2-40B4-BE49-F238E27FC236}">
                <a16:creationId xmlns:a16="http://schemas.microsoft.com/office/drawing/2014/main" id="{159480CE-CA08-89EF-D199-86D4EE5E417C}"/>
              </a:ext>
            </a:extLst>
          </p:cNvPr>
          <p:cNvSpPr>
            <a:spLocks noGrp="1"/>
          </p:cNvSpPr>
          <p:nvPr/>
        </p:nvSpPr>
        <p:spPr>
          <a:xfrm>
            <a:off x="9776223" y="3146996"/>
            <a:ext cx="1904500" cy="287005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r>
              <a:rPr sz="1400" b="1"/>
              <a:t>5. Reproducible &amp; Extensible</a:t>
            </a:r>
          </a:p>
          <a:p>
            <a:r>
              <a:rPr sz="1400"/>
              <a:t>Supports versioned feature definitions and future observations, calibration releases and expert feedback.</a:t>
            </a:r>
          </a:p>
        </p:txBody>
      </p:sp>
    </p:spTree>
    <p:extLst>
      <p:ext uri="{BB962C8B-B14F-4D97-AF65-F5344CB8AC3E}">
        <p14:creationId xmlns:p14="http://schemas.microsoft.com/office/powerpoint/2010/main" val="4143154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E6E3A44-4995-9E09-121D-09AD8BD12171}"/>
              </a:ext>
            </a:extLst>
          </p:cNvPr>
          <p:cNvSpPr>
            <a:spLocks noGrp="1"/>
          </p:cNvSpPr>
          <p:nvPr>
            <p:ph type="title"/>
          </p:nvPr>
        </p:nvSpPr>
        <p:spPr>
          <a:xfrm>
            <a:off x="609600" y="235309"/>
            <a:ext cx="10972800" cy="1143000"/>
          </a:xfrm>
        </p:spPr>
        <p:txBody>
          <a:bodyPr/>
          <a:lstStyle/>
          <a:p>
            <a:r>
              <a:rPr>
                <a:solidFill>
                  <a:srgbClr val="0070C0"/>
                </a:solidFill>
              </a:rPr>
              <a:t>DISADVANTAGES / EXPECTED LIMITATIONS</a:t>
            </a:r>
          </a:p>
        </p:txBody>
      </p:sp>
      <p:sp>
        <p:nvSpPr>
          <p:cNvPr id="4" name="Google Shape;10500;p131">
            <a:extLst>
              <a:ext uri="{FF2B5EF4-FFF2-40B4-BE49-F238E27FC236}">
                <a16:creationId xmlns:a16="http://schemas.microsoft.com/office/drawing/2014/main" id="{D975F2D5-4AEF-751C-8A83-3D9A4C5FC5E2}"/>
              </a:ext>
            </a:extLst>
          </p:cNvPr>
          <p:cNvSpPr>
            <a:spLocks noGrp="1"/>
          </p:cNvSpPr>
          <p:nvPr/>
        </p:nvSpPr>
        <p:spPr>
          <a:xfrm>
            <a:off x="3481441" y="2032261"/>
            <a:ext cx="5393283" cy="786110"/>
          </a:xfrm>
          <a:custGeom>
            <a:avLst/>
            <a:gdLst/>
            <a:ahLst/>
            <a:cxnLst/>
            <a:rect l="l" t="t" r="r" b="b"/>
            <a:pathLst>
              <a:path w="117257" h="25297">
                <a:moveTo>
                  <a:pt x="1" y="0"/>
                </a:moveTo>
                <a:lnTo>
                  <a:pt x="14647" y="25297"/>
                </a:lnTo>
                <a:lnTo>
                  <a:pt x="102066" y="25297"/>
                </a:lnTo>
                <a:lnTo>
                  <a:pt x="117257" y="0"/>
                </a:ln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5" name="Google Shape;10501;p131">
            <a:extLst>
              <a:ext uri="{FF2B5EF4-FFF2-40B4-BE49-F238E27FC236}">
                <a16:creationId xmlns:a16="http://schemas.microsoft.com/office/drawing/2014/main" id="{2A386C42-A882-E6E3-F988-3E8E8E388F3B}"/>
              </a:ext>
            </a:extLst>
          </p:cNvPr>
          <p:cNvSpPr>
            <a:spLocks noGrp="1"/>
          </p:cNvSpPr>
          <p:nvPr/>
        </p:nvSpPr>
        <p:spPr>
          <a:xfrm>
            <a:off x="3983784" y="2818337"/>
            <a:ext cx="4207614" cy="785488"/>
          </a:xfrm>
          <a:custGeom>
            <a:avLst/>
            <a:gdLst/>
            <a:ahLst/>
            <a:cxnLst/>
            <a:rect l="l" t="t" r="r" b="b"/>
            <a:pathLst>
              <a:path w="91479" h="25277">
                <a:moveTo>
                  <a:pt x="1" y="1"/>
                </a:moveTo>
                <a:lnTo>
                  <a:pt x="14647" y="25276"/>
                </a:lnTo>
                <a:lnTo>
                  <a:pt x="76602" y="25276"/>
                </a:lnTo>
                <a:lnTo>
                  <a:pt x="91479" y="1"/>
                </a:ln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6" name="Google Shape;10502;p131">
            <a:extLst>
              <a:ext uri="{FF2B5EF4-FFF2-40B4-BE49-F238E27FC236}">
                <a16:creationId xmlns:a16="http://schemas.microsoft.com/office/drawing/2014/main" id="{0C48D54C-1E8D-4D69-11EF-4198D629E256}"/>
              </a:ext>
            </a:extLst>
          </p:cNvPr>
          <p:cNvSpPr>
            <a:spLocks noGrp="1"/>
          </p:cNvSpPr>
          <p:nvPr/>
        </p:nvSpPr>
        <p:spPr>
          <a:xfrm>
            <a:off x="4497671" y="3603792"/>
            <a:ext cx="3018126" cy="786141"/>
          </a:xfrm>
          <a:custGeom>
            <a:avLst/>
            <a:gdLst/>
            <a:ahLst/>
            <a:cxnLst/>
            <a:rect l="l" t="t" r="r" b="b"/>
            <a:pathLst>
              <a:path w="65618" h="25298">
                <a:moveTo>
                  <a:pt x="1" y="0"/>
                </a:moveTo>
                <a:lnTo>
                  <a:pt x="14417" y="25297"/>
                </a:lnTo>
                <a:lnTo>
                  <a:pt x="50887" y="25297"/>
                </a:lnTo>
                <a:lnTo>
                  <a:pt x="65617" y="0"/>
                </a:ln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7" name="Google Shape;10503;p131">
            <a:extLst>
              <a:ext uri="{FF2B5EF4-FFF2-40B4-BE49-F238E27FC236}">
                <a16:creationId xmlns:a16="http://schemas.microsoft.com/office/drawing/2014/main" id="{34FB69A9-3E21-6524-AE05-01E238AA7106}"/>
              </a:ext>
            </a:extLst>
          </p:cNvPr>
          <p:cNvSpPr>
            <a:spLocks noGrp="1"/>
          </p:cNvSpPr>
          <p:nvPr/>
        </p:nvSpPr>
        <p:spPr>
          <a:xfrm>
            <a:off x="4999094" y="4389900"/>
            <a:ext cx="1842023" cy="786110"/>
          </a:xfrm>
          <a:custGeom>
            <a:avLst/>
            <a:gdLst/>
            <a:ahLst/>
            <a:cxnLst/>
            <a:rect l="l" t="t" r="r" b="b"/>
            <a:pathLst>
              <a:path w="40048" h="25297">
                <a:moveTo>
                  <a:pt x="0" y="0"/>
                </a:moveTo>
                <a:lnTo>
                  <a:pt x="14668" y="25297"/>
                </a:lnTo>
                <a:lnTo>
                  <a:pt x="25360" y="25297"/>
                </a:lnTo>
                <a:lnTo>
                  <a:pt x="40048" y="0"/>
                </a:lnTo>
                <a:close/>
              </a:path>
            </a:pathLst>
          </a:cu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cxnSp>
        <p:nvCxnSpPr>
          <p:cNvPr id="43" name="Google Shape;10504;p131"/>
          <p:cNvCxnSpPr/>
          <p:nvPr/>
        </p:nvCxnSpPr>
        <p:spPr>
          <a:xfrm>
            <a:off x="2968000" y="3489135"/>
            <a:ext cx="1601228" cy="0"/>
          </a:xfrm>
          <a:prstGeom prst="straightConnector1">
            <a:avLst/>
          </a:prstGeom>
          <a:ln w="9525" cap="flat">
            <a:solidFill>
              <a:srgbClr val="FF0000"/>
            </a:solidFill>
            <a:prstDash val="solid"/>
            <a:round/>
            <a:headEnd type="oval" w="med" len="med"/>
            <a:tailEnd type="none" w="med" len="med"/>
          </a:ln>
        </p:spPr>
      </p:cxnSp>
      <p:cxnSp>
        <p:nvCxnSpPr>
          <p:cNvPr id="44" name="Google Shape;10505;p131"/>
          <p:cNvCxnSpPr/>
          <p:nvPr/>
        </p:nvCxnSpPr>
        <p:spPr>
          <a:xfrm rot="10800000">
            <a:off x="8245455" y="2721921"/>
            <a:ext cx="970315" cy="0"/>
          </a:xfrm>
          <a:prstGeom prst="straightConnector1">
            <a:avLst/>
          </a:prstGeom>
          <a:ln w="9525" cap="flat">
            <a:solidFill>
              <a:srgbClr val="FF0000"/>
            </a:solidFill>
            <a:prstDash val="solid"/>
            <a:round/>
            <a:headEnd type="oval" w="med" len="med"/>
            <a:tailEnd type="none" w="med" len="med"/>
          </a:ln>
        </p:spPr>
      </p:cxnSp>
      <p:cxnSp>
        <p:nvCxnSpPr>
          <p:cNvPr id="45" name="Google Shape;10506;p131"/>
          <p:cNvCxnSpPr/>
          <p:nvPr/>
        </p:nvCxnSpPr>
        <p:spPr>
          <a:xfrm rot="10800000">
            <a:off x="6995502" y="4186306"/>
            <a:ext cx="2228497" cy="0"/>
          </a:xfrm>
          <a:prstGeom prst="straightConnector1">
            <a:avLst/>
          </a:prstGeom>
          <a:ln w="9525" cap="flat">
            <a:solidFill>
              <a:srgbClr val="FF0000"/>
            </a:solidFill>
            <a:prstDash val="solid"/>
            <a:round/>
            <a:headEnd type="oval" w="med" len="med"/>
            <a:tailEnd type="none" w="med" len="med"/>
          </a:ln>
        </p:spPr>
      </p:cxnSp>
      <p:cxnSp>
        <p:nvCxnSpPr>
          <p:cNvPr id="46" name="Google Shape;10507;p131"/>
          <p:cNvCxnSpPr/>
          <p:nvPr/>
        </p:nvCxnSpPr>
        <p:spPr>
          <a:xfrm>
            <a:off x="3966644" y="5040033"/>
            <a:ext cx="1601228" cy="0"/>
          </a:xfrm>
          <a:prstGeom prst="straightConnector1">
            <a:avLst/>
          </a:prstGeom>
          <a:ln w="9525" cap="flat">
            <a:solidFill>
              <a:srgbClr val="FF0000"/>
            </a:solidFill>
            <a:prstDash val="solid"/>
            <a:round/>
            <a:headEnd type="oval" w="med" len="med"/>
            <a:tailEnd type="none" w="med" len="med"/>
          </a:ln>
        </p:spPr>
      </p:cxnSp>
      <p:sp>
        <p:nvSpPr>
          <p:cNvPr id="13" name="Google Shape;10508;p131">
            <a:extLst>
              <a:ext uri="{FF2B5EF4-FFF2-40B4-BE49-F238E27FC236}">
                <a16:creationId xmlns:a16="http://schemas.microsoft.com/office/drawing/2014/main" id="{162FAE0A-E33C-2D4A-1A85-B1A344408D8D}"/>
              </a:ext>
            </a:extLst>
          </p:cNvPr>
          <p:cNvSpPr>
            <a:spLocks noGrp="1"/>
          </p:cNvSpPr>
          <p:nvPr/>
        </p:nvSpPr>
        <p:spPr>
          <a:xfrm>
            <a:off x="5428741" y="5184511"/>
            <a:ext cx="982808" cy="528030"/>
          </a:xfrm>
          <a:prstGeom prst="downArrow">
            <a:avLst>
              <a:gd name="adj1" fmla="val 50000"/>
              <a:gd name="adj2" fmla="val 50000"/>
            </a:avLst>
          </a:prstGeom>
          <a:noFill/>
          <a:ln w="9525" cmpd="sng">
            <a:solidFill>
              <a:srgbClr val="FF0000"/>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4" name="Flowchart: Alternate Process 13">
            <a:extLst>
              <a:ext uri="{FF2B5EF4-FFF2-40B4-BE49-F238E27FC236}">
                <a16:creationId xmlns:a16="http://schemas.microsoft.com/office/drawing/2014/main" id="{29609B95-3751-14EA-DCF8-420BD3930AEB}"/>
              </a:ext>
            </a:extLst>
          </p:cNvPr>
          <p:cNvSpPr>
            <a:spLocks noGrp="1"/>
          </p:cNvSpPr>
          <p:nvPr/>
        </p:nvSpPr>
        <p:spPr>
          <a:xfrm>
            <a:off x="865239" y="1946787"/>
            <a:ext cx="2102761" cy="2045110"/>
          </a:xfrm>
          <a:prstGeom prst="flowChartAlternateProcess">
            <a:avLst/>
          </a:prstGeom>
        </p:spPr>
        <p:style>
          <a:lnRef idx="2">
            <a:schemeClr val="accent6"/>
          </a:lnRef>
          <a:fillRef idx="1">
            <a:schemeClr val="lt1"/>
          </a:fillRef>
          <a:effectRef idx="0">
            <a:schemeClr val="accent6"/>
          </a:effectRef>
          <a:fontRef idx="minor">
            <a:schemeClr val="dk1"/>
          </a:fontRef>
        </p:style>
        <p:txBody>
          <a:bodyPr anchor="ctr"/>
          <a:lstStyle/>
          <a:p>
            <a:pPr algn="ctr">
              <a:buNone/>
            </a:pPr>
            <a:r>
              <a:rPr sz="1400"/>
              <a:t>A small archive and absent anomaly labels limit conventional validation. Rankings may change with new observations, features or parameters.</a:t>
            </a:r>
          </a:p>
        </p:txBody>
      </p:sp>
      <p:sp>
        <p:nvSpPr>
          <p:cNvPr id="15" name="Flowchart: Alternate Process 14">
            <a:extLst>
              <a:ext uri="{FF2B5EF4-FFF2-40B4-BE49-F238E27FC236}">
                <a16:creationId xmlns:a16="http://schemas.microsoft.com/office/drawing/2014/main" id="{E18AA4CF-FF9E-57B8-A63B-D5FC0D7DA1D0}"/>
              </a:ext>
            </a:extLst>
          </p:cNvPr>
          <p:cNvSpPr>
            <a:spLocks noGrp="1"/>
          </p:cNvSpPr>
          <p:nvPr/>
        </p:nvSpPr>
        <p:spPr>
          <a:xfrm>
            <a:off x="983226" y="4955458"/>
            <a:ext cx="2983418" cy="1667227"/>
          </a:xfrm>
          <a:prstGeom prst="flowChartAlternateProcess">
            <a:avLst/>
          </a:prstGeom>
        </p:spPr>
        <p:style>
          <a:lnRef idx="2">
            <a:schemeClr val="accent6"/>
          </a:lnRef>
          <a:fillRef idx="1">
            <a:schemeClr val="lt1"/>
          </a:fillRef>
          <a:effectRef idx="0">
            <a:schemeClr val="accent6"/>
          </a:effectRef>
          <a:fontRef idx="minor">
            <a:schemeClr val="dk1"/>
          </a:fontRef>
        </p:style>
        <p:txBody>
          <a:bodyPr anchor="ctr"/>
          <a:lstStyle/>
          <a:p>
            <a:pPr algn="ctr">
              <a:buNone/>
            </a:pPr>
            <a:r>
              <a:rPr sz="1400"/>
              <a:t>Unsupervised unusualness does not establish causality or discovery. Domain experts remain responsible for scientific follow-up.</a:t>
            </a:r>
          </a:p>
        </p:txBody>
      </p:sp>
      <p:sp>
        <p:nvSpPr>
          <p:cNvPr id="16" name="Rectangle: Rounded Corners 15">
            <a:extLst>
              <a:ext uri="{FF2B5EF4-FFF2-40B4-BE49-F238E27FC236}">
                <a16:creationId xmlns:a16="http://schemas.microsoft.com/office/drawing/2014/main" id="{A659D74B-B2D3-AB59-3FA2-3B3CC123B664}"/>
              </a:ext>
            </a:extLst>
          </p:cNvPr>
          <p:cNvSpPr>
            <a:spLocks noGrp="1"/>
          </p:cNvSpPr>
          <p:nvPr/>
        </p:nvSpPr>
        <p:spPr>
          <a:xfrm>
            <a:off x="9256749" y="1582995"/>
            <a:ext cx="2679612" cy="1740308"/>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a:buNone/>
            </a:pPr>
            <a:r>
              <a:rPr sz="1400" dirty="0"/>
              <a:t>Missing products, exposure irregularities or detector effects can influence features. Data-quality context must be reported with every score.</a:t>
            </a:r>
          </a:p>
        </p:txBody>
      </p:sp>
      <p:sp>
        <p:nvSpPr>
          <p:cNvPr id="18" name="Flowchart: Alternate Process 17">
            <a:extLst>
              <a:ext uri="{FF2B5EF4-FFF2-40B4-BE49-F238E27FC236}">
                <a16:creationId xmlns:a16="http://schemas.microsoft.com/office/drawing/2014/main" id="{9889414A-07FB-DFD5-F0EC-C758F766942D}"/>
              </a:ext>
            </a:extLst>
          </p:cNvPr>
          <p:cNvSpPr>
            <a:spLocks noGrp="1"/>
          </p:cNvSpPr>
          <p:nvPr/>
        </p:nvSpPr>
        <p:spPr>
          <a:xfrm>
            <a:off x="9215770" y="3893574"/>
            <a:ext cx="2712361" cy="2654704"/>
          </a:xfrm>
          <a:prstGeom prst="flowChartAlternateProcess">
            <a:avLst/>
          </a:prstGeom>
        </p:spPr>
        <p:style>
          <a:lnRef idx="2">
            <a:schemeClr val="accent6"/>
          </a:lnRef>
          <a:fillRef idx="1">
            <a:schemeClr val="lt1"/>
          </a:fillRef>
          <a:effectRef idx="0">
            <a:schemeClr val="accent6"/>
          </a:effectRef>
          <a:fontRef idx="minor">
            <a:schemeClr val="dk1"/>
          </a:fontRef>
        </p:style>
        <p:txBody>
          <a:bodyPr anchor="ctr"/>
          <a:lstStyle/>
          <a:p>
            <a:pPr algn="ctr">
              <a:buNone/>
            </a:pPr>
            <a:r>
              <a:rPr dirty="0" err="1"/>
              <a:t>WeightedRoll</a:t>
            </a:r>
            <a:r>
              <a:rPr dirty="0"/>
              <a:t> contains source and background contributions. Final calibrated PD and official PA remain outside the present claim.</a:t>
            </a:r>
          </a:p>
        </p:txBody>
      </p:sp>
      <p:sp>
        <p:nvSpPr>
          <p:cNvPr id="20" name="TextBox 19">
            <a:extLst>
              <a:ext uri="{FF2B5EF4-FFF2-40B4-BE49-F238E27FC236}">
                <a16:creationId xmlns:a16="http://schemas.microsoft.com/office/drawing/2014/main" id="{979F2BBC-CF67-8689-408A-2676CCDA5029}"/>
              </a:ext>
            </a:extLst>
          </p:cNvPr>
          <p:cNvSpPr>
            <a:spLocks noGrp="1"/>
          </p:cNvSpPr>
          <p:nvPr/>
        </p:nvSpPr>
        <p:spPr>
          <a:xfrm>
            <a:off x="4546791" y="2216149"/>
            <a:ext cx="6096000" cy="369332"/>
          </a:xfrm>
          <a:prstGeom prst="rect">
            <a:avLst/>
          </a:prstGeom>
          <a:noFill/>
        </p:spPr>
        <p:txBody>
          <a:bodyPr wrap="square">
            <a:spAutoFit/>
          </a:bodyPr>
          <a:lstStyle/>
          <a:p>
            <a:r>
              <a:rPr b="1">
                <a:solidFill>
                  <a:schemeClr val="bg2">
                    <a:lumMod val="10000"/>
                  </a:schemeClr>
                </a:solidFill>
              </a:rPr>
              <a:t>Data Quality &amp; Exposure</a:t>
            </a:r>
          </a:p>
        </p:txBody>
      </p:sp>
      <p:sp>
        <p:nvSpPr>
          <p:cNvPr id="22" name="TextBox 21">
            <a:extLst>
              <a:ext uri="{FF2B5EF4-FFF2-40B4-BE49-F238E27FC236}">
                <a16:creationId xmlns:a16="http://schemas.microsoft.com/office/drawing/2014/main" id="{7F6D7C0F-2F4A-9909-70BE-B2A2826EA64D}"/>
              </a:ext>
            </a:extLst>
          </p:cNvPr>
          <p:cNvSpPr>
            <a:spLocks noGrp="1"/>
          </p:cNvSpPr>
          <p:nvPr/>
        </p:nvSpPr>
        <p:spPr>
          <a:xfrm>
            <a:off x="4437957" y="2922861"/>
            <a:ext cx="6096000" cy="369332"/>
          </a:xfrm>
          <a:prstGeom prst="rect">
            <a:avLst/>
          </a:prstGeom>
          <a:noFill/>
        </p:spPr>
        <p:txBody>
          <a:bodyPr wrap="square">
            <a:spAutoFit/>
          </a:bodyPr>
          <a:lstStyle/>
          <a:p>
            <a:r>
              <a:rPr b="1" dirty="0">
                <a:solidFill>
                  <a:schemeClr val="tx1">
                    <a:lumMod val="95000"/>
                    <a:lumOff val="5000"/>
                  </a:schemeClr>
                </a:solidFill>
              </a:rPr>
              <a:t>Small </a:t>
            </a:r>
            <a:r>
              <a:rPr b="1" dirty="0" err="1">
                <a:solidFill>
                  <a:schemeClr val="tx1">
                    <a:lumMod val="95000"/>
                    <a:lumOff val="5000"/>
                  </a:schemeClr>
                </a:solidFill>
              </a:rPr>
              <a:t>Unlabelled</a:t>
            </a:r>
            <a:r>
              <a:rPr b="1" dirty="0">
                <a:solidFill>
                  <a:schemeClr val="tx1">
                    <a:lumMod val="95000"/>
                    <a:lumOff val="5000"/>
                  </a:schemeClr>
                </a:solidFill>
              </a:rPr>
              <a:t> Dataset</a:t>
            </a:r>
          </a:p>
        </p:txBody>
      </p:sp>
      <p:sp>
        <p:nvSpPr>
          <p:cNvPr id="24" name="TextBox 23">
            <a:extLst>
              <a:ext uri="{FF2B5EF4-FFF2-40B4-BE49-F238E27FC236}">
                <a16:creationId xmlns:a16="http://schemas.microsoft.com/office/drawing/2014/main" id="{9F8582E3-BCA3-11E9-55F8-BB8E123C65A9}"/>
              </a:ext>
            </a:extLst>
          </p:cNvPr>
          <p:cNvSpPr>
            <a:spLocks noGrp="1"/>
          </p:cNvSpPr>
          <p:nvPr/>
        </p:nvSpPr>
        <p:spPr>
          <a:xfrm>
            <a:off x="4775719" y="3660683"/>
            <a:ext cx="6096000" cy="338554"/>
          </a:xfrm>
          <a:prstGeom prst="rect">
            <a:avLst/>
          </a:prstGeom>
          <a:noFill/>
        </p:spPr>
        <p:txBody>
          <a:bodyPr wrap="square">
            <a:spAutoFit/>
          </a:bodyPr>
          <a:lstStyle/>
          <a:p>
            <a:r>
              <a:rPr sz="1600" b="1">
                <a:solidFill>
                  <a:schemeClr val="tx1">
                    <a:lumMod val="95000"/>
                    <a:lumOff val="5000"/>
                  </a:schemeClr>
                </a:solidFill>
              </a:rPr>
              <a:t>Calibration Dependence</a:t>
            </a:r>
          </a:p>
        </p:txBody>
      </p:sp>
      <p:sp>
        <p:nvSpPr>
          <p:cNvPr id="28" name="TextBox 27">
            <a:extLst>
              <a:ext uri="{FF2B5EF4-FFF2-40B4-BE49-F238E27FC236}">
                <a16:creationId xmlns:a16="http://schemas.microsoft.com/office/drawing/2014/main" id="{67F37718-50AD-65C3-BDAA-A09F2829A195}"/>
              </a:ext>
            </a:extLst>
          </p:cNvPr>
          <p:cNvSpPr>
            <a:spLocks noGrp="1"/>
          </p:cNvSpPr>
          <p:nvPr/>
        </p:nvSpPr>
        <p:spPr>
          <a:xfrm>
            <a:off x="5348366" y="4331302"/>
            <a:ext cx="6096000" cy="646331"/>
          </a:xfrm>
          <a:prstGeom prst="rect">
            <a:avLst/>
          </a:prstGeom>
          <a:noFill/>
        </p:spPr>
        <p:txBody>
          <a:bodyPr wrap="square">
            <a:spAutoFit/>
          </a:bodyPr>
          <a:lstStyle/>
          <a:p>
            <a:r>
              <a:rPr b="1" dirty="0">
                <a:solidFill>
                  <a:schemeClr val="tx1">
                    <a:lumMod val="95000"/>
                    <a:lumOff val="5000"/>
                  </a:schemeClr>
                </a:solidFill>
              </a:rPr>
              <a:t>Expert</a:t>
            </a:r>
            <a:endParaRPr lang="en-IN" b="1" dirty="0">
              <a:solidFill>
                <a:schemeClr val="tx1">
                  <a:lumMod val="95000"/>
                  <a:lumOff val="5000"/>
                </a:schemeClr>
              </a:solidFill>
            </a:endParaRPr>
          </a:p>
          <a:p>
            <a:r>
              <a:rPr b="1" dirty="0">
                <a:solidFill>
                  <a:schemeClr val="tx1">
                    <a:lumMod val="95000"/>
                    <a:lumOff val="5000"/>
                  </a:schemeClr>
                </a:solidFill>
              </a:rPr>
              <a:t>Validation</a:t>
            </a:r>
          </a:p>
        </p:txBody>
      </p:sp>
    </p:spTree>
    <p:extLst>
      <p:ext uri="{BB962C8B-B14F-4D97-AF65-F5344CB8AC3E}">
        <p14:creationId xmlns:p14="http://schemas.microsoft.com/office/powerpoint/2010/main" val="1060233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0F9D17-CD38-BD8B-6E66-77EAE31F73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51"/>
            <a:ext cx="12192000" cy="6858000"/>
          </a:xfrm>
          <a:prstGeom prst="rect">
            <a:avLst/>
          </a:prstGeom>
        </p:spPr>
      </p:pic>
    </p:spTree>
    <p:extLst>
      <p:ext uri="{BB962C8B-B14F-4D97-AF65-F5344CB8AC3E}">
        <p14:creationId xmlns:p14="http://schemas.microsoft.com/office/powerpoint/2010/main" val="253791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BAD897C-5ACC-7AD0-4210-B2C9844E9B0C}"/>
              </a:ext>
            </a:extLst>
          </p:cNvPr>
          <p:cNvSpPr>
            <a:spLocks noGrp="1"/>
          </p:cNvSpPr>
          <p:nvPr>
            <p:ph type="title"/>
          </p:nvPr>
        </p:nvSpPr>
        <p:spPr>
          <a:xfrm>
            <a:off x="609600" y="235309"/>
            <a:ext cx="10972800" cy="1143000"/>
          </a:xfrm>
        </p:spPr>
        <p:txBody>
          <a:bodyPr>
            <a:normAutofit/>
          </a:bodyPr>
          <a:lstStyle/>
          <a:p>
            <a:r>
              <a:rPr dirty="0">
                <a:solidFill>
                  <a:srgbClr val="FF0000"/>
                </a:solidFill>
              </a:rPr>
              <a:t>ARCHITECTURE EXPLANATION</a:t>
            </a:r>
          </a:p>
        </p:txBody>
      </p:sp>
      <p:pic>
        <p:nvPicPr>
          <p:cNvPr id="4" name="Picture 3">
            <a:extLst>
              <a:ext uri="{FF2B5EF4-FFF2-40B4-BE49-F238E27FC236}">
                <a16:creationId xmlns:a16="http://schemas.microsoft.com/office/drawing/2014/main" id="{27DD5316-9D09-E6F8-5BD2-B71C2078856F}"/>
              </a:ext>
            </a:extLst>
          </p:cNvPr>
          <p:cNvPicPr>
            <a:picLocks noChangeAspect="1"/>
          </p:cNvPicPr>
          <p:nvPr/>
        </p:nvPicPr>
        <p:blipFill>
          <a:blip r:embed="rId3">
            <a:extLst>
              <a:ext uri="{28A0092B-C50C-407E-A947-70E740481C1C}">
                <a14:useLocalDpi xmlns:a14="http://schemas.microsoft.com/office/drawing/2010/main" val="0"/>
              </a:ext>
            </a:extLst>
          </a:blip>
          <a:srcRect t="20098"/>
          <a:stretch>
            <a:fillRect/>
          </a:stretch>
        </p:blipFill>
        <p:spPr>
          <a:xfrm>
            <a:off x="3239" y="1056252"/>
            <a:ext cx="12185522" cy="5801748"/>
          </a:xfrm>
          <a:prstGeom prst="rect">
            <a:avLst/>
          </a:prstGeom>
        </p:spPr>
      </p:pic>
      <p:sp>
        <p:nvSpPr>
          <p:cNvPr id="6" name="orange-rule-64-169">
            <a:extLst>
              <a:ext uri="{FF2B5EF4-FFF2-40B4-BE49-F238E27FC236}">
                <a16:creationId xmlns:a16="http://schemas.microsoft.com/office/drawing/2014/main" id="{FBC0D2E0-B6F9-7252-8CCB-640D205CCBCA}"/>
              </a:ext>
            </a:extLst>
          </p:cNvPr>
          <p:cNvSpPr>
            <a:spLocks noGrp="1"/>
          </p:cNvSpPr>
          <p:nvPr/>
        </p:nvSpPr>
        <p:spPr>
          <a:xfrm>
            <a:off x="609600" y="1108264"/>
            <a:ext cx="1619250" cy="47625"/>
          </a:xfrm>
          <a:prstGeom prst="rect">
            <a:avLst/>
          </a:prstGeom>
          <a:solidFill>
            <a:srgbClr val="D95F02"/>
          </a:solidFill>
          <a:ln w="0">
            <a:noFill/>
            <a:prstDash val="solid"/>
          </a:ln>
        </p:spPr>
      </p:sp>
      <p:sp>
        <p:nvSpPr>
          <p:cNvPr id="9" name="teal-rule-64-169">
            <a:extLst>
              <a:ext uri="{FF2B5EF4-FFF2-40B4-BE49-F238E27FC236}">
                <a16:creationId xmlns:a16="http://schemas.microsoft.com/office/drawing/2014/main" id="{4157A060-D3D1-E2D7-C81E-6B4E94036AFE}"/>
              </a:ext>
            </a:extLst>
          </p:cNvPr>
          <p:cNvSpPr>
            <a:spLocks noGrp="1"/>
          </p:cNvSpPr>
          <p:nvPr/>
        </p:nvSpPr>
        <p:spPr>
          <a:xfrm>
            <a:off x="2228850" y="1108264"/>
            <a:ext cx="9353550" cy="19050"/>
          </a:xfrm>
          <a:prstGeom prst="rect">
            <a:avLst/>
          </a:prstGeom>
          <a:solidFill>
            <a:srgbClr val="006064"/>
          </a:solidFill>
          <a:ln w="0">
            <a:noFill/>
            <a:prstDash val="solid"/>
          </a:ln>
        </p:spPr>
      </p:sp>
    </p:spTree>
    <p:extLst>
      <p:ext uri="{BB962C8B-B14F-4D97-AF65-F5344CB8AC3E}">
        <p14:creationId xmlns:p14="http://schemas.microsoft.com/office/powerpoint/2010/main" val="2298409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Explainability Must Preserve Scientific Meaning</a:t>
            </a:r>
          </a:p>
        </p:txBody>
      </p:sp>
      <p:sp>
        <p:nvSpPr>
          <p:cNvPr id="9" name="orange-rule-64-169">
            <a:extLst>
              <a:ext uri="{FF2B5EF4-FFF2-40B4-BE49-F238E27FC236}">
                <a16:creationId xmlns:a16="http://schemas.microsoft.com/office/drawing/2014/main" id="{48734861-73D4-47CE-87CB-270AD1396DDD}"/>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4AA55DEC-2084-40A4-A128-A1802C8F5966}"/>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section-Evidence path A — statistical screening">
            <a:extLst>
              <a:ext uri="{FF2B5EF4-FFF2-40B4-BE49-F238E27FC236}">
                <a16:creationId xmlns:a16="http://schemas.microsoft.com/office/drawing/2014/main" id="{BCA4F739-893C-45F9-854B-AAB6E2106175}"/>
              </a:ext>
            </a:extLst>
          </p:cNvPr>
          <p:cNvSpPr>
            <a:spLocks noGrp="1"/>
          </p:cNvSpPr>
          <p:nvPr/>
        </p:nvSpPr>
        <p:spPr>
          <a:xfrm>
            <a:off x="685800" y="1857375"/>
            <a:ext cx="4953000" cy="266700"/>
          </a:xfrm>
          <a:prstGeom prst="rect">
            <a:avLst/>
          </a:prstGeom>
          <a:noFill/>
          <a:ln w="0">
            <a:noFill/>
            <a:prstDash val="solid"/>
          </a:ln>
        </p:spPr>
        <p:txBody>
          <a:bodyPr wrap="square" lIns="19050" tIns="19050" rIns="19050" bIns="19050" anchor="ctr">
            <a:noAutofit/>
          </a:bodyPr>
          <a:lstStyle/>
          <a:p>
            <a:pPr algn="l">
              <a:defRPr sz="1200" b="1">
                <a:solidFill>
                  <a:srgbClr val="006064"/>
                </a:solidFill>
                <a:latin typeface="Calibri"/>
                <a:ea typeface="Calibri"/>
                <a:cs typeface="Calibri"/>
              </a:defRPr>
            </a:pPr>
            <a:r>
              <a:rPr sz="1200" b="1">
                <a:solidFill>
                  <a:srgbClr val="006064"/>
                </a:solidFill>
                <a:latin typeface="Calibri"/>
                <a:ea typeface="Calibri"/>
                <a:cs typeface="Calibri"/>
              </a:rPr>
              <a:t>EVIDENCE PATH A — STATISTICAL SCREENING</a:t>
            </a:r>
          </a:p>
        </p:txBody>
      </p:sp>
      <p:sp>
        <p:nvSpPr>
          <p:cNvPr id="12" name="screening-path">
            <a:extLst>
              <a:ext uri="{FF2B5EF4-FFF2-40B4-BE49-F238E27FC236}">
                <a16:creationId xmlns:a16="http://schemas.microsoft.com/office/drawing/2014/main" id="{54431870-641E-4FDC-AECD-6BB2E63F8C6C}"/>
              </a:ext>
            </a:extLst>
          </p:cNvPr>
          <p:cNvSpPr>
            <a:spLocks noGrp="1"/>
          </p:cNvSpPr>
          <p:nvPr/>
        </p:nvSpPr>
        <p:spPr>
          <a:xfrm>
            <a:off x="904875" y="2333625"/>
            <a:ext cx="4286250" cy="2286000"/>
          </a:xfrm>
          <a:prstGeom prst="rect">
            <a:avLst/>
          </a:prstGeom>
          <a:noFill/>
          <a:ln w="0">
            <a:noFill/>
            <a:prstDash val="solid"/>
          </a:ln>
        </p:spPr>
        <p:txBody>
          <a:bodyPr wrap="square" lIns="47625" tIns="38100" rIns="47625" bIns="38100" anchor="ctr">
            <a:noAutofit/>
          </a:bodyPr>
          <a:lstStyle/>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Interpretable Level-2 features</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Unsupervised observation score</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Feature deviation + product provenance</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a:t>
            </a:r>
          </a:p>
          <a:p>
            <a:pPr algn="ctr">
              <a:defRPr sz="1725" b="1">
                <a:solidFill>
                  <a:srgbClr val="006064"/>
                </a:solidFill>
                <a:latin typeface="Calibri"/>
                <a:ea typeface="Calibri"/>
                <a:cs typeface="Calibri"/>
              </a:defRPr>
            </a:pPr>
            <a:r>
              <a:rPr sz="1725" b="1">
                <a:solidFill>
                  <a:srgbClr val="006064"/>
                </a:solidFill>
                <a:latin typeface="Calibri"/>
                <a:ea typeface="Calibri"/>
                <a:cs typeface="Calibri"/>
              </a:rPr>
              <a:t>Researcher review</a:t>
            </a:r>
          </a:p>
        </p:txBody>
      </p:sp>
      <p:sp>
        <p:nvSpPr>
          <p:cNvPr id="13" name="divider-625">
            <a:extLst>
              <a:ext uri="{FF2B5EF4-FFF2-40B4-BE49-F238E27FC236}">
                <a16:creationId xmlns:a16="http://schemas.microsoft.com/office/drawing/2014/main" id="{E3B94FBF-7BA8-42A5-9C34-9320FFDFE67B}"/>
              </a:ext>
            </a:extLst>
          </p:cNvPr>
          <p:cNvSpPr>
            <a:spLocks noGrp="1"/>
          </p:cNvSpPr>
          <p:nvPr/>
        </p:nvSpPr>
        <p:spPr>
          <a:xfrm>
            <a:off x="5953125" y="1952625"/>
            <a:ext cx="14288" cy="3238500"/>
          </a:xfrm>
          <a:prstGeom prst="rect">
            <a:avLst/>
          </a:prstGeom>
          <a:solidFill>
            <a:srgbClr val="CBD5E1"/>
          </a:solidFill>
          <a:ln w="0">
            <a:noFill/>
            <a:prstDash val="solid"/>
          </a:ln>
        </p:spPr>
      </p:sp>
      <p:sp>
        <p:nvSpPr>
          <p:cNvPr id="14" name="section-Evidence path B — physical diagnostic">
            <a:extLst>
              <a:ext uri="{FF2B5EF4-FFF2-40B4-BE49-F238E27FC236}">
                <a16:creationId xmlns:a16="http://schemas.microsoft.com/office/drawing/2014/main" id="{2CA1C836-B3C1-42AD-A66D-130E8B833F05}"/>
              </a:ext>
            </a:extLst>
          </p:cNvPr>
          <p:cNvSpPr>
            <a:spLocks noGrp="1"/>
          </p:cNvSpPr>
          <p:nvPr/>
        </p:nvSpPr>
        <p:spPr>
          <a:xfrm>
            <a:off x="6429375" y="1857375"/>
            <a:ext cx="4905375" cy="266700"/>
          </a:xfrm>
          <a:prstGeom prst="rect">
            <a:avLst/>
          </a:prstGeom>
          <a:noFill/>
          <a:ln w="0">
            <a:noFill/>
            <a:prstDash val="solid"/>
          </a:ln>
        </p:spPr>
        <p:txBody>
          <a:bodyPr wrap="square" lIns="19050" tIns="19050" rIns="19050" bIns="19050" anchor="ctr">
            <a:noAutofit/>
          </a:bodyPr>
          <a:lstStyle/>
          <a:p>
            <a:pPr algn="l">
              <a:defRPr sz="1200" b="1">
                <a:solidFill>
                  <a:srgbClr val="D95F02"/>
                </a:solidFill>
                <a:latin typeface="Calibri"/>
                <a:ea typeface="Calibri"/>
                <a:cs typeface="Calibri"/>
              </a:defRPr>
            </a:pPr>
            <a:r>
              <a:rPr sz="1200" b="1">
                <a:solidFill>
                  <a:srgbClr val="D95F02"/>
                </a:solidFill>
                <a:latin typeface="Calibri"/>
                <a:ea typeface="Calibri"/>
                <a:cs typeface="Calibri"/>
              </a:rPr>
              <a:t>EVIDENCE PATH B — PHYSICAL DIAGNOSTIC</a:t>
            </a:r>
          </a:p>
        </p:txBody>
      </p:sp>
      <p:sp>
        <p:nvSpPr>
          <p:cNvPr id="15" name="physical-path">
            <a:extLst>
              <a:ext uri="{FF2B5EF4-FFF2-40B4-BE49-F238E27FC236}">
                <a16:creationId xmlns:a16="http://schemas.microsoft.com/office/drawing/2014/main" id="{9ED64027-DE8D-43A4-950C-08402B97ED79}"/>
              </a:ext>
            </a:extLst>
          </p:cNvPr>
          <p:cNvSpPr>
            <a:spLocks noGrp="1"/>
          </p:cNvSpPr>
          <p:nvPr/>
        </p:nvSpPr>
        <p:spPr>
          <a:xfrm>
            <a:off x="6667500" y="2333625"/>
            <a:ext cx="4286250" cy="2286000"/>
          </a:xfrm>
          <a:prstGeom prst="rect">
            <a:avLst/>
          </a:prstGeom>
          <a:noFill/>
          <a:ln w="0">
            <a:noFill/>
            <a:prstDash val="solid"/>
          </a:ln>
        </p:spPr>
        <p:txBody>
          <a:bodyPr wrap="square" lIns="47625" tIns="38100" rIns="47625" bIns="38100" anchor="ctr">
            <a:noAutofit/>
          </a:bodyPr>
          <a:lstStyle/>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WeightedRoll source + background</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Raw / fitted modulation amplitude and phase</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Blank-sky comparison + response calibration</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a:t>
            </a:r>
          </a:p>
          <a:p>
            <a:pPr algn="ctr">
              <a:defRPr sz="1650" b="1">
                <a:solidFill>
                  <a:srgbClr val="D95F02"/>
                </a:solidFill>
                <a:latin typeface="Calibri"/>
                <a:ea typeface="Calibri"/>
                <a:cs typeface="Calibri"/>
              </a:defRPr>
            </a:pPr>
            <a:r>
              <a:rPr sz="1650" b="1">
                <a:solidFill>
                  <a:srgbClr val="D95F02"/>
                </a:solidFill>
                <a:latin typeface="Calibri"/>
                <a:ea typeface="Calibri"/>
                <a:cs typeface="Calibri"/>
              </a:rPr>
              <a:t>Only then: calibrated PD / official PA</a:t>
            </a:r>
          </a:p>
        </p:txBody>
      </p:sp>
      <p:sp>
        <p:nvSpPr>
          <p:cNvPr id="16" name="xai-rule">
            <a:extLst>
              <a:ext uri="{FF2B5EF4-FFF2-40B4-BE49-F238E27FC236}">
                <a16:creationId xmlns:a16="http://schemas.microsoft.com/office/drawing/2014/main" id="{E754CCC4-5C3F-4275-ACB7-901CA8EE4F9B}"/>
              </a:ext>
            </a:extLst>
          </p:cNvPr>
          <p:cNvSpPr>
            <a:spLocks noGrp="1"/>
          </p:cNvSpPr>
          <p:nvPr/>
        </p:nvSpPr>
        <p:spPr>
          <a:xfrm>
            <a:off x="1190625" y="4905375"/>
            <a:ext cx="9810750" cy="590550"/>
          </a:xfrm>
          <a:prstGeom prst="roundRect">
            <a:avLst>
              <a:gd name="adj" fmla="val 12903"/>
            </a:avLst>
          </a:prstGeom>
          <a:solidFill>
            <a:srgbClr val="EEF4FA"/>
          </a:solidFill>
          <a:ln w="13335">
            <a:solidFill>
              <a:srgbClr val="17365D"/>
            </a:solidFill>
            <a:prstDash val="solid"/>
          </a:ln>
        </p:spPr>
        <p:txBody>
          <a:bodyPr wrap="square" lIns="133350" tIns="95250" rIns="133350" bIns="95250" anchor="ctr">
            <a:noAutofit/>
          </a:bodyPr>
          <a:lstStyle/>
          <a:p>
            <a:pPr algn="ctr">
              <a:defRPr sz="1425" b="1">
                <a:solidFill>
                  <a:srgbClr val="17365D"/>
                </a:solidFill>
                <a:latin typeface="Calibri"/>
                <a:ea typeface="Calibri"/>
                <a:cs typeface="Calibri"/>
              </a:defRPr>
            </a:pPr>
            <a:r>
              <a:rPr sz="1425" b="1">
                <a:solidFill>
                  <a:srgbClr val="17365D"/>
                </a:solidFill>
                <a:latin typeface="Calibri"/>
                <a:ea typeface="Calibri"/>
                <a:cs typeface="Calibri"/>
              </a:rPr>
              <a:t>Scientific XAI must show what differed, in which original product, relative to what reference, and with what uncertainty.</a:t>
            </a:r>
          </a:p>
        </p:txBody>
      </p:sp>
      <p:sp>
        <p:nvSpPr>
          <p:cNvPr id="17" name="method-boundary">
            <a:extLst>
              <a:ext uri="{FF2B5EF4-FFF2-40B4-BE49-F238E27FC236}">
                <a16:creationId xmlns:a16="http://schemas.microsoft.com/office/drawing/2014/main" id="{31A926D2-D9C6-4FF7-8AD3-C02A24DC272B}"/>
              </a:ext>
            </a:extLst>
          </p:cNvPr>
          <p:cNvSpPr>
            <a:spLocks noGrp="1"/>
          </p:cNvSpPr>
          <p:nvPr/>
        </p:nvSpPr>
        <p:spPr>
          <a:xfrm>
            <a:off x="1476375" y="5619750"/>
            <a:ext cx="9239250" cy="457200"/>
          </a:xfrm>
          <a:prstGeom prst="rect">
            <a:avLst/>
          </a:prstGeom>
          <a:noFill/>
          <a:ln w="0">
            <a:noFill/>
            <a:prstDash val="solid"/>
          </a:ln>
        </p:spPr>
        <p:txBody>
          <a:bodyPr wrap="square" lIns="47625" tIns="38100" rIns="47625" bIns="38100" anchor="ctr">
            <a:noAutofit/>
          </a:bodyPr>
          <a:lstStyle/>
          <a:p>
            <a:pPr algn="ctr">
              <a:defRPr sz="1275" b="1">
                <a:solidFill>
                  <a:srgbClr val="A61B1B"/>
                </a:solidFill>
                <a:latin typeface="Calibri"/>
                <a:ea typeface="Calibri"/>
                <a:cs typeface="Calibri"/>
              </a:defRPr>
            </a:pPr>
            <a:r>
              <a:rPr sz="1275" b="1">
                <a:solidFill>
                  <a:srgbClr val="A61B1B"/>
                </a:solidFill>
                <a:latin typeface="Calibri"/>
                <a:ea typeface="Calibri"/>
                <a:cs typeface="Calibri"/>
              </a:rPr>
              <a:t>SHAP and LightGBM are literature references—not methods claimed for the evolved framework. Attribution is not causality, especially in a small dataset.</a:t>
            </a:r>
          </a:p>
        </p:txBody>
      </p:sp>
    </p:spTree>
    <p:extLst>
      <p:ext uri="{BB962C8B-B14F-4D97-AF65-F5344CB8AC3E}">
        <p14:creationId xmlns:p14="http://schemas.microsoft.com/office/powerpoint/2010/main" val="3251446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41D006B-DFD0-4C42-8458-94DFAEFC7A4F}"/>
              </a:ext>
            </a:extLst>
          </p:cNvPr>
          <p:cNvSpPr>
            <a:spLocks noGrp="1"/>
          </p:cNvSpPr>
          <p:nvPr>
            <p:ph type="title"/>
          </p:nvPr>
        </p:nvSpPr>
        <p:spPr>
          <a:xfrm>
            <a:off x="609600" y="235309"/>
            <a:ext cx="10972800" cy="1143000"/>
          </a:xfrm>
        </p:spPr>
        <p:txBody>
          <a:bodyPr/>
          <a:lstStyle/>
          <a:p>
            <a:r>
              <a:t>Research Gap and Proposed Position</a:t>
            </a:r>
          </a:p>
        </p:txBody>
      </p:sp>
      <p:sp>
        <p:nvSpPr>
          <p:cNvPr id="9" name="orange-rule-64-169">
            <a:extLst>
              <a:ext uri="{FF2B5EF4-FFF2-40B4-BE49-F238E27FC236}">
                <a16:creationId xmlns:a16="http://schemas.microsoft.com/office/drawing/2014/main" id="{B7B0CC85-0724-4CC4-A0FE-67F2405F954D}"/>
              </a:ext>
            </a:extLst>
          </p:cNvPr>
          <p:cNvSpPr>
            <a:spLocks noGrp="1"/>
          </p:cNvSpPr>
          <p:nvPr/>
        </p:nvSpPr>
        <p:spPr>
          <a:xfrm>
            <a:off x="609600" y="1609725"/>
            <a:ext cx="1619250" cy="47625"/>
          </a:xfrm>
          <a:prstGeom prst="rect">
            <a:avLst/>
          </a:prstGeom>
          <a:solidFill>
            <a:srgbClr val="D95F02"/>
          </a:solidFill>
          <a:ln w="0">
            <a:noFill/>
            <a:prstDash val="solid"/>
          </a:ln>
        </p:spPr>
      </p:sp>
      <p:sp>
        <p:nvSpPr>
          <p:cNvPr id="10" name="teal-rule-64-169">
            <a:extLst>
              <a:ext uri="{FF2B5EF4-FFF2-40B4-BE49-F238E27FC236}">
                <a16:creationId xmlns:a16="http://schemas.microsoft.com/office/drawing/2014/main" id="{064B0B4C-057A-48A9-B5A9-BD38777A3389}"/>
              </a:ext>
            </a:extLst>
          </p:cNvPr>
          <p:cNvSpPr>
            <a:spLocks noGrp="1"/>
          </p:cNvSpPr>
          <p:nvPr/>
        </p:nvSpPr>
        <p:spPr>
          <a:xfrm>
            <a:off x="2228850" y="1609725"/>
            <a:ext cx="9353550" cy="19050"/>
          </a:xfrm>
          <a:prstGeom prst="rect">
            <a:avLst/>
          </a:prstGeom>
          <a:solidFill>
            <a:srgbClr val="006064"/>
          </a:solidFill>
          <a:ln w="0">
            <a:noFill/>
            <a:prstDash val="solid"/>
          </a:ln>
        </p:spPr>
      </p:sp>
      <p:sp>
        <p:nvSpPr>
          <p:cNvPr id="11" name="gap-top-0">
            <a:extLst>
              <a:ext uri="{FF2B5EF4-FFF2-40B4-BE49-F238E27FC236}">
                <a16:creationId xmlns:a16="http://schemas.microsoft.com/office/drawing/2014/main" id="{4C4E6F83-76DC-41BA-A67D-2E4F5858AF5A}"/>
              </a:ext>
            </a:extLst>
          </p:cNvPr>
          <p:cNvSpPr>
            <a:spLocks noGrp="1"/>
          </p:cNvSpPr>
          <p:nvPr/>
        </p:nvSpPr>
        <p:spPr>
          <a:xfrm>
            <a:off x="685800" y="1952625"/>
            <a:ext cx="3190875" cy="66675"/>
          </a:xfrm>
          <a:prstGeom prst="rect">
            <a:avLst/>
          </a:prstGeom>
          <a:solidFill>
            <a:srgbClr val="006064"/>
          </a:solidFill>
          <a:ln w="0">
            <a:noFill/>
            <a:prstDash val="solid"/>
          </a:ln>
        </p:spPr>
      </p:sp>
      <p:sp>
        <p:nvSpPr>
          <p:cNvPr id="12" name="gap-head-0">
            <a:extLst>
              <a:ext uri="{FF2B5EF4-FFF2-40B4-BE49-F238E27FC236}">
                <a16:creationId xmlns:a16="http://schemas.microsoft.com/office/drawing/2014/main" id="{DDF01EC0-FA6C-433C-87D5-2F4EE93039CB}"/>
              </a:ext>
            </a:extLst>
          </p:cNvPr>
          <p:cNvSpPr>
            <a:spLocks noGrp="1"/>
          </p:cNvSpPr>
          <p:nvPr/>
        </p:nvSpPr>
        <p:spPr>
          <a:xfrm>
            <a:off x="685800" y="2133600"/>
            <a:ext cx="3190875" cy="361950"/>
          </a:xfrm>
          <a:prstGeom prst="rect">
            <a:avLst/>
          </a:prstGeom>
          <a:noFill/>
          <a:ln w="0">
            <a:noFill/>
            <a:prstDash val="solid"/>
          </a:ln>
        </p:spPr>
        <p:txBody>
          <a:bodyPr wrap="square" lIns="47625" tIns="38100" rIns="47625" bIns="38100" anchor="t">
            <a:noAutofit/>
          </a:bodyPr>
          <a:lstStyle/>
          <a:p>
            <a:pPr algn="ctr">
              <a:defRPr sz="1350" b="1">
                <a:solidFill>
                  <a:srgbClr val="006064"/>
                </a:solidFill>
                <a:latin typeface="Calibri"/>
                <a:ea typeface="Calibri"/>
                <a:cs typeface="Calibri"/>
              </a:defRPr>
            </a:pPr>
            <a:r>
              <a:rPr sz="1350" b="1">
                <a:solidFill>
                  <a:srgbClr val="006064"/>
                </a:solidFill>
                <a:latin typeface="Calibri"/>
                <a:ea typeface="Calibri"/>
                <a:cs typeface="Calibri"/>
              </a:rPr>
              <a:t>WELL ESTABLISHED</a:t>
            </a:r>
          </a:p>
        </p:txBody>
      </p:sp>
      <p:sp>
        <p:nvSpPr>
          <p:cNvPr id="13" name="gap-body-0">
            <a:extLst>
              <a:ext uri="{FF2B5EF4-FFF2-40B4-BE49-F238E27FC236}">
                <a16:creationId xmlns:a16="http://schemas.microsoft.com/office/drawing/2014/main" id="{675493B6-E01E-4A4F-AA5E-0E19CE479DA7}"/>
              </a:ext>
            </a:extLst>
          </p:cNvPr>
          <p:cNvSpPr>
            <a:spLocks noGrp="1"/>
          </p:cNvSpPr>
          <p:nvPr/>
        </p:nvSpPr>
        <p:spPr>
          <a:xfrm>
            <a:off x="762000" y="2590800"/>
            <a:ext cx="3048000" cy="2809875"/>
          </a:xfrm>
          <a:prstGeom prst="rect">
            <a:avLst/>
          </a:prstGeom>
          <a:noFill/>
          <a:ln w="0">
            <a:noFill/>
            <a:prstDash val="solid"/>
          </a:ln>
        </p:spPr>
        <p:txBody>
          <a:bodyPr wrap="square" lIns="47625" tIns="38100" rIns="47625" bIns="38100" anchor="t">
            <a:noAutofit/>
          </a:bodyPr>
          <a:lstStyle/>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X-ray polarization constrains geometry and magnetic/scattering structure</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POLIX Level-2 products have defined scientific meanings</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Unsupervised methods can prioritize unusual observations</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Explanations need contextual evidence</a:t>
            </a:r>
          </a:p>
        </p:txBody>
      </p:sp>
      <p:sp>
        <p:nvSpPr>
          <p:cNvPr id="14" name="divider-430">
            <a:extLst>
              <a:ext uri="{FF2B5EF4-FFF2-40B4-BE49-F238E27FC236}">
                <a16:creationId xmlns:a16="http://schemas.microsoft.com/office/drawing/2014/main" id="{3BD28E8C-3D06-4C34-A168-5334EDAD1593}"/>
              </a:ext>
            </a:extLst>
          </p:cNvPr>
          <p:cNvSpPr>
            <a:spLocks noGrp="1"/>
          </p:cNvSpPr>
          <p:nvPr/>
        </p:nvSpPr>
        <p:spPr>
          <a:xfrm>
            <a:off x="4095750" y="1952625"/>
            <a:ext cx="14288" cy="3429000"/>
          </a:xfrm>
          <a:prstGeom prst="rect">
            <a:avLst/>
          </a:prstGeom>
          <a:solidFill>
            <a:srgbClr val="CBD5E1"/>
          </a:solidFill>
          <a:ln w="0">
            <a:noFill/>
            <a:prstDash val="solid"/>
          </a:ln>
        </p:spPr>
      </p:sp>
      <p:sp>
        <p:nvSpPr>
          <p:cNvPr id="15" name="gap-top-1">
            <a:extLst>
              <a:ext uri="{FF2B5EF4-FFF2-40B4-BE49-F238E27FC236}">
                <a16:creationId xmlns:a16="http://schemas.microsoft.com/office/drawing/2014/main" id="{26A74717-E75F-4858-BF41-588A3874C39C}"/>
              </a:ext>
            </a:extLst>
          </p:cNvPr>
          <p:cNvSpPr>
            <a:spLocks noGrp="1"/>
          </p:cNvSpPr>
          <p:nvPr/>
        </p:nvSpPr>
        <p:spPr>
          <a:xfrm>
            <a:off x="4333875" y="1952625"/>
            <a:ext cx="3190875" cy="66675"/>
          </a:xfrm>
          <a:prstGeom prst="rect">
            <a:avLst/>
          </a:prstGeom>
          <a:solidFill>
            <a:srgbClr val="D95F02"/>
          </a:solidFill>
          <a:ln w="0">
            <a:noFill/>
            <a:prstDash val="solid"/>
          </a:ln>
        </p:spPr>
      </p:sp>
      <p:sp>
        <p:nvSpPr>
          <p:cNvPr id="16" name="gap-head-1">
            <a:extLst>
              <a:ext uri="{FF2B5EF4-FFF2-40B4-BE49-F238E27FC236}">
                <a16:creationId xmlns:a16="http://schemas.microsoft.com/office/drawing/2014/main" id="{E7302799-F45D-4BD1-AF83-5F469FB80E8E}"/>
              </a:ext>
            </a:extLst>
          </p:cNvPr>
          <p:cNvSpPr>
            <a:spLocks noGrp="1"/>
          </p:cNvSpPr>
          <p:nvPr/>
        </p:nvSpPr>
        <p:spPr>
          <a:xfrm>
            <a:off x="4333875" y="2133600"/>
            <a:ext cx="3190875" cy="361950"/>
          </a:xfrm>
          <a:prstGeom prst="rect">
            <a:avLst/>
          </a:prstGeom>
          <a:noFill/>
          <a:ln w="0">
            <a:noFill/>
            <a:prstDash val="solid"/>
          </a:ln>
        </p:spPr>
        <p:txBody>
          <a:bodyPr wrap="square" lIns="47625" tIns="38100" rIns="47625" bIns="38100" anchor="t">
            <a:noAutofit/>
          </a:bodyPr>
          <a:lstStyle/>
          <a:p>
            <a:pPr algn="ctr">
              <a:defRPr sz="1350" b="1">
                <a:solidFill>
                  <a:srgbClr val="D95F02"/>
                </a:solidFill>
                <a:latin typeface="Calibri"/>
                <a:ea typeface="Calibri"/>
                <a:cs typeface="Calibri"/>
              </a:defRPr>
            </a:pPr>
            <a:r>
              <a:rPr sz="1350" b="1">
                <a:solidFill>
                  <a:srgbClr val="D95F02"/>
                </a:solidFill>
                <a:latin typeface="Calibri"/>
                <a:ea typeface="Calibri"/>
                <a:cs typeface="Calibri"/>
              </a:rPr>
              <a:t>LIMITED WORK IDENTIFIED</a:t>
            </a:r>
          </a:p>
        </p:txBody>
      </p:sp>
      <p:sp>
        <p:nvSpPr>
          <p:cNvPr id="17" name="gap-body-1">
            <a:extLst>
              <a:ext uri="{FF2B5EF4-FFF2-40B4-BE49-F238E27FC236}">
                <a16:creationId xmlns:a16="http://schemas.microsoft.com/office/drawing/2014/main" id="{54983CFF-9219-4F4E-B6F9-15FF4FFDBE18}"/>
              </a:ext>
            </a:extLst>
          </p:cNvPr>
          <p:cNvSpPr>
            <a:spLocks noGrp="1"/>
          </p:cNvSpPr>
          <p:nvPr/>
        </p:nvSpPr>
        <p:spPr>
          <a:xfrm>
            <a:off x="4410075" y="2590800"/>
            <a:ext cx="3048000" cy="2809875"/>
          </a:xfrm>
          <a:prstGeom prst="rect">
            <a:avLst/>
          </a:prstGeom>
          <a:noFill/>
          <a:ln w="0">
            <a:noFill/>
            <a:prstDash val="solid"/>
          </a:ln>
        </p:spPr>
        <p:txBody>
          <a:bodyPr wrap="square" lIns="47625" tIns="38100" rIns="47625" bIns="38100" anchor="t">
            <a:noAutofit/>
          </a:bodyPr>
          <a:lstStyle/>
          <a:p>
            <a:pPr algn="l">
              <a:defRPr sz="1350" b="0">
                <a:solidFill>
                  <a:srgbClr val="17212B"/>
                </a:solidFill>
                <a:latin typeface="Calibri"/>
                <a:ea typeface="Calibri"/>
                <a:cs typeface="Calibri"/>
              </a:defRPr>
            </a:pPr>
            <a:r>
              <a:rPr sz="1350" b="0">
                <a:solidFill>
                  <a:srgbClr val="17212B"/>
                </a:solidFill>
                <a:latin typeface="Calibri"/>
                <a:ea typeface="Calibri"/>
                <a:cs typeface="Calibri"/>
              </a:rPr>
              <a:t>A directly comparable framework was not identified that integrates:</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multiple POLIX Level-2 products</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interpretable feature engineering</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unsupervised observation screening</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product-aware explanations</a:t>
            </a: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 blank-sky-referenced modulation diagnostics</a:t>
            </a:r>
          </a:p>
        </p:txBody>
      </p:sp>
      <p:sp>
        <p:nvSpPr>
          <p:cNvPr id="18" name="divider-813">
            <a:extLst>
              <a:ext uri="{FF2B5EF4-FFF2-40B4-BE49-F238E27FC236}">
                <a16:creationId xmlns:a16="http://schemas.microsoft.com/office/drawing/2014/main" id="{86012F1C-4A58-41E5-BC08-589D25A0907E}"/>
              </a:ext>
            </a:extLst>
          </p:cNvPr>
          <p:cNvSpPr>
            <a:spLocks noGrp="1"/>
          </p:cNvSpPr>
          <p:nvPr/>
        </p:nvSpPr>
        <p:spPr>
          <a:xfrm>
            <a:off x="7743825" y="1952625"/>
            <a:ext cx="14288" cy="3429000"/>
          </a:xfrm>
          <a:prstGeom prst="rect">
            <a:avLst/>
          </a:prstGeom>
          <a:solidFill>
            <a:srgbClr val="CBD5E1"/>
          </a:solidFill>
          <a:ln w="0">
            <a:noFill/>
            <a:prstDash val="solid"/>
          </a:ln>
        </p:spPr>
      </p:sp>
      <p:sp>
        <p:nvSpPr>
          <p:cNvPr id="19" name="gap-top-2">
            <a:extLst>
              <a:ext uri="{FF2B5EF4-FFF2-40B4-BE49-F238E27FC236}">
                <a16:creationId xmlns:a16="http://schemas.microsoft.com/office/drawing/2014/main" id="{AACA053B-3304-4976-8F74-41736CEE8DDF}"/>
              </a:ext>
            </a:extLst>
          </p:cNvPr>
          <p:cNvSpPr>
            <a:spLocks noGrp="1"/>
          </p:cNvSpPr>
          <p:nvPr/>
        </p:nvSpPr>
        <p:spPr>
          <a:xfrm>
            <a:off x="7981950" y="1952625"/>
            <a:ext cx="3190875" cy="66675"/>
          </a:xfrm>
          <a:prstGeom prst="rect">
            <a:avLst/>
          </a:prstGeom>
          <a:solidFill>
            <a:srgbClr val="17365D"/>
          </a:solidFill>
          <a:ln w="0">
            <a:noFill/>
            <a:prstDash val="solid"/>
          </a:ln>
        </p:spPr>
      </p:sp>
      <p:sp>
        <p:nvSpPr>
          <p:cNvPr id="20" name="gap-head-2">
            <a:extLst>
              <a:ext uri="{FF2B5EF4-FFF2-40B4-BE49-F238E27FC236}">
                <a16:creationId xmlns:a16="http://schemas.microsoft.com/office/drawing/2014/main" id="{47B61FC8-96B3-46AD-8274-A5DDE4CF634E}"/>
              </a:ext>
            </a:extLst>
          </p:cNvPr>
          <p:cNvSpPr>
            <a:spLocks noGrp="1"/>
          </p:cNvSpPr>
          <p:nvPr/>
        </p:nvSpPr>
        <p:spPr>
          <a:xfrm>
            <a:off x="7981950" y="2133600"/>
            <a:ext cx="3190875" cy="361950"/>
          </a:xfrm>
          <a:prstGeom prst="rect">
            <a:avLst/>
          </a:prstGeom>
          <a:noFill/>
          <a:ln w="0">
            <a:noFill/>
            <a:prstDash val="solid"/>
          </a:ln>
        </p:spPr>
        <p:txBody>
          <a:bodyPr wrap="square" lIns="47625" tIns="38100" rIns="47625" bIns="38100" anchor="t">
            <a:noAutofit/>
          </a:bodyPr>
          <a:lstStyle/>
          <a:p>
            <a:pPr algn="ctr">
              <a:defRPr sz="1350" b="1">
                <a:solidFill>
                  <a:srgbClr val="17365D"/>
                </a:solidFill>
                <a:latin typeface="Calibri"/>
                <a:ea typeface="Calibri"/>
                <a:cs typeface="Calibri"/>
              </a:defRPr>
            </a:pPr>
            <a:r>
              <a:rPr sz="1350" b="1">
                <a:solidFill>
                  <a:srgbClr val="17365D"/>
                </a:solidFill>
                <a:latin typeface="Calibri"/>
                <a:ea typeface="Calibri"/>
                <a:cs typeface="Calibri"/>
              </a:rPr>
              <a:t>PROPOSED POSITION</a:t>
            </a:r>
          </a:p>
        </p:txBody>
      </p:sp>
      <p:sp>
        <p:nvSpPr>
          <p:cNvPr id="21" name="gap-body-2">
            <a:extLst>
              <a:ext uri="{FF2B5EF4-FFF2-40B4-BE49-F238E27FC236}">
                <a16:creationId xmlns:a16="http://schemas.microsoft.com/office/drawing/2014/main" id="{0C95FC37-3D63-49AD-8205-FAE68DABF7C8}"/>
              </a:ext>
            </a:extLst>
          </p:cNvPr>
          <p:cNvSpPr>
            <a:spLocks noGrp="1"/>
          </p:cNvSpPr>
          <p:nvPr/>
        </p:nvSpPr>
        <p:spPr>
          <a:xfrm>
            <a:off x="8058150" y="2590800"/>
            <a:ext cx="3048000" cy="2809875"/>
          </a:xfrm>
          <a:prstGeom prst="rect">
            <a:avLst/>
          </a:prstGeom>
          <a:noFill/>
          <a:ln w="0">
            <a:noFill/>
            <a:prstDash val="solid"/>
          </a:ln>
        </p:spPr>
        <p:txBody>
          <a:bodyPr wrap="square" lIns="47625" tIns="38100" rIns="47625" bIns="38100" anchor="t">
            <a:noAutofit/>
          </a:bodyPr>
          <a:lstStyle/>
          <a:p>
            <a:pPr algn="l">
              <a:defRPr sz="1350" b="0">
                <a:solidFill>
                  <a:srgbClr val="17212B"/>
                </a:solidFill>
                <a:latin typeface="Calibri"/>
                <a:ea typeface="Calibri"/>
                <a:cs typeface="Calibri"/>
              </a:defRPr>
            </a:pPr>
            <a:r>
              <a:rPr sz="1350" b="0">
                <a:solidFill>
                  <a:srgbClr val="17212B"/>
                </a:solidFill>
                <a:latin typeface="Calibri"/>
                <a:ea typeface="Calibri"/>
                <a:cs typeface="Calibri"/>
              </a:rPr>
              <a:t>The proposed study intends to investigate a researcher-facing screening framework that keeps two questions separate:</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1. Is this observation statistically unusual?</a:t>
            </a:r>
          </a:p>
          <a:p>
            <a:endParaRPr sz="1350" b="0">
              <a:solidFill>
                <a:srgbClr val="17212B"/>
              </a:solidFill>
              <a:latin typeface="Calibri"/>
              <a:ea typeface="Calibri"/>
              <a:cs typeface="Calibri"/>
            </a:endParaRPr>
          </a:p>
          <a:p>
            <a:pPr algn="l">
              <a:defRPr sz="1350" b="0">
                <a:solidFill>
                  <a:srgbClr val="17212B"/>
                </a:solidFill>
                <a:latin typeface="Calibri"/>
                <a:ea typeface="Calibri"/>
                <a:cs typeface="Calibri"/>
              </a:defRPr>
            </a:pPr>
            <a:r>
              <a:rPr sz="1350" b="0">
                <a:solidFill>
                  <a:srgbClr val="17212B"/>
                </a:solidFill>
                <a:latin typeface="Calibri"/>
                <a:ea typeface="Calibri"/>
                <a:cs typeface="Calibri"/>
              </a:rPr>
              <a:t>2. Does independent modulation evidence justify further polarimetric interpretation?</a:t>
            </a:r>
          </a:p>
        </p:txBody>
      </p:sp>
      <p:sp>
        <p:nvSpPr>
          <p:cNvPr id="22" name="guardrails">
            <a:extLst>
              <a:ext uri="{FF2B5EF4-FFF2-40B4-BE49-F238E27FC236}">
                <a16:creationId xmlns:a16="http://schemas.microsoft.com/office/drawing/2014/main" id="{4455DBA1-362D-4566-B4EE-0F137B36EFB4}"/>
              </a:ext>
            </a:extLst>
          </p:cNvPr>
          <p:cNvSpPr>
            <a:spLocks noGrp="1"/>
          </p:cNvSpPr>
          <p:nvPr/>
        </p:nvSpPr>
        <p:spPr>
          <a:xfrm>
            <a:off x="762000" y="5543550"/>
            <a:ext cx="10668000" cy="523875"/>
          </a:xfrm>
          <a:prstGeom prst="roundRect">
            <a:avLst>
              <a:gd name="adj" fmla="val 14545"/>
            </a:avLst>
          </a:prstGeom>
          <a:solidFill>
            <a:srgbClr val="FCECEC"/>
          </a:solidFill>
          <a:ln w="13335">
            <a:solidFill>
              <a:srgbClr val="A61B1B"/>
            </a:solidFill>
            <a:prstDash val="solid"/>
          </a:ln>
        </p:spPr>
        <p:txBody>
          <a:bodyPr wrap="square" lIns="133350" tIns="95250" rIns="133350" bIns="95250" anchor="ctr">
            <a:noAutofit/>
          </a:bodyPr>
          <a:lstStyle/>
          <a:p>
            <a:pPr algn="ctr">
              <a:defRPr sz="1313" b="1">
                <a:solidFill>
                  <a:srgbClr val="A61B1B"/>
                </a:solidFill>
                <a:latin typeface="Calibri"/>
                <a:ea typeface="Calibri"/>
                <a:cs typeface="Calibri"/>
              </a:defRPr>
            </a:pPr>
            <a:r>
              <a:rPr sz="1313" b="1">
                <a:solidFill>
                  <a:srgbClr val="A61B1B"/>
                </a:solidFill>
                <a:latin typeface="Calibri"/>
                <a:ea typeface="Calibri"/>
                <a:cs typeface="Calibri"/>
              </a:rPr>
              <a:t>Claim boundaries: anomaly ≠ discovery   •   fitted phase ≠ official PA   •   no calibrated PD without official calibration   •   expert validation remains essential</a:t>
            </a:r>
          </a:p>
        </p:txBody>
      </p:sp>
    </p:spTree>
    <p:extLst>
      <p:ext uri="{BB962C8B-B14F-4D97-AF65-F5344CB8AC3E}">
        <p14:creationId xmlns:p14="http://schemas.microsoft.com/office/powerpoint/2010/main" val="30680062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1698</Words>
  <Application>Microsoft Office PowerPoint</Application>
  <DocSecurity>0</DocSecurity>
  <PresentationFormat>Widescreen</PresentationFormat>
  <Paragraphs>243</Paragraphs>
  <Slides>19</Slides>
  <Notes>16</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19</vt:i4>
      </vt:variant>
    </vt:vector>
  </HeadingPairs>
  <TitlesOfParts>
    <vt:vector size="25" baseType="lpstr">
      <vt:lpstr>Arial</vt:lpstr>
      <vt:lpstr>Calibri</vt:lpstr>
      <vt:lpstr>Calibri Light</vt:lpstr>
      <vt:lpstr>Wingdings</vt:lpstr>
      <vt:lpstr>Office Theme</vt:lpstr>
      <vt:lpstr>1_Office Theme</vt:lpstr>
      <vt:lpstr>An Explainable AI Framework for Analysis of X-Ray Polarimetry Data from XPoSat
Under the Guidance of
Ms. Soujanya</vt:lpstr>
      <vt:lpstr>PowerPoint Presentation</vt:lpstr>
      <vt:lpstr>INTRODUCTION</vt:lpstr>
      <vt:lpstr>Why X-Ray Astronomy Needs Polarization</vt:lpstr>
      <vt:lpstr>POLIX Converts Scattering into Modulation</vt:lpstr>
      <vt:lpstr>BASE PAPERS</vt:lpstr>
      <vt:lpstr>Existing System</vt:lpstr>
      <vt:lpstr>BASE-PAPER INTERPRETATION</vt:lpstr>
      <vt:lpstr>LITERATURE SURVEY</vt:lpstr>
      <vt:lpstr>EXISTING SYSTEM</vt:lpstr>
      <vt:lpstr>ADVANTAGES OF EXISTING SYSTEM</vt:lpstr>
      <vt:lpstr>EXISTING SYSTEM — LIMITATIONS</vt:lpstr>
      <vt:lpstr>Research Problem, Aim and Objectives</vt:lpstr>
      <vt:lpstr>ADVANTAGES OF PROPOSED SYSTEM</vt:lpstr>
      <vt:lpstr>DISADVANTAGES / EXPECTED LIMITATIONS</vt:lpstr>
      <vt:lpstr>PowerPoint Presentation</vt:lpstr>
      <vt:lpstr>ARCHITECTURE EXPLANATION</vt:lpstr>
      <vt:lpstr>Explainability Must Preserve Scientific Meaning</vt:lpstr>
      <vt:lpstr>Research Gap and Proposed Position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Sai Saatvik Gunturi</cp:lastModifiedBy>
  <cp:revision>6</cp:revision>
  <dcterms:created xsi:type="dcterms:W3CDTF">2026-08-01T03:48:08Z</dcterms:created>
  <dcterms:modified xsi:type="dcterms:W3CDTF">2026-08-01T04:26:39Z</dcterms:modified>
</cp:coreProperties>
</file>