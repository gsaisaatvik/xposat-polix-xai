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39" y="8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C:\Users\Saatvik\Downloads\Sample Template_ppt.pptx — college-supplied visual template and institutional branding.</a:t>
            </a:r>
          </a:p>
          <a:p>
            <a:pPr marL="0" lvl="0" indent="0" algn="l">
              <a:lnSpc>
                <a:spcPct val="100000"/>
              </a:lnSpc>
              <a:spcBef>
                <a:spcPts val="0"/>
              </a:spcBef>
              <a:spcAft>
                <a:spcPts val="0"/>
              </a:spcAft>
              <a:buSzPts val="1100"/>
              <a:buNone/>
            </a:pPr>
            <a:r>
              <a:t>- Project title supplied by the user; wording preserved exactly.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Indian Space Research Organisation, “XPoSat: India’s X-Ray Polarimetry Mission,” 2023, https://www.isro.gov.in/ISRO_EN/XPoSat_X-Ray_Polarimetry_Mission.html.</a:t>
            </a:r>
          </a:p>
          <a:p>
            <a:r>
              <a:t>- N. Anand, K. Rikame, and K. Roy, XPoSat-POLIX User Handbook: User Guide for Scientific Data Analysis Level2, version 1.0, 2025.</a:t>
            </a:r>
          </a:p>
          <a:p>
            <a:r>
              <a:t>- D:\polix_xai_webapp\PS1_Review1_Introduction_Literature_Survey.md — reviewed Review-I abstract and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 C. Weisskopf et al., “An overview of the performance and scientific results from the Chandra X-Ray Observatory,” PASP, 2002, https://doi.org/10.1086/338108.</a:t>
            </a:r>
          </a:p>
          <a:p>
            <a:r>
              <a:t>- S. Fabiani, “Instrumentation and future missions in the upcoming era of X-ray polarimetry,” Galaxies, 2018, https://doi.org/10.3390/galaxies6020054.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 Fabiani, “Instrumentation and future missions in the upcoming era of X-ray polarimetry,” Galaxies, 2018, https://doi.org/10.3390/galaxies6020054.</a:t>
            </a:r>
          </a:p>
          <a:p>
            <a:r>
              <a:t>- F. Kislat et al., “Analyzing the data from X-ray polarimeters with Stokes parameters,” Astroparticle Physics, 2015, https://doi.org/10.1016/j.astropartphys.2015.02.007.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Indian Space Research Organisation, “XPoSat: India’s X-Ray Polarimetry Mission,” 2023, https://www.isro.gov.in/ISRO_EN/XPoSat_X-Ray_Polarimetry_Mission.html.</a:t>
            </a:r>
          </a:p>
          <a:p>
            <a:r>
              <a:t>- M. C. Weisskopf et al., Chandra overview, PASP, 2002, https://doi.org/10.1086/338108.</a:t>
            </a:r>
          </a:p>
          <a:p>
            <a:r>
              <a:t>- M. C. Weisskopf et al., “The Imaging X-Ray Polarimetry Explorer (IXPE): Pre-Launch,” JATIS, 2022, https://doi.org/10.1117/1.JATIS.8.2.026002.</a:t>
            </a:r>
          </a:p>
          <a:p>
            <a:r>
              <a:t>- H. Saini, K. V. Madhu, and R. Karidhal, XPoSat mission analysis, Experimental Astronomy, 2025, https://doi.org/10.1007/s10686-025-09988-6.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Indian Space Research Organisation, “XPoSat: India’s X-Ray Polarimetry Mission,” 2023, https://www.isro.gov.in/ISRO_EN/XPoSat_X-Ray_Polarimetry_Mission.html.</a:t>
            </a:r>
          </a:p>
          <a:p>
            <a:r>
              <a:t>- H. Saini, K. V. Madhu, and R. Karidhal, XPoSat mission analysis, Experimental Astronomy, 2025, https://doi.org/10.1007/s10686-025-09988-6.</a:t>
            </a:r>
          </a:p>
          <a:p>
            <a:r>
              <a:t>- Visual reused from C:\Users\Saatvik\Downloads\XPoSat_POLIX_XAI_Presentation (1).pptx, embedded media image2.png. Original asset provenance was not independently established; used only because the user supplied it for reuse.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 Anand, K. Rikame, and K. Roy, XPoSat-POLIX User Handbook: User Guide for Scientific Data Analysis Level2, version 1.0, 2025 — central beryllium scatterer, four proportional counters, 48 anode cells, Thomson-scattering operation.</a:t>
            </a:r>
          </a:p>
          <a:p>
            <a:r>
              <a:t>- Indian Space Research Organisation, XPoSat mission page, https://www.isro.gov.in/ISRO_EN/XPoSat_X-Ray_Polarimetry_Mission.html.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 Anand, K. Rikame, and K. Roy, XPoSat-POLIX User Handbook: User Guide for Scientific Data Analysis Level2, version 1.0, 2025 — Level-2 product families and WeightedRoll source/background content.</a:t>
            </a:r>
          </a:p>
          <a:p>
            <a:r>
              <a:t>- D:\polix_xai_webapp\PS1_Review1_Citation_Audit.md — verified claim-to-source mapping for Level-2 product descriptions.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D:\polix_xai_webapp\PS1_Review1_Introduction_Literature_Survey.md, Sections 1.7–1.11 — reviewed motivation, formal problem, aim, objectives and scope.</a:t>
            </a:r>
          </a:p>
          <a:p>
            <a:r>
              <a:t>- V. Yepmo, G. Smits, and O. Pivert, “Anomaly explanation: A review,” Data &amp; Knowledge Engineering, 2022, https://doi.org/10.1016/j.datak.2021.101946.</a:t>
            </a:r>
          </a:p>
          <a:p>
            <a:r>
              <a:t>- M. Lochner and B. A. Bassett, “Astronomaly,” Astronomy and Computing, 2021, https://doi.org/10.1016/j.ascom.2021.100481.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 Kumaran, S. Mandal, and S. Bhattacharyya, “Explainable machine learning classification of Chandra X-ray sources: SHAP analysis of multi-wavelength features,” arXiv:2601.04650, 2026, https://doi.org/10.48550/arXiv.2601.04650. Local file: C:\Users\Saatvik\Downloads\basepaper.pdf.</a:t>
            </a:r>
          </a:p>
          <a:p>
            <a:r>
              <a:t>- V. S. Pérez-Díaz et al., “Unsupervised machine learning for the classification of astrophysical X-ray sources,” MNRAS, 2024, https://doi.org/10.1093/mnras/stae260. Local file: C:\Users\Saatvik\Downloads\stae260.pdf.</a:t>
            </a:r>
          </a:p>
          <a:p>
            <a:r>
              <a:t>- Interpretation explicitly requested by the user: both papers influenced ideas, but classification, LightGBM and SHAP are not the methods used by the evolved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N. Anand, K. Rikame, and K. Roy, XPoSat-POLIX User Handbook, version 1.0, 2025.</a:t>
            </a:r>
          </a:p>
          <a:p>
            <a:r>
              <a:t>- F. Kislat et al., “Analyzing the data from X-ray polarimeters with Stokes parameters,” 2015, https://doi.org/10.1016/j.astropartphys.2015.02.007.</a:t>
            </a:r>
          </a:p>
          <a:p>
            <a:r>
              <a:t>- F. T. Liu, K. M. Ting, and Z.-H. Zhou, “Isolation Forest,” ICDM 2008, https://doi.org/10.1109/ICDM.2008.17.</a:t>
            </a:r>
          </a:p>
          <a:p>
            <a:r>
              <a:t>- V. Yepmo, G. Smits, and O. Pivert, “Anomaly explanation: A review,” 2022, https://doi.org/10.1016/j.datak.2021.101946.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 Fabiani, X-ray polarimetry instrumentation review, 2018, https://doi.org/10.3390/galaxies6020054.</a:t>
            </a:r>
          </a:p>
          <a:p>
            <a:r>
              <a:t>- F. Kislat et al., Stokes analysis, 2015, https://doi.org/10.1016/j.astropartphys.2015.02.007.</a:t>
            </a:r>
          </a:p>
          <a:p>
            <a:r>
              <a:t>- M. C. Weisskopf et al., Chandra overview, 2002, https://doi.org/10.1086/338108.</a:t>
            </a:r>
          </a:p>
          <a:p>
            <a:r>
              <a:t>- M. C. Weisskopf et al., IXPE pre-launch, 2022, https://doi.org/10.1117/1.JATIS.8.2.026002.</a:t>
            </a:r>
          </a:p>
          <a:p>
            <a:r>
              <a:t>- N. Bucciantini et al., Crab polarimetry, 2023, https://doi.org/10.1038/s41550-023-01936-8.</a:t>
            </a:r>
          </a:p>
          <a:p>
            <a:r>
              <a:t>- H. Krawczynski et al., Cygnus X-1 polarimetry, 2022, https://doi.org/10.1126/science.add5399.</a:t>
            </a:r>
          </a:p>
          <a:p>
            <a:r>
              <a:t>- V. Doroshenko et al., Her X-1 geometry, 2022, https://doi.org/10.1038/s41550-022-01799-5.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 S. Pérez-Díaz et al., “Unsupervised machine learning for the classification of astrophysical X-ray sources,” MNRAS, 2024, https://doi.org/10.1093/mnras/stae260.</a:t>
            </a:r>
          </a:p>
          <a:p>
            <a:r>
              <a:t>- K. Pearson, “On lines and planes of closest fit to systems of points in space,” 1901, https://doi.org/10.1080/14786440109462720.</a:t>
            </a:r>
          </a:p>
          <a:p>
            <a:r>
              <a:t>- J. B. MacQueen, “Some methods for classification and analysis of multivariate observations,” 1967.</a:t>
            </a:r>
          </a:p>
          <a:p>
            <a:r>
              <a:t>- F. T. Liu et al., “Isolation Forest,” ICDM 2008, https://doi.org/10.1109/ICDM.2008.17.</a:t>
            </a:r>
          </a:p>
          <a:p>
            <a:r>
              <a:t>- M. Lochner and B. A. Bassett, “Astronomaly,” 2021, https://doi.org/10.1016/j.ascom.2021.100481.</a:t>
            </a:r>
          </a:p>
          <a:p>
            <a:r>
              <a:t>- D. Baron and D. Poznanski, “The weirdest SDSS galaxies,” MNRAS, 2017, https://doi.org/10.1093/mnras/stw3021.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 Yepmo, G. Smits, and O. Pivert, “Anomaly explanation: A review,” 2022, https://doi.org/10.1016/j.datak.2021.101946.</a:t>
            </a:r>
          </a:p>
          <a:p>
            <a:r>
              <a:t>- S. M. Lundberg and S.-I. Lee, “A unified approach to interpreting model predictions,” NeurIPS, 2017.</a:t>
            </a:r>
          </a:p>
          <a:p>
            <a:r>
              <a:t>- F. Kislat et al., Stokes analysis and background handling, 2015, https://doi.org/10.1016/j.astropartphys.2015.02.007.</a:t>
            </a:r>
          </a:p>
          <a:p>
            <a:r>
              <a:t>- POLIX Level-2 User Handbook, version 1.0, 2025 — WeightedRoll contains source and background contributions.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D:\polix_xai_webapp\PS1_Review1_Literature_Comparison_Table.md — thematic synthesis and final research-gap statement.</a:t>
            </a:r>
          </a:p>
          <a:p>
            <a:r>
              <a:t>- D:\polix_xai_webapp\PS1_Review1_Introduction_Literature_Survey.md, Sections 3.8–3.10 — reviewed literature synthesis, cautious gap wording and Review-I positioning.</a:t>
            </a:r>
          </a:p>
          <a:p>
            <a:r>
              <a:t>- Gap wording is intentionally cautious: “limited published work was identified,” not “no work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Reference details reproduced from D:\polix_xai_webapp\PS1_Review1_Introduction_Literature_Survey.md and its citation audit.</a:t>
            </a:r>
          </a:p>
          <a:p>
            <a:r>
              <a:t>- Official mission page: https://www.isro.gov.in/ISRO_EN/XPoSat_X-Ray_Polarimetry_Mission.html.</a:t>
            </a:r>
          </a:p>
          <a:p>
            <a:r>
              <a:t>- All DOI values visible on the slide were verified in the reviewed source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Reference details reproduced from D:\polix_xai_webapp\PS1_Review1_Introduction_Literature_Survey.md plus the two user-supplied Chandra papers.</a:t>
            </a:r>
          </a:p>
          <a:p>
            <a:r>
              <a:t>- Pérez-Díaz et al. local file: C:\Users\Saatvik\Downloads\stae260.pdf.</a:t>
            </a:r>
          </a:p>
          <a:p>
            <a:r>
              <a:t>- Kumaran et al. local file: C:\Users\Saatvik\Downloads\basepaper.pdf.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D315-1030-2B80-D0DB-7DEEC51AFFE6}"/>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F77340B-0DDE-10DC-409E-BA063EBE4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B177A8D4-3527-9309-0A5E-0475A3853D81}"/>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357D2761-D1A7-DE4C-7344-6C081C8ED71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A978F2B-4F0D-DBBF-0776-26DB50202099}"/>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A110-943C-23F5-1EB3-12DABC3B014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AECFC8E-FF6E-CAA4-BF99-DDC6A7CE30CC}"/>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CF43755-E77B-2AD8-9864-3CCCD43DB92C}"/>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C00A0D81-0C2A-C1D4-89B6-8AE90F9526E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0B9370B-01DE-CE63-36D5-96A9D825C7B0}"/>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0AC2-F784-0AF0-F3ED-DBCD17B7D40C}"/>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BD271C8-4BB8-81BF-3E48-A331E363C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75B16BC-0E70-2E48-7097-0DFE7C08FAAE}"/>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3CD047D9-7A7D-1CD5-72A5-F76FBD2C53E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68091CC-B299-657A-2C84-A5F2F888820C}"/>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F06C-0D22-B95A-3B46-31C419CCD16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CF73E89-D75F-3A4E-A217-F46B0DA8C06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7410F7D-6F60-6DB0-0E74-8FEE6CE09FB7}"/>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C272328-69C6-F435-4813-270551D6E50E}"/>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9BC3F8F5-C5C9-48DC-1308-5E0A2373638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CA24BD1-9CE1-C3C2-B124-AE1341592850}"/>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4B79-7BBE-B26E-CD11-6E073F017804}"/>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F4E82D61-2728-EA99-834D-7D09F97DF8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5C5F1A8-9E4B-1F46-6A76-FE7DBEDDB9B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A25FC5FE-7EE0-3067-D9E3-E1B7ACBE5CA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9C1A719-3264-25D2-762F-27B02CA5EB3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4678265-E976-C256-95D8-A8912C72D179}"/>
              </a:ext>
            </a:extLst>
          </p:cNvPr>
          <p:cNvSpPr>
            <a:spLocks noGrp="1"/>
          </p:cNvSpPr>
          <p:nvPr>
            <p:ph type="dt" idx="10"/>
          </p:nvPr>
        </p:nvSpPr>
        <p:spPr/>
        <p:txBody>
          <a:bodyPr/>
          <a:lstStyle/>
          <a:p>
            <a:fld id="{6246DAB4-64D8-47E1-86DF-DDDBF407C837}" type="datetimeFigureOut">
              <a:t>8/1/2026</a:t>
            </a:fld>
            <a:endParaRPr/>
          </a:p>
        </p:txBody>
      </p:sp>
      <p:sp>
        <p:nvSpPr>
          <p:cNvPr id="8" name="Footer Placeholder 7">
            <a:extLst>
              <a:ext uri="{FF2B5EF4-FFF2-40B4-BE49-F238E27FC236}">
                <a16:creationId xmlns:a16="http://schemas.microsoft.com/office/drawing/2014/main" id="{49D36777-CC57-C820-BF8C-8D0CF23D1D1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4A80B76-8FA3-06A7-902F-E352C63C2AA8}"/>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8CDFE-68BE-C53D-F11D-3E85BE704F1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480FBA4-BC6C-DAE9-B28F-131F14F4EB97}"/>
              </a:ext>
            </a:extLst>
          </p:cNvPr>
          <p:cNvSpPr>
            <a:spLocks noGrp="1"/>
          </p:cNvSpPr>
          <p:nvPr>
            <p:ph type="dt" idx="10"/>
          </p:nvPr>
        </p:nvSpPr>
        <p:spPr/>
        <p:txBody>
          <a:bodyPr/>
          <a:lstStyle/>
          <a:p>
            <a:fld id="{6246DAB4-64D8-47E1-86DF-DDDBF407C837}" type="datetimeFigureOut">
              <a:t>8/1/2026</a:t>
            </a:fld>
            <a:endParaRPr/>
          </a:p>
        </p:txBody>
      </p:sp>
      <p:sp>
        <p:nvSpPr>
          <p:cNvPr id="4" name="Footer Placeholder 3">
            <a:extLst>
              <a:ext uri="{FF2B5EF4-FFF2-40B4-BE49-F238E27FC236}">
                <a16:creationId xmlns:a16="http://schemas.microsoft.com/office/drawing/2014/main" id="{767C68B9-31A8-4792-F49D-2952126BFC7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936716E-C2BA-F748-85E9-7F0311957349}"/>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5A6AF-4CC8-54AC-FA16-AEBA470BBF8D}"/>
              </a:ext>
            </a:extLst>
          </p:cNvPr>
          <p:cNvSpPr>
            <a:spLocks noGrp="1"/>
          </p:cNvSpPr>
          <p:nvPr>
            <p:ph type="dt" idx="10"/>
          </p:nvPr>
        </p:nvSpPr>
        <p:spPr/>
        <p:txBody>
          <a:bodyPr/>
          <a:lstStyle/>
          <a:p>
            <a:fld id="{6246DAB4-64D8-47E1-86DF-DDDBF407C837}" type="datetimeFigureOut">
              <a:t>8/1/2026</a:t>
            </a:fld>
            <a:endParaRPr/>
          </a:p>
        </p:txBody>
      </p:sp>
      <p:sp>
        <p:nvSpPr>
          <p:cNvPr id="3" name="Footer Placeholder 2">
            <a:extLst>
              <a:ext uri="{FF2B5EF4-FFF2-40B4-BE49-F238E27FC236}">
                <a16:creationId xmlns:a16="http://schemas.microsoft.com/office/drawing/2014/main" id="{A4E6884A-7660-6A22-843A-FB822052380B}"/>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9005E15-4ACF-A3B3-FBFE-4D73E8C1A43E}"/>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CDFCA-286F-443B-15DC-CADE0C67A0D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488B1CB-9637-A0B8-1EFC-6E5BAA21A2F2}"/>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EDB3AB0-8AC3-63AC-1867-1D3D46D4CD2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8B0CEAB7-F5DA-BFC5-0365-4BAA0BDA35EB}"/>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C2923004-B909-75B9-5143-716F19EBE08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146B2E9-27EC-85B8-C336-7F459E3F76E1}"/>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E309-44E4-B050-60D6-980FBE7A69E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E3F88B82-D5EF-6449-0E46-6018B42DF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7ED7B3C-D6F6-9D71-843F-F55A49107D1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154F7285-2883-A37B-1978-0DD70F535574}"/>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7A7ABE42-D47A-22EE-D00F-DD65496D46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51BA2B4-747B-B0E4-0325-9ECD9E419567}"/>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300C-8D5E-D5B2-0D9C-8B274A8563F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110BF644-E307-4898-579B-2F5C0191AB1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8E9926B-92DB-5030-6C8D-3414FB881971}"/>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7F5860F0-C556-9493-9C42-3D2CFC4C6CB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C1A6D93-20CC-08BA-CC36-537C3CBBCE1D}"/>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9B8D19-A675-BB65-B565-649B72C34358}"/>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0927A4D-9F97-4C16-820B-FB05610C871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0C3344-B033-4A65-2E60-A222E42C0296}"/>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D4A87110-36C5-4A97-F84F-1B07FCA20A2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B25307-4E04-5972-AF84-0BCBF9A02008}"/>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
        <p:cNvGrpSpPr/>
        <p:nvPr/>
      </p:nvGrpSpPr>
      <p:grpSpPr>
        <a:xfrm>
          <a:off x="0" y="0"/>
          <a:ext cx="0" cy="0"/>
          <a:chOff x="0" y="0"/>
          <a:chExt cx="0" cy="0"/>
        </a:xfrm>
      </p:grpSpPr>
      <p:sp>
        <p:nvSpPr>
          <p:cNvPr id="12" name="Google Shape;12;p5">
            <a:extLst>
              <a:ext uri="{FF2B5EF4-FFF2-40B4-BE49-F238E27FC236}">
                <a16:creationId xmlns:a16="http://schemas.microsoft.com/office/drawing/2014/main" id="{9A25C0EF-CDB1-46D0-80C1-D16EE4608717}"/>
              </a:ext>
            </a:extLst>
          </p:cNvPr>
          <p:cNvSpPr>
            <a:spLocks noGrp="1"/>
          </p:cNvSpPr>
          <p:nvPr>
            <p:ph type="ctrTitle"/>
          </p:nvPr>
        </p:nvSpPr>
        <p:spPr>
          <a:xfrm>
            <a:off x="914400" y="2130427"/>
            <a:ext cx="10363200" cy="1470025"/>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 name="Google Shape;13;p5">
            <a:extLst>
              <a:ext uri="{FF2B5EF4-FFF2-40B4-BE49-F238E27FC236}">
                <a16:creationId xmlns:a16="http://schemas.microsoft.com/office/drawing/2014/main" id="{E5BCA626-FAE4-4131-98E0-7DBA6AD068C4}"/>
              </a:ext>
            </a:extLst>
          </p:cNvPr>
          <p:cNvSpPr>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ormAutofit/>
          </a:bodyPr>
          <a:lstStyle>
            <a:lvl1pPr algn="ctr">
              <a:lnSpc>
                <a:spcPct val="100000"/>
              </a:lnSpc>
              <a:spcBef>
                <a:spcPts val="672"/>
              </a:spcBef>
              <a:spcAft>
                <a:spcPts val="0"/>
              </a:spcAft>
              <a:buClr>
                <a:srgbClr val="888888"/>
              </a:buClr>
              <a:buSzPts val="3360"/>
              <a:buNone/>
              <a:defRPr>
                <a:solidFill>
                  <a:srgbClr val="888888"/>
                </a:solidFill>
              </a:defRPr>
            </a:lvl1pPr>
            <a:lvl2pPr algn="ctr">
              <a:lnSpc>
                <a:spcPct val="100000"/>
              </a:lnSpc>
              <a:spcBef>
                <a:spcPts val="600"/>
              </a:spcBef>
              <a:spcAft>
                <a:spcPts val="0"/>
              </a:spcAft>
              <a:buClr>
                <a:srgbClr val="888888"/>
              </a:buClr>
              <a:buSzPts val="3000"/>
              <a:buNone/>
              <a:defRPr>
                <a:solidFill>
                  <a:srgbClr val="888888"/>
                </a:solidFill>
              </a:defRPr>
            </a:lvl2pPr>
            <a:lvl3pPr algn="ctr">
              <a:lnSpc>
                <a:spcPct val="100000"/>
              </a:lnSpc>
              <a:spcBef>
                <a:spcPts val="504"/>
              </a:spcBef>
              <a:spcAft>
                <a:spcPts val="0"/>
              </a:spcAft>
              <a:buClr>
                <a:srgbClr val="888888"/>
              </a:buClr>
              <a:buSzPts val="2520"/>
              <a:buNone/>
              <a:defRPr>
                <a:solidFill>
                  <a:srgbClr val="888888"/>
                </a:solidFill>
              </a:defRPr>
            </a:lvl3pPr>
            <a:lvl4pPr algn="ctr">
              <a:lnSpc>
                <a:spcPct val="100000"/>
              </a:lnSpc>
              <a:spcBef>
                <a:spcPts val="432"/>
              </a:spcBef>
              <a:spcAft>
                <a:spcPts val="0"/>
              </a:spcAft>
              <a:buClr>
                <a:srgbClr val="888888"/>
              </a:buClr>
              <a:buSzPts val="2160"/>
              <a:buNone/>
              <a:defRPr>
                <a:solidFill>
                  <a:srgbClr val="888888"/>
                </a:solidFill>
              </a:defRPr>
            </a:lvl4pPr>
            <a:lvl5pPr algn="ctr">
              <a:lnSpc>
                <a:spcPct val="100000"/>
              </a:lnSpc>
              <a:spcBef>
                <a:spcPts val="432"/>
              </a:spcBef>
              <a:spcAft>
                <a:spcPts val="0"/>
              </a:spcAft>
              <a:buClr>
                <a:srgbClr val="888888"/>
              </a:buClr>
              <a:buSzPts val="2160"/>
              <a:buNone/>
              <a:defRPr>
                <a:solidFill>
                  <a:srgbClr val="888888"/>
                </a:solidFill>
              </a:defRPr>
            </a:lvl5pPr>
            <a:lvl6pPr algn="ctr">
              <a:lnSpc>
                <a:spcPct val="100000"/>
              </a:lnSpc>
              <a:spcBef>
                <a:spcPts val="432"/>
              </a:spcBef>
              <a:spcAft>
                <a:spcPts val="0"/>
              </a:spcAft>
              <a:buClr>
                <a:srgbClr val="888888"/>
              </a:buClr>
              <a:buSzPts val="2160"/>
              <a:buNone/>
              <a:defRPr>
                <a:solidFill>
                  <a:srgbClr val="888888"/>
                </a:solidFill>
              </a:defRPr>
            </a:lvl6pPr>
            <a:lvl7pPr algn="ctr">
              <a:lnSpc>
                <a:spcPct val="100000"/>
              </a:lnSpc>
              <a:spcBef>
                <a:spcPts val="432"/>
              </a:spcBef>
              <a:spcAft>
                <a:spcPts val="0"/>
              </a:spcAft>
              <a:buClr>
                <a:srgbClr val="888888"/>
              </a:buClr>
              <a:buSzPts val="2160"/>
              <a:buNone/>
              <a:defRPr>
                <a:solidFill>
                  <a:srgbClr val="888888"/>
                </a:solidFill>
              </a:defRPr>
            </a:lvl7pPr>
            <a:lvl8pPr algn="ctr">
              <a:lnSpc>
                <a:spcPct val="100000"/>
              </a:lnSpc>
              <a:spcBef>
                <a:spcPts val="432"/>
              </a:spcBef>
              <a:spcAft>
                <a:spcPts val="0"/>
              </a:spcAft>
              <a:buClr>
                <a:srgbClr val="888888"/>
              </a:buClr>
              <a:buSzPts val="2160"/>
              <a:buNone/>
              <a:defRPr>
                <a:solidFill>
                  <a:srgbClr val="888888"/>
                </a:solidFill>
              </a:defRPr>
            </a:lvl8pPr>
            <a:lvl9pPr algn="ctr">
              <a:lnSpc>
                <a:spcPct val="100000"/>
              </a:lnSpc>
              <a:spcBef>
                <a:spcPts val="432"/>
              </a:spcBef>
              <a:spcAft>
                <a:spcPts val="0"/>
              </a:spcAft>
              <a:buClr>
                <a:srgbClr val="888888"/>
              </a:buClr>
              <a:buSzPts val="2160"/>
              <a:buNone/>
              <a:defRPr>
                <a:solidFill>
                  <a:srgbClr val="888888"/>
                </a:solidFill>
              </a:defRPr>
            </a:lvl9pPr>
          </a:lstStyle>
          <a:p>
            <a:endParaRPr/>
          </a:p>
        </p:txBody>
      </p:sp>
      <p:sp>
        <p:nvSpPr>
          <p:cNvPr id="14" name="Google Shape;14;p5">
            <a:extLst>
              <a:ext uri="{FF2B5EF4-FFF2-40B4-BE49-F238E27FC236}">
                <a16:creationId xmlns:a16="http://schemas.microsoft.com/office/drawing/2014/main" id="{E4511FD8-CFF8-4D52-93CC-3283E85DFB70}"/>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5" name="Google Shape;15;p5">
            <a:extLst>
              <a:ext uri="{FF2B5EF4-FFF2-40B4-BE49-F238E27FC236}">
                <a16:creationId xmlns:a16="http://schemas.microsoft.com/office/drawing/2014/main" id="{0ADBFD23-6BDF-4630-B37D-0845588B44DC}"/>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6" name="Google Shape;16;p5">
            <a:extLst>
              <a:ext uri="{FF2B5EF4-FFF2-40B4-BE49-F238E27FC236}">
                <a16:creationId xmlns:a16="http://schemas.microsoft.com/office/drawing/2014/main" id="{188B8A8B-FC73-4242-975D-54EBEEF2591D}"/>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
        <p:cNvGrpSpPr/>
        <p:nvPr/>
      </p:nvGrpSpPr>
      <p:grpSpPr>
        <a:xfrm>
          <a:off x="0" y="0"/>
          <a:ext cx="0" cy="0"/>
          <a:chOff x="0" y="0"/>
          <a:chExt cx="0" cy="0"/>
        </a:xfrm>
      </p:grpSpPr>
      <p:sp>
        <p:nvSpPr>
          <p:cNvPr id="24" name="Google Shape;24;p43">
            <a:extLst>
              <a:ext uri="{FF2B5EF4-FFF2-40B4-BE49-F238E27FC236}">
                <a16:creationId xmlns:a16="http://schemas.microsoft.com/office/drawing/2014/main" id="{F6269940-131A-46FF-BB15-1E89A56A1EF7}"/>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SzPts val="468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5" name="Google Shape;25;p43">
            <a:extLst>
              <a:ext uri="{FF2B5EF4-FFF2-40B4-BE49-F238E27FC236}">
                <a16:creationId xmlns:a16="http://schemas.microsoft.com/office/drawing/2014/main" id="{D7EAF409-40C5-4A4B-85B5-196C1B89F1E5}"/>
              </a:ext>
            </a:extLst>
          </p:cNvPr>
          <p:cNvSpPr>
            <a:spLocks noGrp="1"/>
          </p:cNvSpPr>
          <p:nvPr>
            <p:ph type="body" idx="1"/>
          </p:nvPr>
        </p:nvSpPr>
        <p:spPr>
          <a:xfrm>
            <a:off x="609600" y="1535113"/>
            <a:ext cx="5386917" cy="639762"/>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672"/>
              </a:spcBef>
              <a:spcAft>
                <a:spcPts val="0"/>
              </a:spcAft>
              <a:buSzPts val="3360"/>
              <a:buNone/>
              <a:defRPr sz="2400" b="1"/>
            </a:lvl1pPr>
            <a:lvl2pPr marL="914400" indent="-228600" algn="l">
              <a:lnSpc>
                <a:spcPct val="100000"/>
              </a:lnSpc>
              <a:spcBef>
                <a:spcPts val="600"/>
              </a:spcBef>
              <a:spcAft>
                <a:spcPts val="0"/>
              </a:spcAft>
              <a:buSzPts val="3000"/>
              <a:buNone/>
              <a:defRPr sz="2000" b="1"/>
            </a:lvl2pPr>
            <a:lvl3pPr marL="1371600" indent="-228600" algn="l">
              <a:lnSpc>
                <a:spcPct val="100000"/>
              </a:lnSpc>
              <a:spcBef>
                <a:spcPts val="504"/>
              </a:spcBef>
              <a:spcAft>
                <a:spcPts val="0"/>
              </a:spcAft>
              <a:buSzPts val="2520"/>
              <a:buNone/>
              <a:defRPr sz="1800" b="1"/>
            </a:lvl3pPr>
            <a:lvl4pPr marL="1828800" indent="-228600" algn="l">
              <a:lnSpc>
                <a:spcPct val="100000"/>
              </a:lnSpc>
              <a:spcBef>
                <a:spcPts val="432"/>
              </a:spcBef>
              <a:spcAft>
                <a:spcPts val="0"/>
              </a:spcAft>
              <a:buSzPts val="2160"/>
              <a:buNone/>
              <a:defRPr sz="1600" b="1"/>
            </a:lvl4pPr>
            <a:lvl5pPr marL="2286000" indent="-228600" algn="l">
              <a:lnSpc>
                <a:spcPct val="100000"/>
              </a:lnSpc>
              <a:spcBef>
                <a:spcPts val="432"/>
              </a:spcBef>
              <a:spcAft>
                <a:spcPts val="0"/>
              </a:spcAft>
              <a:buSzPts val="2160"/>
              <a:buNone/>
              <a:defRPr sz="1600" b="1"/>
            </a:lvl5pPr>
            <a:lvl6pPr marL="2743200" indent="-228600" algn="l">
              <a:lnSpc>
                <a:spcPct val="100000"/>
              </a:lnSpc>
              <a:spcBef>
                <a:spcPts val="432"/>
              </a:spcBef>
              <a:spcAft>
                <a:spcPts val="0"/>
              </a:spcAft>
              <a:buSzPts val="2160"/>
              <a:buNone/>
              <a:defRPr sz="1600" b="1"/>
            </a:lvl6pPr>
            <a:lvl7pPr marL="3200400" indent="-228600" algn="l">
              <a:lnSpc>
                <a:spcPct val="100000"/>
              </a:lnSpc>
              <a:spcBef>
                <a:spcPts val="432"/>
              </a:spcBef>
              <a:spcAft>
                <a:spcPts val="0"/>
              </a:spcAft>
              <a:buSzPts val="2160"/>
              <a:buNone/>
              <a:defRPr sz="1600" b="1"/>
            </a:lvl7pPr>
            <a:lvl8pPr marL="3657600" indent="-228600" algn="l">
              <a:lnSpc>
                <a:spcPct val="100000"/>
              </a:lnSpc>
              <a:spcBef>
                <a:spcPts val="432"/>
              </a:spcBef>
              <a:spcAft>
                <a:spcPts val="0"/>
              </a:spcAft>
              <a:buSzPts val="2160"/>
              <a:buNone/>
              <a:defRPr sz="1600" b="1"/>
            </a:lvl8pPr>
            <a:lvl9pPr marL="4114800" indent="-228600" algn="l">
              <a:lnSpc>
                <a:spcPct val="100000"/>
              </a:lnSpc>
              <a:spcBef>
                <a:spcPts val="432"/>
              </a:spcBef>
              <a:spcAft>
                <a:spcPts val="0"/>
              </a:spcAft>
              <a:buSzPts val="2160"/>
              <a:buNone/>
              <a:defRPr sz="1600" b="1"/>
            </a:lvl9pPr>
          </a:lstStyle>
          <a:p>
            <a:endParaRPr/>
          </a:p>
        </p:txBody>
      </p:sp>
      <p:sp>
        <p:nvSpPr>
          <p:cNvPr id="26" name="Google Shape;26;p43">
            <a:extLst>
              <a:ext uri="{FF2B5EF4-FFF2-40B4-BE49-F238E27FC236}">
                <a16:creationId xmlns:a16="http://schemas.microsoft.com/office/drawing/2014/main" id="{A97A8932-C1C6-4C38-BD4F-8AC3F9B01BB1}"/>
              </a:ext>
            </a:extLst>
          </p:cNvPr>
          <p:cNvSpPr>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SzPts val="3360"/>
              <a:buChar char="•"/>
              <a:defRPr sz="2400"/>
            </a:lvl1pPr>
            <a:lvl2pPr marL="914400" indent="-419100" algn="l">
              <a:lnSpc>
                <a:spcPct val="100000"/>
              </a:lnSpc>
              <a:spcBef>
                <a:spcPts val="600"/>
              </a:spcBef>
              <a:spcAft>
                <a:spcPts val="0"/>
              </a:spcAft>
              <a:buSzPts val="3000"/>
              <a:buChar char="–"/>
              <a:defRPr sz="2000"/>
            </a:lvl2pPr>
            <a:lvl3pPr marL="1371600" indent="-388619" algn="l">
              <a:lnSpc>
                <a:spcPct val="100000"/>
              </a:lnSpc>
              <a:spcBef>
                <a:spcPts val="504"/>
              </a:spcBef>
              <a:spcAft>
                <a:spcPts val="0"/>
              </a:spcAft>
              <a:buSzPts val="2520"/>
              <a:buChar char="•"/>
              <a:defRPr sz="1800"/>
            </a:lvl3pPr>
            <a:lvl4pPr marL="1828800" indent="-365760" algn="l">
              <a:lnSpc>
                <a:spcPct val="100000"/>
              </a:lnSpc>
              <a:spcBef>
                <a:spcPts val="432"/>
              </a:spcBef>
              <a:spcAft>
                <a:spcPts val="0"/>
              </a:spcAft>
              <a:buSzPts val="2160"/>
              <a:buChar char="–"/>
              <a:defRPr sz="1600"/>
            </a:lvl4pPr>
            <a:lvl5pPr marL="2286000" indent="-365760" algn="l">
              <a:lnSpc>
                <a:spcPct val="100000"/>
              </a:lnSpc>
              <a:spcBef>
                <a:spcPts val="432"/>
              </a:spcBef>
              <a:spcAft>
                <a:spcPts val="0"/>
              </a:spcAft>
              <a:buSzPts val="2160"/>
              <a:buChar char="»"/>
              <a:defRPr sz="1600"/>
            </a:lvl5pPr>
            <a:lvl6pPr marL="2743200" indent="-365760" algn="l">
              <a:lnSpc>
                <a:spcPct val="100000"/>
              </a:lnSpc>
              <a:spcBef>
                <a:spcPts val="432"/>
              </a:spcBef>
              <a:spcAft>
                <a:spcPts val="0"/>
              </a:spcAft>
              <a:buSzPts val="2160"/>
              <a:buChar char="•"/>
              <a:defRPr sz="1600"/>
            </a:lvl6pPr>
            <a:lvl7pPr marL="3200400" indent="-365760" algn="l">
              <a:lnSpc>
                <a:spcPct val="100000"/>
              </a:lnSpc>
              <a:spcBef>
                <a:spcPts val="432"/>
              </a:spcBef>
              <a:spcAft>
                <a:spcPts val="0"/>
              </a:spcAft>
              <a:buSzPts val="2160"/>
              <a:buChar char="•"/>
              <a:defRPr sz="1600"/>
            </a:lvl7pPr>
            <a:lvl8pPr marL="3657600" indent="-365759" algn="l">
              <a:lnSpc>
                <a:spcPct val="100000"/>
              </a:lnSpc>
              <a:spcBef>
                <a:spcPts val="432"/>
              </a:spcBef>
              <a:spcAft>
                <a:spcPts val="0"/>
              </a:spcAft>
              <a:buSzPts val="2160"/>
              <a:buChar char="•"/>
              <a:defRPr sz="1600"/>
            </a:lvl8pPr>
            <a:lvl9pPr marL="4114800" indent="-365759" algn="l">
              <a:lnSpc>
                <a:spcPct val="100000"/>
              </a:lnSpc>
              <a:spcBef>
                <a:spcPts val="432"/>
              </a:spcBef>
              <a:spcAft>
                <a:spcPts val="0"/>
              </a:spcAft>
              <a:buSzPts val="2160"/>
              <a:buChar char="•"/>
              <a:defRPr sz="1600"/>
            </a:lvl9pPr>
          </a:lstStyle>
          <a:p>
            <a:endParaRPr/>
          </a:p>
        </p:txBody>
      </p:sp>
      <p:sp>
        <p:nvSpPr>
          <p:cNvPr id="27" name="Google Shape;27;p43">
            <a:extLst>
              <a:ext uri="{FF2B5EF4-FFF2-40B4-BE49-F238E27FC236}">
                <a16:creationId xmlns:a16="http://schemas.microsoft.com/office/drawing/2014/main" id="{2CF0278B-3BAC-45E8-BC05-C3F6D816960C}"/>
              </a:ext>
            </a:extLst>
          </p:cNvPr>
          <p:cNvSpPr>
            <a:spLocks noGrp="1"/>
          </p:cNvSpPr>
          <p:nvPr>
            <p:ph type="body" idx="3"/>
          </p:nvPr>
        </p:nvSpPr>
        <p:spPr>
          <a:xfrm>
            <a:off x="6193368" y="1535113"/>
            <a:ext cx="5389033" cy="639762"/>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672"/>
              </a:spcBef>
              <a:spcAft>
                <a:spcPts val="0"/>
              </a:spcAft>
              <a:buSzPts val="3360"/>
              <a:buNone/>
              <a:defRPr sz="2400" b="1"/>
            </a:lvl1pPr>
            <a:lvl2pPr marL="914400" indent="-228600" algn="l">
              <a:lnSpc>
                <a:spcPct val="100000"/>
              </a:lnSpc>
              <a:spcBef>
                <a:spcPts val="600"/>
              </a:spcBef>
              <a:spcAft>
                <a:spcPts val="0"/>
              </a:spcAft>
              <a:buSzPts val="3000"/>
              <a:buNone/>
              <a:defRPr sz="2000" b="1"/>
            </a:lvl2pPr>
            <a:lvl3pPr marL="1371600" indent="-228600" algn="l">
              <a:lnSpc>
                <a:spcPct val="100000"/>
              </a:lnSpc>
              <a:spcBef>
                <a:spcPts val="504"/>
              </a:spcBef>
              <a:spcAft>
                <a:spcPts val="0"/>
              </a:spcAft>
              <a:buSzPts val="2520"/>
              <a:buNone/>
              <a:defRPr sz="1800" b="1"/>
            </a:lvl3pPr>
            <a:lvl4pPr marL="1828800" indent="-228600" algn="l">
              <a:lnSpc>
                <a:spcPct val="100000"/>
              </a:lnSpc>
              <a:spcBef>
                <a:spcPts val="432"/>
              </a:spcBef>
              <a:spcAft>
                <a:spcPts val="0"/>
              </a:spcAft>
              <a:buSzPts val="2160"/>
              <a:buNone/>
              <a:defRPr sz="1600" b="1"/>
            </a:lvl4pPr>
            <a:lvl5pPr marL="2286000" indent="-228600" algn="l">
              <a:lnSpc>
                <a:spcPct val="100000"/>
              </a:lnSpc>
              <a:spcBef>
                <a:spcPts val="432"/>
              </a:spcBef>
              <a:spcAft>
                <a:spcPts val="0"/>
              </a:spcAft>
              <a:buSzPts val="2160"/>
              <a:buNone/>
              <a:defRPr sz="1600" b="1"/>
            </a:lvl5pPr>
            <a:lvl6pPr marL="2743200" indent="-228600" algn="l">
              <a:lnSpc>
                <a:spcPct val="100000"/>
              </a:lnSpc>
              <a:spcBef>
                <a:spcPts val="432"/>
              </a:spcBef>
              <a:spcAft>
                <a:spcPts val="0"/>
              </a:spcAft>
              <a:buSzPts val="2160"/>
              <a:buNone/>
              <a:defRPr sz="1600" b="1"/>
            </a:lvl6pPr>
            <a:lvl7pPr marL="3200400" indent="-228600" algn="l">
              <a:lnSpc>
                <a:spcPct val="100000"/>
              </a:lnSpc>
              <a:spcBef>
                <a:spcPts val="432"/>
              </a:spcBef>
              <a:spcAft>
                <a:spcPts val="0"/>
              </a:spcAft>
              <a:buSzPts val="2160"/>
              <a:buNone/>
              <a:defRPr sz="1600" b="1"/>
            </a:lvl7pPr>
            <a:lvl8pPr marL="3657600" indent="-228600" algn="l">
              <a:lnSpc>
                <a:spcPct val="100000"/>
              </a:lnSpc>
              <a:spcBef>
                <a:spcPts val="432"/>
              </a:spcBef>
              <a:spcAft>
                <a:spcPts val="0"/>
              </a:spcAft>
              <a:buSzPts val="2160"/>
              <a:buNone/>
              <a:defRPr sz="1600" b="1"/>
            </a:lvl8pPr>
            <a:lvl9pPr marL="4114800" indent="-228600" algn="l">
              <a:lnSpc>
                <a:spcPct val="100000"/>
              </a:lnSpc>
              <a:spcBef>
                <a:spcPts val="432"/>
              </a:spcBef>
              <a:spcAft>
                <a:spcPts val="0"/>
              </a:spcAft>
              <a:buSzPts val="2160"/>
              <a:buNone/>
              <a:defRPr sz="1600" b="1"/>
            </a:lvl9pPr>
          </a:lstStyle>
          <a:p>
            <a:endParaRPr/>
          </a:p>
        </p:txBody>
      </p:sp>
      <p:sp>
        <p:nvSpPr>
          <p:cNvPr id="28" name="Google Shape;28;p43">
            <a:extLst>
              <a:ext uri="{FF2B5EF4-FFF2-40B4-BE49-F238E27FC236}">
                <a16:creationId xmlns:a16="http://schemas.microsoft.com/office/drawing/2014/main" id="{57E106C5-A1C4-4427-8E35-237227EF2E24}"/>
              </a:ext>
            </a:extLst>
          </p:cNvPr>
          <p:cNvSpPr>
            <a:spLocks noGrp="1"/>
          </p:cNvSpPr>
          <p:nvPr>
            <p:ph type="body" idx="4"/>
          </p:nvPr>
        </p:nvSpPr>
        <p:spPr>
          <a:xfrm>
            <a:off x="6193368" y="2174875"/>
            <a:ext cx="5389033" cy="3951288"/>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SzPts val="3360"/>
              <a:buChar char="•"/>
              <a:defRPr sz="2400"/>
            </a:lvl1pPr>
            <a:lvl2pPr marL="914400" indent="-419100" algn="l">
              <a:lnSpc>
                <a:spcPct val="100000"/>
              </a:lnSpc>
              <a:spcBef>
                <a:spcPts val="600"/>
              </a:spcBef>
              <a:spcAft>
                <a:spcPts val="0"/>
              </a:spcAft>
              <a:buSzPts val="3000"/>
              <a:buChar char="–"/>
              <a:defRPr sz="2000"/>
            </a:lvl2pPr>
            <a:lvl3pPr marL="1371600" indent="-388619" algn="l">
              <a:lnSpc>
                <a:spcPct val="100000"/>
              </a:lnSpc>
              <a:spcBef>
                <a:spcPts val="504"/>
              </a:spcBef>
              <a:spcAft>
                <a:spcPts val="0"/>
              </a:spcAft>
              <a:buSzPts val="2520"/>
              <a:buChar char="•"/>
              <a:defRPr sz="1800"/>
            </a:lvl3pPr>
            <a:lvl4pPr marL="1828800" indent="-365760" algn="l">
              <a:lnSpc>
                <a:spcPct val="100000"/>
              </a:lnSpc>
              <a:spcBef>
                <a:spcPts val="432"/>
              </a:spcBef>
              <a:spcAft>
                <a:spcPts val="0"/>
              </a:spcAft>
              <a:buSzPts val="2160"/>
              <a:buChar char="–"/>
              <a:defRPr sz="1600"/>
            </a:lvl4pPr>
            <a:lvl5pPr marL="2286000" indent="-365760" algn="l">
              <a:lnSpc>
                <a:spcPct val="100000"/>
              </a:lnSpc>
              <a:spcBef>
                <a:spcPts val="432"/>
              </a:spcBef>
              <a:spcAft>
                <a:spcPts val="0"/>
              </a:spcAft>
              <a:buSzPts val="2160"/>
              <a:buChar char="»"/>
              <a:defRPr sz="1600"/>
            </a:lvl5pPr>
            <a:lvl6pPr marL="2743200" indent="-365760" algn="l">
              <a:lnSpc>
                <a:spcPct val="100000"/>
              </a:lnSpc>
              <a:spcBef>
                <a:spcPts val="432"/>
              </a:spcBef>
              <a:spcAft>
                <a:spcPts val="0"/>
              </a:spcAft>
              <a:buSzPts val="2160"/>
              <a:buChar char="•"/>
              <a:defRPr sz="1600"/>
            </a:lvl6pPr>
            <a:lvl7pPr marL="3200400" indent="-365760" algn="l">
              <a:lnSpc>
                <a:spcPct val="100000"/>
              </a:lnSpc>
              <a:spcBef>
                <a:spcPts val="432"/>
              </a:spcBef>
              <a:spcAft>
                <a:spcPts val="0"/>
              </a:spcAft>
              <a:buSzPts val="2160"/>
              <a:buChar char="•"/>
              <a:defRPr sz="1600"/>
            </a:lvl7pPr>
            <a:lvl8pPr marL="3657600" indent="-365759" algn="l">
              <a:lnSpc>
                <a:spcPct val="100000"/>
              </a:lnSpc>
              <a:spcBef>
                <a:spcPts val="432"/>
              </a:spcBef>
              <a:spcAft>
                <a:spcPts val="0"/>
              </a:spcAft>
              <a:buSzPts val="2160"/>
              <a:buChar char="•"/>
              <a:defRPr sz="1600"/>
            </a:lvl8pPr>
            <a:lvl9pPr marL="4114800" indent="-365759" algn="l">
              <a:lnSpc>
                <a:spcPct val="100000"/>
              </a:lnSpc>
              <a:spcBef>
                <a:spcPts val="432"/>
              </a:spcBef>
              <a:spcAft>
                <a:spcPts val="0"/>
              </a:spcAft>
              <a:buSzPts val="2160"/>
              <a:buChar char="•"/>
              <a:defRPr sz="1600"/>
            </a:lvl9pPr>
          </a:lstStyle>
          <a:p>
            <a:endParaRPr/>
          </a:p>
        </p:txBody>
      </p:sp>
      <p:sp>
        <p:nvSpPr>
          <p:cNvPr id="29" name="Google Shape;29;p43">
            <a:extLst>
              <a:ext uri="{FF2B5EF4-FFF2-40B4-BE49-F238E27FC236}">
                <a16:creationId xmlns:a16="http://schemas.microsoft.com/office/drawing/2014/main" id="{79F56952-E320-428A-9977-EBF4D62C5EC4}"/>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0" name="Google Shape;30;p43">
            <a:extLst>
              <a:ext uri="{FF2B5EF4-FFF2-40B4-BE49-F238E27FC236}">
                <a16:creationId xmlns:a16="http://schemas.microsoft.com/office/drawing/2014/main" id="{CCB558F8-634F-4860-B2C7-B7C4FC08386E}"/>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43">
            <a:extLst>
              <a:ext uri="{FF2B5EF4-FFF2-40B4-BE49-F238E27FC236}">
                <a16:creationId xmlns:a16="http://schemas.microsoft.com/office/drawing/2014/main" id="{9BE74961-C1DC-403C-89E5-1CD77A9DFBB2}"/>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SzPts val="1300"/>
              <a:buNone/>
              <a:defRPr/>
            </a:lvl1pPr>
            <a:lvl2pPr marL="0" marR="0" indent="0" algn="r">
              <a:lnSpc>
                <a:spcPct val="100000"/>
              </a:lnSpc>
              <a:spcBef>
                <a:spcPts val="0"/>
              </a:spcBef>
              <a:spcAft>
                <a:spcPts val="0"/>
              </a:spcAft>
              <a:buSzPts val="1300"/>
              <a:buNone/>
              <a:defRPr/>
            </a:lvl2pPr>
            <a:lvl3pPr marL="0" marR="0" indent="0" algn="r">
              <a:lnSpc>
                <a:spcPct val="100000"/>
              </a:lnSpc>
              <a:spcBef>
                <a:spcPts val="0"/>
              </a:spcBef>
              <a:spcAft>
                <a:spcPts val="0"/>
              </a:spcAft>
              <a:buSzPts val="1300"/>
              <a:buNone/>
              <a:defRPr/>
            </a:lvl3pPr>
            <a:lvl4pPr marL="0" marR="0" indent="0" algn="r">
              <a:lnSpc>
                <a:spcPct val="100000"/>
              </a:lnSpc>
              <a:spcBef>
                <a:spcPts val="0"/>
              </a:spcBef>
              <a:spcAft>
                <a:spcPts val="0"/>
              </a:spcAft>
              <a:buSzPts val="1300"/>
              <a:buNone/>
              <a:defRPr/>
            </a:lvl4pPr>
            <a:lvl5pPr marL="0" marR="0" indent="0" algn="r">
              <a:lnSpc>
                <a:spcPct val="100000"/>
              </a:lnSpc>
              <a:spcBef>
                <a:spcPts val="0"/>
              </a:spcBef>
              <a:spcAft>
                <a:spcPts val="0"/>
              </a:spcAft>
              <a:buSzPts val="1300"/>
              <a:buNone/>
              <a:defRPr/>
            </a:lvl5pPr>
            <a:lvl6pPr marL="0" marR="0" indent="0" algn="r">
              <a:lnSpc>
                <a:spcPct val="100000"/>
              </a:lnSpc>
              <a:spcBef>
                <a:spcPts val="0"/>
              </a:spcBef>
              <a:spcAft>
                <a:spcPts val="0"/>
              </a:spcAft>
              <a:buSzPts val="1300"/>
              <a:buNone/>
              <a:defRPr/>
            </a:lvl6pPr>
            <a:lvl7pPr marL="0" marR="0" indent="0" algn="r">
              <a:lnSpc>
                <a:spcPct val="100000"/>
              </a:lnSpc>
              <a:spcBef>
                <a:spcPts val="0"/>
              </a:spcBef>
              <a:spcAft>
                <a:spcPts val="0"/>
              </a:spcAft>
              <a:buSzPts val="1300"/>
              <a:buNone/>
              <a:defRPr/>
            </a:lvl7pPr>
            <a:lvl8pPr marL="0" marR="0" indent="0" algn="r">
              <a:lnSpc>
                <a:spcPct val="100000"/>
              </a:lnSpc>
              <a:spcBef>
                <a:spcPts val="0"/>
              </a:spcBef>
              <a:spcAft>
                <a:spcPts val="0"/>
              </a:spcAft>
              <a:buSzPts val="1300"/>
              <a:buNone/>
              <a:defRPr/>
            </a:lvl8pPr>
            <a:lvl9pPr marL="0" marR="0" indent="0" algn="r">
              <a:lnSpc>
                <a:spcPct val="100000"/>
              </a:lnSpc>
              <a:spcBef>
                <a:spcPts val="0"/>
              </a:spcBef>
              <a:spcAft>
                <a:spcPts val="0"/>
              </a:spcAft>
              <a:buSzPts val="1300"/>
              <a:buNone/>
              <a:defRPr/>
            </a:lvl9pPr>
          </a:lstStyle>
          <a:p>
            <a:fld id="{00000000-1234-1234-1234-1234123412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
        <p:cNvGrpSpPr/>
        <p:nvPr/>
      </p:nvGrpSpPr>
      <p:grpSpPr>
        <a:xfrm>
          <a:off x="0" y="0"/>
          <a:ext cx="0" cy="0"/>
          <a:chOff x="0" y="0"/>
          <a:chExt cx="0" cy="0"/>
        </a:xfrm>
      </p:grpSpPr>
      <p:sp>
        <p:nvSpPr>
          <p:cNvPr id="33" name="Google Shape;33;p7">
            <a:extLst>
              <a:ext uri="{FF2B5EF4-FFF2-40B4-BE49-F238E27FC236}">
                <a16:creationId xmlns:a16="http://schemas.microsoft.com/office/drawing/2014/main" id="{7A1CB08B-1E96-4019-A629-B04384E240F0}"/>
              </a:ext>
            </a:extLst>
          </p:cNvPr>
          <p:cNvSpPr>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ormAutofit/>
          </a:bodyPr>
          <a:lstStyle>
            <a:lvl1pPr algn="l">
              <a:lnSpc>
                <a:spcPct val="100000"/>
              </a:lnSpc>
              <a:spcBef>
                <a:spcPts val="0"/>
              </a:spcBef>
              <a:spcAft>
                <a:spcPts val="0"/>
              </a:spcAft>
              <a:buClr>
                <a:schemeClr val="dk1"/>
              </a:buClr>
              <a:buSzPts val="4200"/>
              <a:buFont typeface="Calibri"/>
              <a:buNone/>
              <a:defRPr sz="42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4" name="Google Shape;34;p7">
            <a:extLst>
              <a:ext uri="{FF2B5EF4-FFF2-40B4-BE49-F238E27FC236}">
                <a16:creationId xmlns:a16="http://schemas.microsoft.com/office/drawing/2014/main" id="{06CD8749-A0BB-4A70-9A60-ECC20C734527}"/>
              </a:ext>
            </a:extLst>
          </p:cNvPr>
          <p:cNvSpPr>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432"/>
              </a:spcBef>
              <a:spcAft>
                <a:spcPts val="0"/>
              </a:spcAft>
              <a:buClr>
                <a:srgbClr val="888888"/>
              </a:buClr>
              <a:buSzPts val="2160"/>
              <a:buNone/>
              <a:defRPr sz="2160">
                <a:solidFill>
                  <a:srgbClr val="888888"/>
                </a:solidFill>
              </a:defRPr>
            </a:lvl1pPr>
            <a:lvl2pPr marL="914400" indent="-228600" algn="l">
              <a:lnSpc>
                <a:spcPct val="100000"/>
              </a:lnSpc>
              <a:spcBef>
                <a:spcPts val="384"/>
              </a:spcBef>
              <a:spcAft>
                <a:spcPts val="0"/>
              </a:spcAft>
              <a:buClr>
                <a:srgbClr val="888888"/>
              </a:buClr>
              <a:buSzPts val="1920"/>
              <a:buNone/>
              <a:defRPr sz="1920">
                <a:solidFill>
                  <a:srgbClr val="888888"/>
                </a:solidFill>
              </a:defRPr>
            </a:lvl2pPr>
            <a:lvl3pPr marL="1371600" indent="-228600" algn="l">
              <a:lnSpc>
                <a:spcPct val="100000"/>
              </a:lnSpc>
              <a:spcBef>
                <a:spcPts val="336"/>
              </a:spcBef>
              <a:spcAft>
                <a:spcPts val="0"/>
              </a:spcAft>
              <a:buClr>
                <a:srgbClr val="888888"/>
              </a:buClr>
              <a:buSzPts val="1680"/>
              <a:buNone/>
              <a:defRPr sz="1679">
                <a:solidFill>
                  <a:srgbClr val="888888"/>
                </a:solidFill>
              </a:defRPr>
            </a:lvl3pPr>
            <a:lvl4pPr marL="1828800" indent="-228600" algn="l">
              <a:lnSpc>
                <a:spcPct val="100000"/>
              </a:lnSpc>
              <a:spcBef>
                <a:spcPts val="288"/>
              </a:spcBef>
              <a:spcAft>
                <a:spcPts val="0"/>
              </a:spcAft>
              <a:buClr>
                <a:srgbClr val="888888"/>
              </a:buClr>
              <a:buSzPts val="1440"/>
              <a:buNone/>
              <a:defRPr sz="1440">
                <a:solidFill>
                  <a:srgbClr val="888888"/>
                </a:solidFill>
              </a:defRPr>
            </a:lvl4pPr>
            <a:lvl5pPr marL="2286000" indent="-228600" algn="l">
              <a:lnSpc>
                <a:spcPct val="100000"/>
              </a:lnSpc>
              <a:spcBef>
                <a:spcPts val="288"/>
              </a:spcBef>
              <a:spcAft>
                <a:spcPts val="0"/>
              </a:spcAft>
              <a:buClr>
                <a:srgbClr val="888888"/>
              </a:buClr>
              <a:buSzPts val="1440"/>
              <a:buNone/>
              <a:defRPr sz="1440">
                <a:solidFill>
                  <a:srgbClr val="888888"/>
                </a:solidFill>
              </a:defRPr>
            </a:lvl5pPr>
            <a:lvl6pPr marL="2743200" indent="-228600" algn="l">
              <a:lnSpc>
                <a:spcPct val="100000"/>
              </a:lnSpc>
              <a:spcBef>
                <a:spcPts val="288"/>
              </a:spcBef>
              <a:spcAft>
                <a:spcPts val="0"/>
              </a:spcAft>
              <a:buClr>
                <a:srgbClr val="888888"/>
              </a:buClr>
              <a:buSzPts val="1440"/>
              <a:buNone/>
              <a:defRPr sz="1440">
                <a:solidFill>
                  <a:srgbClr val="888888"/>
                </a:solidFill>
              </a:defRPr>
            </a:lvl6pPr>
            <a:lvl7pPr marL="3200400" indent="-228600" algn="l">
              <a:lnSpc>
                <a:spcPct val="100000"/>
              </a:lnSpc>
              <a:spcBef>
                <a:spcPts val="288"/>
              </a:spcBef>
              <a:spcAft>
                <a:spcPts val="0"/>
              </a:spcAft>
              <a:buClr>
                <a:srgbClr val="888888"/>
              </a:buClr>
              <a:buSzPts val="1440"/>
              <a:buNone/>
              <a:defRPr sz="1440">
                <a:solidFill>
                  <a:srgbClr val="888888"/>
                </a:solidFill>
              </a:defRPr>
            </a:lvl7pPr>
            <a:lvl8pPr marL="3657600" indent="-228600" algn="l">
              <a:lnSpc>
                <a:spcPct val="100000"/>
              </a:lnSpc>
              <a:spcBef>
                <a:spcPts val="288"/>
              </a:spcBef>
              <a:spcAft>
                <a:spcPts val="0"/>
              </a:spcAft>
              <a:buClr>
                <a:srgbClr val="888888"/>
              </a:buClr>
              <a:buSzPts val="1440"/>
              <a:buNone/>
              <a:defRPr sz="1440">
                <a:solidFill>
                  <a:srgbClr val="888888"/>
                </a:solidFill>
              </a:defRPr>
            </a:lvl8pPr>
            <a:lvl9pPr marL="4114800" indent="-228600" algn="l">
              <a:lnSpc>
                <a:spcPct val="100000"/>
              </a:lnSpc>
              <a:spcBef>
                <a:spcPts val="288"/>
              </a:spcBef>
              <a:spcAft>
                <a:spcPts val="0"/>
              </a:spcAft>
              <a:buClr>
                <a:srgbClr val="888888"/>
              </a:buClr>
              <a:buSzPts val="1440"/>
              <a:buNone/>
              <a:defRPr sz="1440">
                <a:solidFill>
                  <a:srgbClr val="888888"/>
                </a:solidFill>
              </a:defRPr>
            </a:lvl9pPr>
          </a:lstStyle>
          <a:p>
            <a:endParaRPr/>
          </a:p>
        </p:txBody>
      </p:sp>
      <p:sp>
        <p:nvSpPr>
          <p:cNvPr id="35" name="Google Shape;35;p7">
            <a:extLst>
              <a:ext uri="{FF2B5EF4-FFF2-40B4-BE49-F238E27FC236}">
                <a16:creationId xmlns:a16="http://schemas.microsoft.com/office/drawing/2014/main" id="{E0550EDF-985B-41F3-9464-9C16D7DC0499}"/>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6" name="Google Shape;36;p7">
            <a:extLst>
              <a:ext uri="{FF2B5EF4-FFF2-40B4-BE49-F238E27FC236}">
                <a16:creationId xmlns:a16="http://schemas.microsoft.com/office/drawing/2014/main" id="{451AC40C-5B1B-44EE-BBDF-E578B98B7ADC}"/>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7" name="Google Shape;37;p7">
            <a:extLst>
              <a:ext uri="{FF2B5EF4-FFF2-40B4-BE49-F238E27FC236}">
                <a16:creationId xmlns:a16="http://schemas.microsoft.com/office/drawing/2014/main" id="{421C3530-9E81-437C-ACC9-793D378DA499}"/>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
        <p:cNvGrpSpPr/>
        <p:nvPr/>
      </p:nvGrpSpPr>
      <p:grpSpPr>
        <a:xfrm>
          <a:off x="0" y="0"/>
          <a:ext cx="0" cy="0"/>
          <a:chOff x="0" y="0"/>
          <a:chExt cx="0" cy="0"/>
        </a:xfrm>
      </p:grpSpPr>
      <p:sp>
        <p:nvSpPr>
          <p:cNvPr id="46" name="Google Shape;46;p10">
            <a:extLst>
              <a:ext uri="{FF2B5EF4-FFF2-40B4-BE49-F238E27FC236}">
                <a16:creationId xmlns:a16="http://schemas.microsoft.com/office/drawing/2014/main" id="{143C3CCF-8B3E-49CA-9408-81B8A998DADC}"/>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10">
            <a:extLst>
              <a:ext uri="{FF2B5EF4-FFF2-40B4-BE49-F238E27FC236}">
                <a16:creationId xmlns:a16="http://schemas.microsoft.com/office/drawing/2014/main" id="{05A6C0CD-7202-4EED-A02C-8646BDD58699}"/>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10">
            <a:extLst>
              <a:ext uri="{FF2B5EF4-FFF2-40B4-BE49-F238E27FC236}">
                <a16:creationId xmlns:a16="http://schemas.microsoft.com/office/drawing/2014/main" id="{273BD94A-EEA9-46B1-B46D-15D5558A929B}"/>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9" name="Google Shape;49;p10">
            <a:extLst>
              <a:ext uri="{FF2B5EF4-FFF2-40B4-BE49-F238E27FC236}">
                <a16:creationId xmlns:a16="http://schemas.microsoft.com/office/drawing/2014/main" id="{878BEA98-EF10-42F4-A95C-17596145875D}"/>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51" name="Google Shape;51;p11">
            <a:extLst>
              <a:ext uri="{FF2B5EF4-FFF2-40B4-BE49-F238E27FC236}">
                <a16:creationId xmlns:a16="http://schemas.microsoft.com/office/drawing/2014/main" id="{14E1F575-7D3B-47A6-AC9D-8C897AAABD5B}"/>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11">
            <a:extLst>
              <a:ext uri="{FF2B5EF4-FFF2-40B4-BE49-F238E27FC236}">
                <a16:creationId xmlns:a16="http://schemas.microsoft.com/office/drawing/2014/main" id="{D30D2A8E-0119-4ECF-B479-D8CA398A5C71}"/>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3" name="Google Shape;53;p11">
            <a:extLst>
              <a:ext uri="{FF2B5EF4-FFF2-40B4-BE49-F238E27FC236}">
                <a16:creationId xmlns:a16="http://schemas.microsoft.com/office/drawing/2014/main" id="{A5662DEE-4A4D-460F-80A3-6A01CED2A28A}"/>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
        <p:cNvGrpSpPr/>
        <p:nvPr/>
      </p:nvGrpSpPr>
      <p:grpSpPr>
        <a:xfrm>
          <a:off x="0" y="0"/>
          <a:ext cx="0" cy="0"/>
          <a:chOff x="0" y="0"/>
          <a:chExt cx="0" cy="0"/>
        </a:xfrm>
      </p:grpSpPr>
      <p:sp>
        <p:nvSpPr>
          <p:cNvPr id="55" name="Google Shape;55;p12">
            <a:extLst>
              <a:ext uri="{FF2B5EF4-FFF2-40B4-BE49-F238E27FC236}">
                <a16:creationId xmlns:a16="http://schemas.microsoft.com/office/drawing/2014/main" id="{689BA542-A889-4723-B5A1-B9CF9E57EF11}"/>
              </a:ext>
            </a:extLst>
          </p:cNvPr>
          <p:cNvSpPr>
            <a:spLocks noGrp="1"/>
          </p:cNvSpPr>
          <p:nvPr>
            <p:ph type="title"/>
          </p:nvPr>
        </p:nvSpPr>
        <p:spPr>
          <a:xfrm>
            <a:off x="609601" y="273051"/>
            <a:ext cx="4011084" cy="1162050"/>
          </a:xfrm>
          <a:prstGeom prst="rect">
            <a:avLst/>
          </a:prstGeom>
          <a:noFill/>
          <a:ln>
            <a:noFill/>
          </a:ln>
        </p:spPr>
        <p:txBody>
          <a:bodyPr spcFirstLastPara="1" wrap="square" lIns="81025" tIns="40500" rIns="81025" bIns="40500" anchor="b">
            <a:normAutofit/>
          </a:bodyPr>
          <a:lstStyle>
            <a:lvl1pPr algn="l">
              <a:lnSpc>
                <a:spcPct val="100000"/>
              </a:lnSpc>
              <a:spcBef>
                <a:spcPts val="0"/>
              </a:spcBef>
              <a:spcAft>
                <a:spcPts val="0"/>
              </a:spcAft>
              <a:buClr>
                <a:schemeClr val="dk1"/>
              </a:buClr>
              <a:buSzPts val="2160"/>
              <a:buFont typeface="Calibri"/>
              <a:buNone/>
              <a:defRPr sz="216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12">
            <a:extLst>
              <a:ext uri="{FF2B5EF4-FFF2-40B4-BE49-F238E27FC236}">
                <a16:creationId xmlns:a16="http://schemas.microsoft.com/office/drawing/2014/main" id="{43F9633E-C62B-4293-A824-DF27355294AC}"/>
              </a:ext>
            </a:extLst>
          </p:cNvPr>
          <p:cNvSpPr>
            <a:spLocks noGrp="1"/>
          </p:cNvSpPr>
          <p:nvPr>
            <p:ph type="body" idx="1"/>
          </p:nvPr>
        </p:nvSpPr>
        <p:spPr>
          <a:xfrm>
            <a:off x="4766735" y="273052"/>
            <a:ext cx="6815667" cy="5853113"/>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Clr>
                <a:schemeClr val="dk1"/>
              </a:buClr>
              <a:buSzPts val="3360"/>
              <a:buChar char="•"/>
              <a:defRPr sz="3359"/>
            </a:lvl1pPr>
            <a:lvl2pPr marL="914400" indent="-419100" algn="l">
              <a:lnSpc>
                <a:spcPct val="100000"/>
              </a:lnSpc>
              <a:spcBef>
                <a:spcPts val="600"/>
              </a:spcBef>
              <a:spcAft>
                <a:spcPts val="0"/>
              </a:spcAft>
              <a:buClr>
                <a:schemeClr val="dk1"/>
              </a:buClr>
              <a:buSzPts val="3000"/>
              <a:buChar char="–"/>
              <a:defRPr sz="3000"/>
            </a:lvl2pPr>
            <a:lvl3pPr marL="1371600" indent="-388619" algn="l">
              <a:lnSpc>
                <a:spcPct val="100000"/>
              </a:lnSpc>
              <a:spcBef>
                <a:spcPts val="504"/>
              </a:spcBef>
              <a:spcAft>
                <a:spcPts val="0"/>
              </a:spcAft>
              <a:buClr>
                <a:schemeClr val="dk1"/>
              </a:buClr>
              <a:buSzPts val="2520"/>
              <a:buChar char="•"/>
              <a:defRPr sz="2520"/>
            </a:lvl3pPr>
            <a:lvl4pPr marL="1828800" indent="-365760" algn="l">
              <a:lnSpc>
                <a:spcPct val="100000"/>
              </a:lnSpc>
              <a:spcBef>
                <a:spcPts val="432"/>
              </a:spcBef>
              <a:spcAft>
                <a:spcPts val="0"/>
              </a:spcAft>
              <a:buClr>
                <a:schemeClr val="dk1"/>
              </a:buClr>
              <a:buSzPts val="2160"/>
              <a:buChar char="–"/>
              <a:defRPr sz="2160"/>
            </a:lvl4pPr>
            <a:lvl5pPr marL="2286000" indent="-365760" algn="l">
              <a:lnSpc>
                <a:spcPct val="100000"/>
              </a:lnSpc>
              <a:spcBef>
                <a:spcPts val="432"/>
              </a:spcBef>
              <a:spcAft>
                <a:spcPts val="0"/>
              </a:spcAft>
              <a:buClr>
                <a:schemeClr val="dk1"/>
              </a:buClr>
              <a:buSzPts val="2160"/>
              <a:buChar char="»"/>
              <a:defRPr sz="2160"/>
            </a:lvl5pPr>
            <a:lvl6pPr marL="2743200" indent="-365760" algn="l">
              <a:lnSpc>
                <a:spcPct val="100000"/>
              </a:lnSpc>
              <a:spcBef>
                <a:spcPts val="432"/>
              </a:spcBef>
              <a:spcAft>
                <a:spcPts val="0"/>
              </a:spcAft>
              <a:buClr>
                <a:schemeClr val="dk1"/>
              </a:buClr>
              <a:buSzPts val="2160"/>
              <a:buChar char="•"/>
              <a:defRPr sz="2160"/>
            </a:lvl6pPr>
            <a:lvl7pPr marL="3200400" indent="-365760" algn="l">
              <a:lnSpc>
                <a:spcPct val="100000"/>
              </a:lnSpc>
              <a:spcBef>
                <a:spcPts val="432"/>
              </a:spcBef>
              <a:spcAft>
                <a:spcPts val="0"/>
              </a:spcAft>
              <a:buClr>
                <a:schemeClr val="dk1"/>
              </a:buClr>
              <a:buSzPts val="2160"/>
              <a:buChar char="•"/>
              <a:defRPr sz="2160"/>
            </a:lvl7pPr>
            <a:lvl8pPr marL="3657600" indent="-365759" algn="l">
              <a:lnSpc>
                <a:spcPct val="100000"/>
              </a:lnSpc>
              <a:spcBef>
                <a:spcPts val="432"/>
              </a:spcBef>
              <a:spcAft>
                <a:spcPts val="0"/>
              </a:spcAft>
              <a:buClr>
                <a:schemeClr val="dk1"/>
              </a:buClr>
              <a:buSzPts val="2160"/>
              <a:buChar char="•"/>
              <a:defRPr sz="2160"/>
            </a:lvl8pPr>
            <a:lvl9pPr marL="4114800" indent="-365759" algn="l">
              <a:lnSpc>
                <a:spcPct val="100000"/>
              </a:lnSpc>
              <a:spcBef>
                <a:spcPts val="432"/>
              </a:spcBef>
              <a:spcAft>
                <a:spcPts val="0"/>
              </a:spcAft>
              <a:buClr>
                <a:schemeClr val="dk1"/>
              </a:buClr>
              <a:buSzPts val="2160"/>
              <a:buChar char="•"/>
              <a:defRPr sz="2160"/>
            </a:lvl9pPr>
          </a:lstStyle>
          <a:p>
            <a:endParaRPr/>
          </a:p>
        </p:txBody>
      </p:sp>
      <p:sp>
        <p:nvSpPr>
          <p:cNvPr id="57" name="Google Shape;57;p12">
            <a:extLst>
              <a:ext uri="{FF2B5EF4-FFF2-40B4-BE49-F238E27FC236}">
                <a16:creationId xmlns:a16="http://schemas.microsoft.com/office/drawing/2014/main" id="{F556B561-57D7-4F6B-B8EF-6963CE5FC354}"/>
              </a:ext>
            </a:extLst>
          </p:cNvPr>
          <p:cNvSpPr>
            <a:spLocks noGrp="1"/>
          </p:cNvSpPr>
          <p:nvPr>
            <p:ph type="body" idx="2"/>
          </p:nvPr>
        </p:nvSpPr>
        <p:spPr>
          <a:xfrm>
            <a:off x="609601" y="1435102"/>
            <a:ext cx="4011084" cy="4691063"/>
          </a:xfrm>
          <a:prstGeom prst="rect">
            <a:avLst/>
          </a:prstGeom>
          <a:noFill/>
          <a:ln>
            <a:noFill/>
          </a:ln>
        </p:spPr>
        <p:txBody>
          <a:bodyPr spcFirstLastPara="1" wrap="square" lIns="81025" tIns="40500" rIns="81025" bIns="40500" anchor="t">
            <a:normAutofit/>
          </a:bodyPr>
          <a:lstStyle>
            <a:lvl1pPr marL="457200" indent="-228600" algn="l">
              <a:lnSpc>
                <a:spcPct val="100000"/>
              </a:lnSpc>
              <a:spcBef>
                <a:spcPts val="288"/>
              </a:spcBef>
              <a:spcAft>
                <a:spcPts val="0"/>
              </a:spcAft>
              <a:buClr>
                <a:schemeClr val="dk1"/>
              </a:buClr>
              <a:buSzPts val="1440"/>
              <a:buNone/>
              <a:defRPr sz="1440"/>
            </a:lvl1pPr>
            <a:lvl2pPr marL="914400" indent="-228600" algn="l">
              <a:lnSpc>
                <a:spcPct val="100000"/>
              </a:lnSpc>
              <a:spcBef>
                <a:spcPts val="264"/>
              </a:spcBef>
              <a:spcAft>
                <a:spcPts val="0"/>
              </a:spcAft>
              <a:buClr>
                <a:schemeClr val="dk1"/>
              </a:buClr>
              <a:buSzPts val="1320"/>
              <a:buNone/>
              <a:defRPr sz="1320"/>
            </a:lvl2pPr>
            <a:lvl3pPr marL="1371600" indent="-228600" algn="l">
              <a:lnSpc>
                <a:spcPct val="100000"/>
              </a:lnSpc>
              <a:spcBef>
                <a:spcPts val="216"/>
              </a:spcBef>
              <a:spcAft>
                <a:spcPts val="0"/>
              </a:spcAft>
              <a:buClr>
                <a:schemeClr val="dk1"/>
              </a:buClr>
              <a:buSzPts val="1080"/>
              <a:buNone/>
              <a:defRPr sz="1080"/>
            </a:lvl3pPr>
            <a:lvl4pPr marL="1828800" indent="-228600" algn="l">
              <a:lnSpc>
                <a:spcPct val="100000"/>
              </a:lnSpc>
              <a:spcBef>
                <a:spcPts val="192"/>
              </a:spcBef>
              <a:spcAft>
                <a:spcPts val="0"/>
              </a:spcAft>
              <a:buClr>
                <a:schemeClr val="dk1"/>
              </a:buClr>
              <a:buSzPts val="960"/>
              <a:buNone/>
              <a:defRPr sz="960"/>
            </a:lvl4pPr>
            <a:lvl5pPr marL="2286000" indent="-228600" algn="l">
              <a:lnSpc>
                <a:spcPct val="100000"/>
              </a:lnSpc>
              <a:spcBef>
                <a:spcPts val="192"/>
              </a:spcBef>
              <a:spcAft>
                <a:spcPts val="0"/>
              </a:spcAft>
              <a:buClr>
                <a:schemeClr val="dk1"/>
              </a:buClr>
              <a:buSzPts val="960"/>
              <a:buNone/>
              <a:defRPr sz="960"/>
            </a:lvl5pPr>
            <a:lvl6pPr marL="2743200" indent="-228600" algn="l">
              <a:lnSpc>
                <a:spcPct val="100000"/>
              </a:lnSpc>
              <a:spcBef>
                <a:spcPts val="192"/>
              </a:spcBef>
              <a:spcAft>
                <a:spcPts val="0"/>
              </a:spcAft>
              <a:buClr>
                <a:schemeClr val="dk1"/>
              </a:buClr>
              <a:buSzPts val="960"/>
              <a:buNone/>
              <a:defRPr sz="960"/>
            </a:lvl6pPr>
            <a:lvl7pPr marL="3200400" indent="-228600" algn="l">
              <a:lnSpc>
                <a:spcPct val="100000"/>
              </a:lnSpc>
              <a:spcBef>
                <a:spcPts val="192"/>
              </a:spcBef>
              <a:spcAft>
                <a:spcPts val="0"/>
              </a:spcAft>
              <a:buClr>
                <a:schemeClr val="dk1"/>
              </a:buClr>
              <a:buSzPts val="960"/>
              <a:buNone/>
              <a:defRPr sz="960"/>
            </a:lvl7pPr>
            <a:lvl8pPr marL="3657600" indent="-228600" algn="l">
              <a:lnSpc>
                <a:spcPct val="100000"/>
              </a:lnSpc>
              <a:spcBef>
                <a:spcPts val="192"/>
              </a:spcBef>
              <a:spcAft>
                <a:spcPts val="0"/>
              </a:spcAft>
              <a:buClr>
                <a:schemeClr val="dk1"/>
              </a:buClr>
              <a:buSzPts val="960"/>
              <a:buNone/>
              <a:defRPr sz="960"/>
            </a:lvl8pPr>
            <a:lvl9pPr marL="4114800" indent="-228600" algn="l">
              <a:lnSpc>
                <a:spcPct val="100000"/>
              </a:lnSpc>
              <a:spcBef>
                <a:spcPts val="192"/>
              </a:spcBef>
              <a:spcAft>
                <a:spcPts val="0"/>
              </a:spcAft>
              <a:buClr>
                <a:schemeClr val="dk1"/>
              </a:buClr>
              <a:buSzPts val="960"/>
              <a:buNone/>
              <a:defRPr sz="960"/>
            </a:lvl9pPr>
          </a:lstStyle>
          <a:p>
            <a:endParaRPr/>
          </a:p>
        </p:txBody>
      </p:sp>
      <p:sp>
        <p:nvSpPr>
          <p:cNvPr id="58" name="Google Shape;58;p12">
            <a:extLst>
              <a:ext uri="{FF2B5EF4-FFF2-40B4-BE49-F238E27FC236}">
                <a16:creationId xmlns:a16="http://schemas.microsoft.com/office/drawing/2014/main" id="{B990FA8C-5E56-4668-939E-1FAC51DB851E}"/>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12">
            <a:extLst>
              <a:ext uri="{FF2B5EF4-FFF2-40B4-BE49-F238E27FC236}">
                <a16:creationId xmlns:a16="http://schemas.microsoft.com/office/drawing/2014/main" id="{B8CCA1C1-06A3-4428-99FF-511798D586F0}"/>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12">
            <a:extLst>
              <a:ext uri="{FF2B5EF4-FFF2-40B4-BE49-F238E27FC236}">
                <a16:creationId xmlns:a16="http://schemas.microsoft.com/office/drawing/2014/main" id="{D888BD58-4965-48D0-9BEA-ED3B90393F57}"/>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
        <p:cNvGrpSpPr/>
        <p:nvPr/>
      </p:nvGrpSpPr>
      <p:grpSpPr>
        <a:xfrm>
          <a:off x="0" y="0"/>
          <a:ext cx="0" cy="0"/>
          <a:chOff x="0" y="0"/>
          <a:chExt cx="0" cy="0"/>
        </a:xfrm>
      </p:grpSpPr>
      <p:sp>
        <p:nvSpPr>
          <p:cNvPr id="62" name="Google Shape;62;p13">
            <a:extLst>
              <a:ext uri="{FF2B5EF4-FFF2-40B4-BE49-F238E27FC236}">
                <a16:creationId xmlns:a16="http://schemas.microsoft.com/office/drawing/2014/main" id="{293F306B-4FD0-4381-B6AA-C63BA3175456}"/>
              </a:ext>
            </a:extLst>
          </p:cNvPr>
          <p:cNvSpPr>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ormAutofit/>
          </a:bodyPr>
          <a:lstStyle>
            <a:lvl1pPr algn="l">
              <a:lnSpc>
                <a:spcPct val="100000"/>
              </a:lnSpc>
              <a:spcBef>
                <a:spcPts val="0"/>
              </a:spcBef>
              <a:spcAft>
                <a:spcPts val="0"/>
              </a:spcAft>
              <a:buClr>
                <a:schemeClr val="dk1"/>
              </a:buClr>
              <a:buSzPts val="2160"/>
              <a:buFont typeface="Calibri"/>
              <a:buNone/>
              <a:defRPr sz="216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13">
            <a:extLst>
              <a:ext uri="{FF2B5EF4-FFF2-40B4-BE49-F238E27FC236}">
                <a16:creationId xmlns:a16="http://schemas.microsoft.com/office/drawing/2014/main" id="{A10C5D84-D75F-4BDE-98EB-876B57071CB5}"/>
              </a:ext>
            </a:extLst>
          </p:cNvPr>
          <p:cNvSpPr>
            <a:spLocks noGrp="1"/>
          </p:cNvSpPr>
          <p:nvPr>
            <p:ph type="pic" idx="2"/>
          </p:nvPr>
        </p:nvSpPr>
        <p:spPr>
          <a:xfrm>
            <a:off x="2389717" y="612775"/>
            <a:ext cx="7315200" cy="4114800"/>
          </a:xfrm>
          <a:prstGeom prst="rect">
            <a:avLst/>
          </a:prstGeom>
          <a:noFill/>
          <a:ln>
            <a:noFill/>
          </a:ln>
        </p:spPr>
      </p:sp>
      <p:sp>
        <p:nvSpPr>
          <p:cNvPr id="64" name="Google Shape;64;p13">
            <a:extLst>
              <a:ext uri="{FF2B5EF4-FFF2-40B4-BE49-F238E27FC236}">
                <a16:creationId xmlns:a16="http://schemas.microsoft.com/office/drawing/2014/main" id="{F4E297F5-4F74-4497-9A6A-35BAD03065CC}"/>
              </a:ext>
            </a:extLst>
          </p:cNvPr>
          <p:cNvSpPr>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ormAutofit/>
          </a:bodyPr>
          <a:lstStyle>
            <a:lvl1pPr marL="457200" indent="-228600" algn="l">
              <a:lnSpc>
                <a:spcPct val="100000"/>
              </a:lnSpc>
              <a:spcBef>
                <a:spcPts val="288"/>
              </a:spcBef>
              <a:spcAft>
                <a:spcPts val="0"/>
              </a:spcAft>
              <a:buClr>
                <a:schemeClr val="dk1"/>
              </a:buClr>
              <a:buSzPts val="1440"/>
              <a:buNone/>
              <a:defRPr sz="1440"/>
            </a:lvl1pPr>
            <a:lvl2pPr marL="914400" indent="-228600" algn="l">
              <a:lnSpc>
                <a:spcPct val="100000"/>
              </a:lnSpc>
              <a:spcBef>
                <a:spcPts val="264"/>
              </a:spcBef>
              <a:spcAft>
                <a:spcPts val="0"/>
              </a:spcAft>
              <a:buClr>
                <a:schemeClr val="dk1"/>
              </a:buClr>
              <a:buSzPts val="1320"/>
              <a:buNone/>
              <a:defRPr sz="1320"/>
            </a:lvl2pPr>
            <a:lvl3pPr marL="1371600" indent="-228600" algn="l">
              <a:lnSpc>
                <a:spcPct val="100000"/>
              </a:lnSpc>
              <a:spcBef>
                <a:spcPts val="216"/>
              </a:spcBef>
              <a:spcAft>
                <a:spcPts val="0"/>
              </a:spcAft>
              <a:buClr>
                <a:schemeClr val="dk1"/>
              </a:buClr>
              <a:buSzPts val="1080"/>
              <a:buNone/>
              <a:defRPr sz="1080"/>
            </a:lvl3pPr>
            <a:lvl4pPr marL="1828800" indent="-228600" algn="l">
              <a:lnSpc>
                <a:spcPct val="100000"/>
              </a:lnSpc>
              <a:spcBef>
                <a:spcPts val="192"/>
              </a:spcBef>
              <a:spcAft>
                <a:spcPts val="0"/>
              </a:spcAft>
              <a:buClr>
                <a:schemeClr val="dk1"/>
              </a:buClr>
              <a:buSzPts val="960"/>
              <a:buNone/>
              <a:defRPr sz="960"/>
            </a:lvl4pPr>
            <a:lvl5pPr marL="2286000" indent="-228600" algn="l">
              <a:lnSpc>
                <a:spcPct val="100000"/>
              </a:lnSpc>
              <a:spcBef>
                <a:spcPts val="192"/>
              </a:spcBef>
              <a:spcAft>
                <a:spcPts val="0"/>
              </a:spcAft>
              <a:buClr>
                <a:schemeClr val="dk1"/>
              </a:buClr>
              <a:buSzPts val="960"/>
              <a:buNone/>
              <a:defRPr sz="960"/>
            </a:lvl5pPr>
            <a:lvl6pPr marL="2743200" indent="-228600" algn="l">
              <a:lnSpc>
                <a:spcPct val="100000"/>
              </a:lnSpc>
              <a:spcBef>
                <a:spcPts val="192"/>
              </a:spcBef>
              <a:spcAft>
                <a:spcPts val="0"/>
              </a:spcAft>
              <a:buClr>
                <a:schemeClr val="dk1"/>
              </a:buClr>
              <a:buSzPts val="960"/>
              <a:buNone/>
              <a:defRPr sz="960"/>
            </a:lvl6pPr>
            <a:lvl7pPr marL="3200400" indent="-228600" algn="l">
              <a:lnSpc>
                <a:spcPct val="100000"/>
              </a:lnSpc>
              <a:spcBef>
                <a:spcPts val="192"/>
              </a:spcBef>
              <a:spcAft>
                <a:spcPts val="0"/>
              </a:spcAft>
              <a:buClr>
                <a:schemeClr val="dk1"/>
              </a:buClr>
              <a:buSzPts val="960"/>
              <a:buNone/>
              <a:defRPr sz="960"/>
            </a:lvl7pPr>
            <a:lvl8pPr marL="3657600" indent="-228600" algn="l">
              <a:lnSpc>
                <a:spcPct val="100000"/>
              </a:lnSpc>
              <a:spcBef>
                <a:spcPts val="192"/>
              </a:spcBef>
              <a:spcAft>
                <a:spcPts val="0"/>
              </a:spcAft>
              <a:buClr>
                <a:schemeClr val="dk1"/>
              </a:buClr>
              <a:buSzPts val="960"/>
              <a:buNone/>
              <a:defRPr sz="960"/>
            </a:lvl8pPr>
            <a:lvl9pPr marL="4114800" indent="-228600" algn="l">
              <a:lnSpc>
                <a:spcPct val="100000"/>
              </a:lnSpc>
              <a:spcBef>
                <a:spcPts val="192"/>
              </a:spcBef>
              <a:spcAft>
                <a:spcPts val="0"/>
              </a:spcAft>
              <a:buClr>
                <a:schemeClr val="dk1"/>
              </a:buClr>
              <a:buSzPts val="960"/>
              <a:buNone/>
              <a:defRPr sz="960"/>
            </a:lvl9pPr>
          </a:lstStyle>
          <a:p>
            <a:endParaRPr/>
          </a:p>
        </p:txBody>
      </p:sp>
      <p:sp>
        <p:nvSpPr>
          <p:cNvPr id="65" name="Google Shape;65;p13">
            <a:extLst>
              <a:ext uri="{FF2B5EF4-FFF2-40B4-BE49-F238E27FC236}">
                <a16:creationId xmlns:a16="http://schemas.microsoft.com/office/drawing/2014/main" id="{261553A9-8A5C-4810-82B9-45D9DF3B576B}"/>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3">
            <a:extLst>
              <a:ext uri="{FF2B5EF4-FFF2-40B4-BE49-F238E27FC236}">
                <a16:creationId xmlns:a16="http://schemas.microsoft.com/office/drawing/2014/main" id="{58C9A4E4-5010-4EAA-A7F3-ABE5290BE5A2}"/>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7" name="Google Shape;67;p13">
            <a:extLst>
              <a:ext uri="{FF2B5EF4-FFF2-40B4-BE49-F238E27FC236}">
                <a16:creationId xmlns:a16="http://schemas.microsoft.com/office/drawing/2014/main" id="{FE1BAF8B-8834-4D10-8F9B-9F9AB8BF1FEB}"/>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
        <p:cNvGrpSpPr/>
        <p:nvPr/>
      </p:nvGrpSpPr>
      <p:grpSpPr>
        <a:xfrm>
          <a:off x="0" y="0"/>
          <a:ext cx="0" cy="0"/>
          <a:chOff x="0" y="0"/>
          <a:chExt cx="0" cy="0"/>
        </a:xfrm>
      </p:grpSpPr>
      <p:sp>
        <p:nvSpPr>
          <p:cNvPr id="69" name="Google Shape;69;p14">
            <a:extLst>
              <a:ext uri="{FF2B5EF4-FFF2-40B4-BE49-F238E27FC236}">
                <a16:creationId xmlns:a16="http://schemas.microsoft.com/office/drawing/2014/main" id="{24F7912D-9741-4814-9225-D750DD87B78F}"/>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4">
            <a:extLst>
              <a:ext uri="{FF2B5EF4-FFF2-40B4-BE49-F238E27FC236}">
                <a16:creationId xmlns:a16="http://schemas.microsoft.com/office/drawing/2014/main" id="{5F577D98-B1C2-40C2-9530-53823651DCF7}"/>
              </a:ext>
            </a:extLst>
          </p:cNvPr>
          <p:cNvSpPr>
            <a:spLocks noGrp="1"/>
          </p:cNvSpPr>
          <p:nvPr>
            <p:ph type="body" idx="1"/>
          </p:nvPr>
        </p:nvSpPr>
        <p:spPr>
          <a:xfrm rot="5400000">
            <a:off x="3833019" y="-1623218"/>
            <a:ext cx="4525963" cy="10972800"/>
          </a:xfrm>
          <a:prstGeom prst="rect">
            <a:avLst/>
          </a:prstGeom>
          <a:noFill/>
          <a:ln>
            <a:noFill/>
          </a:ln>
        </p:spPr>
        <p:txBody>
          <a:bodyPr spcFirstLastPara="1" wrap="square" lIns="81025" tIns="40500" rIns="81025" bIns="405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1" name="Google Shape;71;p14">
            <a:extLst>
              <a:ext uri="{FF2B5EF4-FFF2-40B4-BE49-F238E27FC236}">
                <a16:creationId xmlns:a16="http://schemas.microsoft.com/office/drawing/2014/main" id="{60526360-C858-4620-A38C-FC573E569B25}"/>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2" name="Google Shape;72;p14">
            <a:extLst>
              <a:ext uri="{FF2B5EF4-FFF2-40B4-BE49-F238E27FC236}">
                <a16:creationId xmlns:a16="http://schemas.microsoft.com/office/drawing/2014/main" id="{FE07CEB0-6C42-4487-9F58-12032AC6B28E}"/>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4">
            <a:extLst>
              <a:ext uri="{FF2B5EF4-FFF2-40B4-BE49-F238E27FC236}">
                <a16:creationId xmlns:a16="http://schemas.microsoft.com/office/drawing/2014/main" id="{C0F7EFAF-E1F4-42B9-B8D8-6A4288285F48}"/>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
        <p:cNvGrpSpPr/>
        <p:nvPr/>
      </p:nvGrpSpPr>
      <p:grpSpPr>
        <a:xfrm>
          <a:off x="0" y="0"/>
          <a:ext cx="0" cy="0"/>
          <a:chOff x="0" y="0"/>
          <a:chExt cx="0" cy="0"/>
        </a:xfrm>
      </p:grpSpPr>
      <p:sp>
        <p:nvSpPr>
          <p:cNvPr id="75" name="Google Shape;75;p15">
            <a:extLst>
              <a:ext uri="{FF2B5EF4-FFF2-40B4-BE49-F238E27FC236}">
                <a16:creationId xmlns:a16="http://schemas.microsoft.com/office/drawing/2014/main" id="{FE93EC97-7AB5-4215-A9FB-F5A4AEB78ADD}"/>
              </a:ext>
            </a:extLst>
          </p:cNvPr>
          <p:cNvSpPr>
            <a:spLocks noGrp="1"/>
          </p:cNvSpPr>
          <p:nvPr>
            <p:ph type="title"/>
          </p:nvPr>
        </p:nvSpPr>
        <p:spPr>
          <a:xfrm rot="5400000">
            <a:off x="7285038" y="1828803"/>
            <a:ext cx="5851525" cy="27432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5">
            <a:extLst>
              <a:ext uri="{FF2B5EF4-FFF2-40B4-BE49-F238E27FC236}">
                <a16:creationId xmlns:a16="http://schemas.microsoft.com/office/drawing/2014/main" id="{ABEFD08E-7258-42D5-BCC7-1EFF10451204}"/>
              </a:ext>
            </a:extLst>
          </p:cNvPr>
          <p:cNvSpPr>
            <a:spLocks noGrp="1"/>
          </p:cNvSpPr>
          <p:nvPr>
            <p:ph type="body" idx="1"/>
          </p:nvPr>
        </p:nvSpPr>
        <p:spPr>
          <a:xfrm rot="5400000">
            <a:off x="1697038" y="-812797"/>
            <a:ext cx="5851525" cy="8026400"/>
          </a:xfrm>
          <a:prstGeom prst="rect">
            <a:avLst/>
          </a:prstGeom>
          <a:noFill/>
          <a:ln>
            <a:noFill/>
          </a:ln>
        </p:spPr>
        <p:txBody>
          <a:bodyPr spcFirstLastPara="1" wrap="square" lIns="81025" tIns="40500" rIns="81025" bIns="405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7" name="Google Shape;77;p15">
            <a:extLst>
              <a:ext uri="{FF2B5EF4-FFF2-40B4-BE49-F238E27FC236}">
                <a16:creationId xmlns:a16="http://schemas.microsoft.com/office/drawing/2014/main" id="{1BD4EA7A-C01C-4C59-8112-76EF9B89DAB5}"/>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8" name="Google Shape;78;p15">
            <a:extLst>
              <a:ext uri="{FF2B5EF4-FFF2-40B4-BE49-F238E27FC236}">
                <a16:creationId xmlns:a16="http://schemas.microsoft.com/office/drawing/2014/main" id="{3FAE6601-3F97-4263-A930-E3CBC87837BC}"/>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9" name="Google Shape;79;p15">
            <a:extLst>
              <a:ext uri="{FF2B5EF4-FFF2-40B4-BE49-F238E27FC236}">
                <a16:creationId xmlns:a16="http://schemas.microsoft.com/office/drawing/2014/main" id="{7F94868A-EB5D-42EB-AF46-9D04F6939D7E}"/>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62A23B-DBCE-C62C-1265-F31E2A5AA12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09949A17-E8A7-6E20-0EA8-D838BF9B6625}"/>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EE0BCC5-47DA-7507-8175-520644C0A6D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BEA7B08C-E7C0-E7FA-87A6-2B08C5BC05E0}"/>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5C213AB-30A1-72C4-9F44-AB53ADE85903}"/>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A8B65B4-F627-48A4-BDD7-73C74112FD6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
        <p:cNvGrpSpPr/>
        <p:nvPr/>
      </p:nvGrpSpPr>
      <p:grpSpPr>
        <a:xfrm>
          <a:off x="0" y="0"/>
          <a:ext cx="0" cy="0"/>
          <a:chOff x="0" y="0"/>
          <a:chExt cx="0" cy="0"/>
        </a:xfrm>
      </p:grpSpPr>
      <p:sp>
        <p:nvSpPr>
          <p:cNvPr id="6" name="Google Shape;6;p4">
            <a:extLst>
              <a:ext uri="{FF2B5EF4-FFF2-40B4-BE49-F238E27FC236}">
                <a16:creationId xmlns:a16="http://schemas.microsoft.com/office/drawing/2014/main" id="{BE23E231-056B-4A38-8917-D2A96EFB9BEE}"/>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marR="0" algn="ctr">
              <a:lnSpc>
                <a:spcPct val="100000"/>
              </a:lnSpc>
              <a:spcBef>
                <a:spcPts val="0"/>
              </a:spcBef>
              <a:spcAft>
                <a:spcPts val="0"/>
              </a:spcAft>
              <a:buClr>
                <a:schemeClr val="dk1"/>
              </a:buClr>
              <a:buSzPts val="4680"/>
              <a:buFont typeface="Calibri"/>
              <a:buNone/>
              <a:defRPr sz="468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endParaRPr/>
          </a:p>
        </p:txBody>
      </p:sp>
      <p:sp>
        <p:nvSpPr>
          <p:cNvPr id="7" name="Google Shape;7;p4">
            <a:extLst>
              <a:ext uri="{FF2B5EF4-FFF2-40B4-BE49-F238E27FC236}">
                <a16:creationId xmlns:a16="http://schemas.microsoft.com/office/drawing/2014/main" id="{9C0998DD-3DDE-4EA1-9C65-BF22ADFAA38C}"/>
              </a:ext>
            </a:extLst>
          </p:cNvPr>
          <p:cNvSpPr>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ormAutofit/>
          </a:bodyPr>
          <a:lstStyle>
            <a:lvl1pPr marL="457200" marR="0" indent="-441960" algn="l">
              <a:lnSpc>
                <a:spcPct val="100000"/>
              </a:lnSpc>
              <a:spcBef>
                <a:spcPts val="672"/>
              </a:spcBef>
              <a:spcAft>
                <a:spcPts val="0"/>
              </a:spcAft>
              <a:buClr>
                <a:schemeClr val="dk1"/>
              </a:buClr>
              <a:buSzPts val="3360"/>
              <a:buFont typeface="Arial"/>
              <a:buChar char="•"/>
              <a:defRPr sz="3359" b="0" i="0" u="none" cap="none">
                <a:solidFill>
                  <a:schemeClr val="dk1"/>
                </a:solidFill>
                <a:latin typeface="Calibri"/>
                <a:ea typeface="Calibri"/>
                <a:cs typeface="Calibri"/>
              </a:defRPr>
            </a:lvl1pPr>
            <a:lvl2pPr marL="914400" marR="0" indent="-419100" algn="l">
              <a:lnSpc>
                <a:spcPct val="100000"/>
              </a:lnSpc>
              <a:spcBef>
                <a:spcPts val="600"/>
              </a:spcBef>
              <a:spcAft>
                <a:spcPts val="0"/>
              </a:spcAft>
              <a:buClr>
                <a:schemeClr val="dk1"/>
              </a:buClr>
              <a:buSzPts val="3000"/>
              <a:buFont typeface="Arial"/>
              <a:buChar char="–"/>
              <a:defRPr sz="3000" b="0" i="0" u="none" cap="none">
                <a:solidFill>
                  <a:schemeClr val="dk1"/>
                </a:solidFill>
                <a:latin typeface="Calibri"/>
                <a:ea typeface="Calibri"/>
                <a:cs typeface="Calibri"/>
              </a:defRPr>
            </a:lvl2pPr>
            <a:lvl3pPr marL="1371600" marR="0" indent="-388619" algn="l">
              <a:lnSpc>
                <a:spcPct val="100000"/>
              </a:lnSpc>
              <a:spcBef>
                <a:spcPts val="504"/>
              </a:spcBef>
              <a:spcAft>
                <a:spcPts val="0"/>
              </a:spcAft>
              <a:buClr>
                <a:schemeClr val="dk1"/>
              </a:buClr>
              <a:buSzPts val="2520"/>
              <a:buFont typeface="Arial"/>
              <a:buChar char="•"/>
              <a:defRPr sz="2520" b="0" i="0" u="none" cap="none">
                <a:solidFill>
                  <a:schemeClr val="dk1"/>
                </a:solidFill>
                <a:latin typeface="Calibri"/>
                <a:ea typeface="Calibri"/>
                <a:cs typeface="Calibri"/>
              </a:defRPr>
            </a:lvl3pPr>
            <a:lvl4pPr marL="18288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4pPr>
            <a:lvl5pPr marL="22860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5pPr>
            <a:lvl6pPr marL="27432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6pPr>
            <a:lvl7pPr marL="32004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7pPr>
            <a:lvl8pPr marL="3657600" marR="0" indent="-365759"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8pPr>
            <a:lvl9pPr marL="4114800" marR="0" indent="-365759"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9pPr>
          </a:lstStyle>
          <a:p>
            <a:endParaRPr/>
          </a:p>
        </p:txBody>
      </p:sp>
      <p:sp>
        <p:nvSpPr>
          <p:cNvPr id="8" name="Google Shape;8;p4">
            <a:extLst>
              <a:ext uri="{FF2B5EF4-FFF2-40B4-BE49-F238E27FC236}">
                <a16:creationId xmlns:a16="http://schemas.microsoft.com/office/drawing/2014/main" id="{CC96CD7E-E8F7-46E9-8BF0-3A8FA89F2CF4}"/>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marR="0" algn="l">
              <a:lnSpc>
                <a:spcPct val="100000"/>
              </a:lnSpc>
              <a:spcBef>
                <a:spcPts val="0"/>
              </a:spcBef>
              <a:spcAft>
                <a:spcPts val="0"/>
              </a:spcAft>
              <a:buClr>
                <a:srgbClr val="000000"/>
              </a:buClr>
              <a:buSzPts val="1400"/>
              <a:buFont typeface="Arial"/>
              <a:buNone/>
              <a:defRPr sz="132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9pPr>
          </a:lstStyle>
          <a:p>
            <a:endParaRPr/>
          </a:p>
        </p:txBody>
      </p:sp>
      <p:sp>
        <p:nvSpPr>
          <p:cNvPr id="9" name="Google Shape;9;p4">
            <a:extLst>
              <a:ext uri="{FF2B5EF4-FFF2-40B4-BE49-F238E27FC236}">
                <a16:creationId xmlns:a16="http://schemas.microsoft.com/office/drawing/2014/main" id="{18177BB5-F585-4477-8123-B2C920E6E9A9}"/>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marR="0" algn="ctr">
              <a:lnSpc>
                <a:spcPct val="100000"/>
              </a:lnSpc>
              <a:spcBef>
                <a:spcPts val="0"/>
              </a:spcBef>
              <a:spcAft>
                <a:spcPts val="0"/>
              </a:spcAft>
              <a:buClr>
                <a:srgbClr val="000000"/>
              </a:buClr>
              <a:buSzPts val="1400"/>
              <a:buFont typeface="Arial"/>
              <a:buNone/>
              <a:defRPr sz="132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9pPr>
          </a:lstStyle>
          <a:p>
            <a:endParaRPr/>
          </a:p>
        </p:txBody>
      </p:sp>
      <p:sp>
        <p:nvSpPr>
          <p:cNvPr id="10" name="Google Shape;10;p4">
            <a:extLst>
              <a:ext uri="{FF2B5EF4-FFF2-40B4-BE49-F238E27FC236}">
                <a16:creationId xmlns:a16="http://schemas.microsoft.com/office/drawing/2014/main" id="{A47E857C-95DE-4CBA-81C3-63006E596D1A}"/>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
        <p:cNvGrpSpPr/>
        <p:nvPr/>
      </p:nvGrpSpPr>
      <p:grpSpPr>
        <a:xfrm>
          <a:off x="0" y="0"/>
          <a:ext cx="0" cy="0"/>
          <a:chOff x="0" y="0"/>
          <a:chExt cx="0" cy="0"/>
        </a:xfrm>
      </p:grpSpPr>
      <p:sp>
        <p:nvSpPr>
          <p:cNvPr id="84" name="Google Shape;84;p1">
            <a:extLst>
              <a:ext uri="{FF2B5EF4-FFF2-40B4-BE49-F238E27FC236}">
                <a16:creationId xmlns:a16="http://schemas.microsoft.com/office/drawing/2014/main" id="{5BB0CCE6-49DD-4B77-A5A0-69EC3736F967}"/>
              </a:ext>
            </a:extLst>
          </p:cNvPr>
          <p:cNvSpPr>
            <a:spLocks noGrp="1"/>
          </p:cNvSpPr>
          <p:nvPr>
            <p:ph type="ctrTitle"/>
          </p:nvPr>
        </p:nvSpPr>
        <p:spPr>
          <a:xfrm>
            <a:off x="898421" y="3165988"/>
            <a:ext cx="10370574" cy="1472483"/>
          </a:xfrm>
          <a:prstGeom prst="rect">
            <a:avLst/>
          </a:prstGeom>
          <a:noFill/>
          <a:ln>
            <a:noFill/>
          </a:ln>
        </p:spPr>
        <p:txBody>
          <a:bodyPr spcFirstLastPara="1" wrap="square" lIns="57150" tIns="28575" rIns="57150" bIns="28575" anchor="ctr">
            <a:noAutofit/>
          </a:bodyPr>
          <a:lstStyle/>
          <a:p>
            <a:pPr lvl="0" algn="ctr">
              <a:buSzPct val="96609"/>
              <a:buNone/>
              <a:defRPr sz="3000">
                <a:solidFill>
                  <a:srgbClr val="000000"/>
                </a:solidFill>
                <a:latin typeface="Times New Roman"/>
                <a:ea typeface="Times New Roman"/>
                <a:cs typeface="Times New Roman"/>
              </a:defRPr>
            </a:pPr>
            <a:r>
              <a:rPr sz="3000">
                <a:solidFill>
                  <a:srgbClr val="000000"/>
                </a:solidFill>
                <a:latin typeface="Times New Roman"/>
                <a:ea typeface="Times New Roman"/>
                <a:cs typeface="Times New Roman"/>
              </a:rPr>
              <a:t>An Explainable AI Framework for Analysis of</a:t>
            </a:r>
          </a:p>
          <a:p>
            <a:pPr lvl="0" algn="ctr">
              <a:buSzPct val="96609"/>
              <a:buNone/>
              <a:defRPr sz="3000">
                <a:solidFill>
                  <a:srgbClr val="000000"/>
                </a:solidFill>
                <a:latin typeface="Times New Roman"/>
                <a:ea typeface="Times New Roman"/>
                <a:cs typeface="Times New Roman"/>
              </a:defRPr>
            </a:pPr>
            <a:r>
              <a:rPr sz="3000">
                <a:solidFill>
                  <a:srgbClr val="000000"/>
                </a:solidFill>
                <a:latin typeface="Times New Roman"/>
                <a:ea typeface="Times New Roman"/>
                <a:cs typeface="Times New Roman"/>
              </a:rPr>
              <a:t>X-Ray Polarimetry Data from XPoSat</a:t>
            </a:r>
          </a:p>
          <a:p>
            <a:pPr lvl="0" algn="ctr">
              <a:buSzPct val="96609"/>
              <a:buNone/>
              <a:defRPr sz="3000">
                <a:solidFill>
                  <a:srgbClr val="000000"/>
                </a:solidFill>
                <a:latin typeface="Times New Roman"/>
                <a:ea typeface="Times New Roman"/>
                <a:cs typeface="Times New Roman"/>
              </a:defRPr>
            </a:pPr>
            <a:r>
              <a:rPr sz="3000">
                <a:solidFill>
                  <a:srgbClr val="000000"/>
                </a:solidFill>
                <a:latin typeface="Times New Roman"/>
                <a:ea typeface="Times New Roman"/>
                <a:cs typeface="Times New Roman"/>
              </a:rPr>
              <a:t>Project Stage-I — Review 1</a:t>
            </a:r>
          </a:p>
        </p:txBody>
      </p:sp>
      <p:sp>
        <p:nvSpPr>
          <p:cNvPr id="3" name="Google Shape;84;p1">
            <a:extLst>
              <a:ext uri="{FF2B5EF4-FFF2-40B4-BE49-F238E27FC236}">
                <a16:creationId xmlns:a16="http://schemas.microsoft.com/office/drawing/2014/main" id="{4B95EB6E-FA26-4DFA-AE74-DD2098FAE754}"/>
              </a:ext>
            </a:extLst>
          </p:cNvPr>
          <p:cNvSpPr>
            <a:spLocks noGrp="1"/>
          </p:cNvSpPr>
          <p:nvPr/>
        </p:nvSpPr>
        <p:spPr>
          <a:xfrm>
            <a:off x="7877175" y="5107877"/>
            <a:ext cx="4191000" cy="1472470"/>
          </a:xfrm>
          <a:prstGeom prst="rect">
            <a:avLst/>
          </a:prstGeom>
          <a:noFill/>
          <a:ln>
            <a:noFill/>
          </a:ln>
        </p:spPr>
        <p:txBody>
          <a:bodyPr spcFirstLastPara="1" wrap="square" lIns="57150" tIns="28575" rIns="57150" bIns="28575" anchor="ctr">
            <a:noAutofit/>
          </a:bodyPr>
          <a:lstStyle>
            <a:lvl1pPr marR="0" algn="ctr">
              <a:lnSpc>
                <a:spcPct val="100000"/>
              </a:lnSpc>
              <a:spcBef>
                <a:spcPts val="0"/>
              </a:spcBef>
              <a:spcAft>
                <a:spcPts val="0"/>
              </a:spcAft>
              <a:buClr>
                <a:schemeClr val="dk1"/>
              </a:buClr>
              <a:buSzPts val="1800"/>
              <a:buFont typeface="Calibri"/>
              <a:buNone/>
              <a:defRPr sz="468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pPr marL="0" marR="0" lvl="0" indent="0" algn="ctr" defTabSz="914400">
              <a:lnSpc>
                <a:spcPct val="100000"/>
              </a:lnSpc>
              <a:spcBef>
                <a:spcPts val="0"/>
              </a:spcBef>
              <a:spcAft>
                <a:spcPts val="0"/>
              </a:spcAft>
              <a:buClr>
                <a:srgbClr val="000000"/>
              </a:buClr>
              <a:buSzPct val="96609"/>
              <a:buFont typeface="Calibri"/>
              <a:buNone/>
              <a:defRPr sz="1575">
                <a:solidFill>
                  <a:srgbClr val="000000"/>
                </a:solidFill>
                <a:latin typeface="Times New Roman"/>
                <a:ea typeface="Times New Roman"/>
                <a:cs typeface="Times New Roman"/>
              </a:defRPr>
            </a:pPr>
            <a:r>
              <a:rPr sz="1575" b="0" i="0" u="none" cap="none" dirty="0">
                <a:ln>
                  <a:noFill/>
                </a:ln>
                <a:solidFill>
                  <a:srgbClr val="000000"/>
                </a:solidFill>
                <a:latin typeface="Times New Roman"/>
                <a:ea typeface="Times New Roman"/>
                <a:cs typeface="Times New Roman"/>
              </a:rPr>
              <a:t>Under the Guidance of</a:t>
            </a:r>
          </a:p>
          <a:p>
            <a:pPr marL="0" marR="0" lvl="0" indent="0" algn="ctr" defTabSz="914400">
              <a:lnSpc>
                <a:spcPct val="100000"/>
              </a:lnSpc>
              <a:spcBef>
                <a:spcPts val="0"/>
              </a:spcBef>
              <a:spcAft>
                <a:spcPts val="0"/>
              </a:spcAft>
              <a:buClr>
                <a:srgbClr val="000000"/>
              </a:buClr>
              <a:buSzPct val="96609"/>
              <a:buFont typeface="Calibri"/>
              <a:buNone/>
              <a:defRPr sz="1575">
                <a:solidFill>
                  <a:srgbClr val="000000"/>
                </a:solidFill>
                <a:latin typeface="Times New Roman"/>
                <a:ea typeface="Times New Roman"/>
                <a:cs typeface="Times New Roman"/>
              </a:defRPr>
            </a:pPr>
            <a:r>
              <a:rPr lang="en-IN" sz="1575" b="0" i="0" u="none" cap="none" dirty="0">
                <a:ln>
                  <a:noFill/>
                </a:ln>
                <a:solidFill>
                  <a:srgbClr val="000000"/>
                </a:solidFill>
                <a:latin typeface="Times New Roman"/>
                <a:ea typeface="Times New Roman"/>
                <a:cs typeface="Times New Roman"/>
              </a:rPr>
              <a:t>Ms. Soujanya</a:t>
            </a:r>
            <a:endParaRPr sz="1575" b="0" i="0" u="none" cap="none" dirty="0">
              <a:ln>
                <a:noFill/>
              </a:ln>
              <a:solidFill>
                <a:srgbClr val="000000"/>
              </a:solidFill>
              <a:latin typeface="Times New Roman"/>
              <a:ea typeface="Times New Roman"/>
              <a:cs typeface="Times New Roman"/>
            </a:endParaRPr>
          </a:p>
          <a:p>
            <a:pPr marL="0" marR="0" lvl="0" indent="0" algn="ctr" defTabSz="914400">
              <a:lnSpc>
                <a:spcPct val="100000"/>
              </a:lnSpc>
              <a:spcBef>
                <a:spcPts val="0"/>
              </a:spcBef>
              <a:spcAft>
                <a:spcPts val="0"/>
              </a:spcAft>
              <a:buClr>
                <a:srgbClr val="000000"/>
              </a:buClr>
              <a:buSzPct val="96609"/>
              <a:buFont typeface="Calibri"/>
              <a:buNone/>
              <a:defRPr sz="1575">
                <a:solidFill>
                  <a:srgbClr val="000000"/>
                </a:solidFill>
                <a:latin typeface="Times New Roman"/>
                <a:ea typeface="Times New Roman"/>
                <a:cs typeface="Times New Roman"/>
              </a:defRPr>
            </a:pPr>
            <a:r>
              <a:rPr sz="1575" b="0" i="0" u="none" cap="none" dirty="0">
                <a:ln>
                  <a:noFill/>
                </a:ln>
                <a:solidFill>
                  <a:srgbClr val="000000"/>
                </a:solidFill>
                <a:latin typeface="Times New Roman"/>
                <a:ea typeface="Times New Roman"/>
                <a:cs typeface="Times New Roman"/>
              </a:rPr>
              <a:t>Team No.: </a:t>
            </a:r>
            <a:r>
              <a:rPr lang="en-IN" sz="1575" dirty="0">
                <a:solidFill>
                  <a:srgbClr val="000000"/>
                </a:solidFill>
                <a:latin typeface="Times New Roman"/>
                <a:ea typeface="Times New Roman"/>
                <a:cs typeface="Times New Roman"/>
              </a:rPr>
              <a:t>17</a:t>
            </a:r>
            <a:endParaRPr sz="1575" b="0" i="0" u="none" cap="none" dirty="0">
              <a:ln>
                <a:noFill/>
              </a:ln>
              <a:solidFill>
                <a:srgbClr val="000000"/>
              </a:solidFill>
              <a:latin typeface="Times New Roman"/>
              <a:ea typeface="Times New Roman"/>
              <a:cs typeface="Times New Roman"/>
            </a:endParaRPr>
          </a:p>
          <a:p>
            <a:pPr marL="0" marR="0" lvl="0" indent="0" algn="ctr" defTabSz="914400">
              <a:lnSpc>
                <a:spcPct val="100000"/>
              </a:lnSpc>
              <a:spcBef>
                <a:spcPts val="0"/>
              </a:spcBef>
              <a:spcAft>
                <a:spcPts val="0"/>
              </a:spcAft>
              <a:buClr>
                <a:srgbClr val="000000"/>
              </a:buClr>
              <a:buSzPct val="96609"/>
              <a:buFont typeface="Calibri"/>
              <a:buNone/>
              <a:defRPr sz="1575">
                <a:solidFill>
                  <a:srgbClr val="000000"/>
                </a:solidFill>
                <a:latin typeface="Times New Roman"/>
                <a:ea typeface="Times New Roman"/>
                <a:cs typeface="Times New Roman"/>
              </a:defRPr>
            </a:pPr>
            <a:r>
              <a:rPr lang="en-IN" sz="1575" b="0" i="0" u="none" cap="none" dirty="0">
                <a:ln>
                  <a:noFill/>
                </a:ln>
                <a:solidFill>
                  <a:srgbClr val="000000"/>
                </a:solidFill>
                <a:latin typeface="Times New Roman"/>
                <a:ea typeface="Times New Roman"/>
                <a:cs typeface="Times New Roman"/>
              </a:rPr>
              <a:t>G Sai Saatvik</a:t>
            </a:r>
            <a:r>
              <a:rPr sz="1575" b="0" i="0" u="none" cap="none" dirty="0">
                <a:ln>
                  <a:noFill/>
                </a:ln>
                <a:solidFill>
                  <a:srgbClr val="000000"/>
                </a:solidFill>
                <a:latin typeface="Times New Roman"/>
                <a:ea typeface="Times New Roman"/>
                <a:cs typeface="Times New Roman"/>
              </a:rPr>
              <a:t> — </a:t>
            </a:r>
            <a:r>
              <a:rPr lang="en-IN" sz="1575">
                <a:solidFill>
                  <a:srgbClr val="000000"/>
                </a:solidFill>
                <a:latin typeface="Times New Roman"/>
                <a:ea typeface="Times New Roman"/>
                <a:cs typeface="Times New Roman"/>
              </a:rPr>
              <a:t>23BD1A058M</a:t>
            </a:r>
            <a:endParaRPr lang="en-IN" sz="1575" b="0" i="0" u="none" cap="none" dirty="0">
              <a:ln>
                <a:noFill/>
              </a:ln>
              <a:solidFill>
                <a:srgbClr val="000000"/>
              </a:solidFill>
              <a:latin typeface="Times New Roman"/>
              <a:ea typeface="Times New Roman"/>
              <a:cs typeface="Times New Roman"/>
            </a:endParaRPr>
          </a:p>
          <a:p>
            <a:pPr lvl="0">
              <a:buClr>
                <a:srgbClr val="000000"/>
              </a:buClr>
              <a:buSzPct val="96609"/>
              <a:defRPr sz="1575">
                <a:solidFill>
                  <a:srgbClr val="000000"/>
                </a:solidFill>
                <a:latin typeface="Times New Roman"/>
                <a:ea typeface="Times New Roman"/>
                <a:cs typeface="Times New Roman"/>
              </a:defRPr>
            </a:pPr>
            <a:r>
              <a:rPr lang="en-IN" sz="1575" dirty="0">
                <a:solidFill>
                  <a:srgbClr val="000000"/>
                </a:solidFill>
                <a:latin typeface="Times New Roman"/>
                <a:ea typeface="Times New Roman"/>
                <a:cs typeface="Times New Roman"/>
              </a:rPr>
              <a:t>R Srihitha — 23BD1A059M</a:t>
            </a:r>
            <a:endParaRPr lang="en-IN" sz="1575" b="0" i="0" u="none" cap="none" dirty="0">
              <a:ln>
                <a:noFill/>
              </a:ln>
              <a:solidFill>
                <a:srgbClr val="000000"/>
              </a:solidFill>
              <a:latin typeface="Times New Roman"/>
              <a:ea typeface="Times New Roman"/>
              <a:cs typeface="Times New Roman"/>
            </a:endParaRPr>
          </a:p>
          <a:p>
            <a:pPr lvl="0">
              <a:buClr>
                <a:srgbClr val="000000"/>
              </a:buClr>
              <a:buSzPct val="96609"/>
              <a:defRPr sz="1575">
                <a:solidFill>
                  <a:srgbClr val="000000"/>
                </a:solidFill>
                <a:latin typeface="Times New Roman"/>
                <a:ea typeface="Times New Roman"/>
                <a:cs typeface="Times New Roman"/>
              </a:defRPr>
            </a:pPr>
            <a:r>
              <a:rPr lang="en-IN" sz="1575" dirty="0">
                <a:solidFill>
                  <a:srgbClr val="000000"/>
                </a:solidFill>
                <a:latin typeface="Times New Roman"/>
                <a:ea typeface="Times New Roman"/>
                <a:cs typeface="Times New Roman"/>
              </a:rPr>
              <a:t>N Shruthi  — 23BD1A059B</a:t>
            </a:r>
          </a:p>
          <a:p>
            <a:pPr lvl="0">
              <a:buClr>
                <a:srgbClr val="000000"/>
              </a:buClr>
              <a:buSzPct val="96609"/>
              <a:defRPr sz="1575">
                <a:solidFill>
                  <a:srgbClr val="000000"/>
                </a:solidFill>
                <a:latin typeface="Times New Roman"/>
                <a:ea typeface="Times New Roman"/>
                <a:cs typeface="Times New Roman"/>
              </a:defRPr>
            </a:pPr>
            <a:r>
              <a:rPr lang="en-IN" sz="1575" b="0" i="0" u="none" cap="none" dirty="0">
                <a:ln>
                  <a:noFill/>
                </a:ln>
                <a:solidFill>
                  <a:srgbClr val="000000"/>
                </a:solidFill>
                <a:latin typeface="Times New Roman"/>
                <a:ea typeface="Times New Roman"/>
                <a:cs typeface="Times New Roman"/>
              </a:rPr>
              <a:t>K Rajkumar </a:t>
            </a:r>
            <a:r>
              <a:rPr lang="en-IN" sz="1575" dirty="0">
                <a:solidFill>
                  <a:srgbClr val="000000"/>
                </a:solidFill>
                <a:latin typeface="Times New Roman"/>
                <a:ea typeface="Times New Roman"/>
                <a:cs typeface="Times New Roman"/>
              </a:rPr>
              <a:t> — 24BD5A0530</a:t>
            </a:r>
            <a:endParaRPr lang="en-IN" sz="1575" b="0" i="0" u="none" cap="none" dirty="0">
              <a:ln>
                <a:noFill/>
              </a:ln>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67017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5B6EFF0-B997-4AB2-8E11-F154E8FAE0D9}"/>
              </a:ext>
            </a:extLst>
          </p:cNvPr>
          <p:cNvSpPr>
            <a:spLocks noGrp="1"/>
          </p:cNvSpPr>
          <p:nvPr>
            <p:ph type="title"/>
          </p:nvPr>
        </p:nvSpPr>
        <p:spPr>
          <a:xfrm>
            <a:off x="609600" y="235309"/>
            <a:ext cx="10972800" cy="1143000"/>
          </a:xfrm>
        </p:spPr>
        <p:txBody>
          <a:bodyPr/>
          <a:lstStyle/>
          <a:p>
            <a:r>
              <a:t>Review-I Scope and Abstract</a:t>
            </a:r>
          </a:p>
        </p:txBody>
      </p:sp>
      <p:sp>
        <p:nvSpPr>
          <p:cNvPr id="9" name="orange-rule-64-169">
            <a:extLst>
              <a:ext uri="{FF2B5EF4-FFF2-40B4-BE49-F238E27FC236}">
                <a16:creationId xmlns:a16="http://schemas.microsoft.com/office/drawing/2014/main" id="{218BF52E-F80B-4D32-8D9E-818250DCA4EF}"/>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AC3EF062-4DB0-45AB-8204-392E2C7B69F5}"/>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Proposed research">
            <a:extLst>
              <a:ext uri="{FF2B5EF4-FFF2-40B4-BE49-F238E27FC236}">
                <a16:creationId xmlns:a16="http://schemas.microsoft.com/office/drawing/2014/main" id="{48185892-828F-417E-89A5-38515D8F9D7C}"/>
              </a:ext>
            </a:extLst>
          </p:cNvPr>
          <p:cNvSpPr>
            <a:spLocks noGrp="1"/>
          </p:cNvSpPr>
          <p:nvPr/>
        </p:nvSpPr>
        <p:spPr>
          <a:xfrm>
            <a:off x="685800" y="1819275"/>
            <a:ext cx="40005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PROPOSED RESEARCH</a:t>
            </a:r>
          </a:p>
        </p:txBody>
      </p:sp>
      <p:sp>
        <p:nvSpPr>
          <p:cNvPr id="12" name="abstract-copy">
            <a:extLst>
              <a:ext uri="{FF2B5EF4-FFF2-40B4-BE49-F238E27FC236}">
                <a16:creationId xmlns:a16="http://schemas.microsoft.com/office/drawing/2014/main" id="{FF908571-3863-4DF9-BB23-644813ABAA86}"/>
              </a:ext>
            </a:extLst>
          </p:cNvPr>
          <p:cNvSpPr>
            <a:spLocks noGrp="1"/>
          </p:cNvSpPr>
          <p:nvPr/>
        </p:nvSpPr>
        <p:spPr>
          <a:xfrm>
            <a:off x="685800" y="2114550"/>
            <a:ext cx="6858000" cy="3143250"/>
          </a:xfrm>
          <a:prstGeom prst="rect">
            <a:avLst/>
          </a:prstGeom>
          <a:noFill/>
          <a:ln w="0">
            <a:noFill/>
            <a:prstDash val="solid"/>
          </a:ln>
        </p:spPr>
        <p:txBody>
          <a:bodyPr wrap="square" lIns="47625" tIns="38100" rIns="47625" bIns="38100" anchor="t">
            <a:noAutofit/>
          </a:bodyPr>
          <a:lstStyle/>
          <a:p>
            <a:pPr algn="l">
              <a:defRPr sz="1538" b="0">
                <a:solidFill>
                  <a:srgbClr val="17212B"/>
                </a:solidFill>
                <a:latin typeface="Calibri"/>
                <a:ea typeface="Calibri"/>
                <a:cs typeface="Calibri"/>
              </a:defRPr>
            </a:pPr>
            <a:r>
              <a:rPr sz="1538" b="0">
                <a:solidFill>
                  <a:srgbClr val="17212B"/>
                </a:solidFill>
                <a:latin typeface="Calibri"/>
                <a:ea typeface="Calibri"/>
                <a:cs typeface="Calibri"/>
              </a:rPr>
              <a:t>X-ray polarimetry adds directional information that imaging, spectroscopy and timing may not fully provide. XPoSat’s POLIX payload records polarization-sensitive azimuthal scattering in the 8–30 keV band and distributes several heterogeneous Level-2 FITS products for each observation. The proposed study aims to represent scientifically meaningful behaviour across these products, screen observations without trusted anomaly labels, and explain unusual scores at both feature and product level. A separate WeightedRoll-based modulation diagnostic is intended to support cautious physical interpretation against blank-sky behaviour. The expected contribution is a traceable researcher-oriented screening framework. Its central limitation is that statistical unusualness and fitted modulation are not equivalent to a calibrated polarization degree, an official sky polarization angle, or an astrophysical discovery.</a:t>
            </a:r>
          </a:p>
        </p:txBody>
      </p:sp>
      <p:sp>
        <p:nvSpPr>
          <p:cNvPr id="13" name="section-Review-I focus">
            <a:extLst>
              <a:ext uri="{FF2B5EF4-FFF2-40B4-BE49-F238E27FC236}">
                <a16:creationId xmlns:a16="http://schemas.microsoft.com/office/drawing/2014/main" id="{E9CBDCE9-D307-4C97-90AC-D5D3F2BA4418}"/>
              </a:ext>
            </a:extLst>
          </p:cNvPr>
          <p:cNvSpPr>
            <a:spLocks noGrp="1"/>
          </p:cNvSpPr>
          <p:nvPr/>
        </p:nvSpPr>
        <p:spPr>
          <a:xfrm>
            <a:off x="8096250" y="1819275"/>
            <a:ext cx="285750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REVIEW-I FOCUS</a:t>
            </a:r>
          </a:p>
        </p:txBody>
      </p:sp>
      <p:sp>
        <p:nvSpPr>
          <p:cNvPr id="14" name="scope-list">
            <a:extLst>
              <a:ext uri="{FF2B5EF4-FFF2-40B4-BE49-F238E27FC236}">
                <a16:creationId xmlns:a16="http://schemas.microsoft.com/office/drawing/2014/main" id="{735F18A7-5585-4C37-B04E-4511B396CFA9}"/>
              </a:ext>
            </a:extLst>
          </p:cNvPr>
          <p:cNvSpPr>
            <a:spLocks noGrp="1"/>
          </p:cNvSpPr>
          <p:nvPr/>
        </p:nvSpPr>
        <p:spPr>
          <a:xfrm>
            <a:off x="8096250" y="2209800"/>
            <a:ext cx="2952750" cy="1381125"/>
          </a:xfrm>
          <a:prstGeom prst="rect">
            <a:avLst/>
          </a:prstGeom>
          <a:noFill/>
          <a:ln w="0">
            <a:noFill/>
            <a:prstDash val="solid"/>
          </a:ln>
        </p:spPr>
        <p:txBody>
          <a:bodyPr wrap="square" lIns="47625" tIns="38100" rIns="47625" bIns="38100" anchor="ctr">
            <a:noAutofit/>
          </a:bodyPr>
          <a:lstStyle/>
          <a:p>
            <a:pPr algn="l">
              <a:defRPr sz="2100" b="1">
                <a:solidFill>
                  <a:srgbClr val="17365D"/>
                </a:solidFill>
                <a:latin typeface="Calibri"/>
                <a:ea typeface="Calibri"/>
                <a:cs typeface="Calibri"/>
              </a:defRPr>
            </a:pPr>
            <a:r>
              <a:rPr sz="2100" b="1">
                <a:solidFill>
                  <a:srgbClr val="17365D"/>
                </a:solidFill>
                <a:latin typeface="Calibri"/>
                <a:ea typeface="Calibri"/>
                <a:cs typeface="Calibri"/>
              </a:rPr>
              <a:t>1  Introduction</a:t>
            </a:r>
          </a:p>
          <a:p>
            <a:endParaRPr sz="2100" b="1">
              <a:solidFill>
                <a:srgbClr val="17365D"/>
              </a:solidFill>
              <a:latin typeface="Calibri"/>
              <a:ea typeface="Calibri"/>
              <a:cs typeface="Calibri"/>
            </a:endParaRPr>
          </a:p>
          <a:p>
            <a:pPr algn="l">
              <a:defRPr sz="2100" b="1">
                <a:solidFill>
                  <a:srgbClr val="17365D"/>
                </a:solidFill>
                <a:latin typeface="Calibri"/>
                <a:ea typeface="Calibri"/>
                <a:cs typeface="Calibri"/>
              </a:defRPr>
            </a:pPr>
            <a:r>
              <a:rPr sz="2100" b="1">
                <a:solidFill>
                  <a:srgbClr val="17365D"/>
                </a:solidFill>
                <a:latin typeface="Calibri"/>
                <a:ea typeface="Calibri"/>
                <a:cs typeface="Calibri"/>
              </a:rPr>
              <a:t>2  Literature Survey</a:t>
            </a:r>
          </a:p>
        </p:txBody>
      </p:sp>
      <p:sp>
        <p:nvSpPr>
          <p:cNvPr id="15" name="scope-boundary">
            <a:extLst>
              <a:ext uri="{FF2B5EF4-FFF2-40B4-BE49-F238E27FC236}">
                <a16:creationId xmlns:a16="http://schemas.microsoft.com/office/drawing/2014/main" id="{5145CC9B-FA44-4A65-9BB6-AFB23D8A3C6B}"/>
              </a:ext>
            </a:extLst>
          </p:cNvPr>
          <p:cNvSpPr>
            <a:spLocks noGrp="1"/>
          </p:cNvSpPr>
          <p:nvPr/>
        </p:nvSpPr>
        <p:spPr>
          <a:xfrm>
            <a:off x="7858125" y="3857625"/>
            <a:ext cx="3429000" cy="1190625"/>
          </a:xfrm>
          <a:prstGeom prst="roundRect">
            <a:avLst>
              <a:gd name="adj" fmla="val 6400"/>
            </a:avLst>
          </a:prstGeom>
          <a:solidFill>
            <a:srgbClr val="FFF0E5"/>
          </a:solidFill>
          <a:ln w="13335">
            <a:solidFill>
              <a:srgbClr val="D95F02"/>
            </a:solidFill>
            <a:prstDash val="solid"/>
          </a:ln>
        </p:spPr>
        <p:txBody>
          <a:bodyPr wrap="square" lIns="133350" tIns="95250" rIns="133350" bIns="95250" anchor="ctr">
            <a:noAutofit/>
          </a:bodyPr>
          <a:lstStyle/>
          <a:p>
            <a:pPr algn="ctr">
              <a:defRPr sz="1425" b="1">
                <a:solidFill>
                  <a:srgbClr val="D95F02"/>
                </a:solidFill>
                <a:latin typeface="Calibri"/>
                <a:ea typeface="Calibri"/>
                <a:cs typeface="Calibri"/>
              </a:defRPr>
            </a:pPr>
            <a:r>
              <a:rPr sz="1425" b="1">
                <a:solidFill>
                  <a:srgbClr val="D95F02"/>
                </a:solidFill>
                <a:latin typeface="Calibri"/>
                <a:ea typeface="Calibri"/>
                <a:cs typeface="Calibri"/>
              </a:rPr>
              <a:t>High-level base-paper context and proposed direction are included only to support these two sections.</a:t>
            </a:r>
          </a:p>
        </p:txBody>
      </p:sp>
      <p:sp>
        <p:nvSpPr>
          <p:cNvPr id="16" name="excluded">
            <a:extLst>
              <a:ext uri="{FF2B5EF4-FFF2-40B4-BE49-F238E27FC236}">
                <a16:creationId xmlns:a16="http://schemas.microsoft.com/office/drawing/2014/main" id="{7E68C4A1-9650-4B2F-B02E-6C80A95F466C}"/>
              </a:ext>
            </a:extLst>
          </p:cNvPr>
          <p:cNvSpPr>
            <a:spLocks noGrp="1"/>
          </p:cNvSpPr>
          <p:nvPr/>
        </p:nvSpPr>
        <p:spPr>
          <a:xfrm>
            <a:off x="7858125" y="5257800"/>
            <a:ext cx="3429000" cy="523875"/>
          </a:xfrm>
          <a:prstGeom prst="rect">
            <a:avLst/>
          </a:prstGeom>
          <a:noFill/>
          <a:ln w="0">
            <a:noFill/>
            <a:prstDash val="solid"/>
          </a:ln>
        </p:spPr>
        <p:txBody>
          <a:bodyPr wrap="square" lIns="47625" tIns="38100" rIns="47625" bIns="38100" anchor="ctr">
            <a:noAutofit/>
          </a:bodyPr>
          <a:lstStyle/>
          <a:p>
            <a:pPr algn="ctr">
              <a:defRPr sz="1275" b="1">
                <a:solidFill>
                  <a:srgbClr val="A61B1B"/>
                </a:solidFill>
                <a:latin typeface="Calibri"/>
                <a:ea typeface="Calibri"/>
                <a:cs typeface="Calibri"/>
              </a:defRPr>
            </a:pPr>
            <a:r>
              <a:rPr sz="1275" b="1">
                <a:solidFill>
                  <a:srgbClr val="A61B1B"/>
                </a:solidFill>
                <a:latin typeface="Calibri"/>
                <a:ea typeface="Calibri"/>
                <a:cs typeface="Calibri"/>
              </a:rPr>
              <a:t>Excluded: architecture • implementation • model results • website/testing</a:t>
            </a:r>
          </a:p>
        </p:txBody>
      </p:sp>
    </p:spTree>
    <p:extLst>
      <p:ext uri="{BB962C8B-B14F-4D97-AF65-F5344CB8AC3E}">
        <p14:creationId xmlns:p14="http://schemas.microsoft.com/office/powerpoint/2010/main" val="1607190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14641E-B445-40C4-B19B-36F589BFBECC}"/>
              </a:ext>
            </a:extLst>
          </p:cNvPr>
          <p:cNvSpPr>
            <a:spLocks noGrp="1"/>
          </p:cNvSpPr>
          <p:nvPr>
            <p:ph type="title"/>
          </p:nvPr>
        </p:nvSpPr>
        <p:spPr>
          <a:xfrm>
            <a:off x="609600" y="235309"/>
            <a:ext cx="10972800" cy="1143000"/>
          </a:xfrm>
        </p:spPr>
        <p:txBody>
          <a:bodyPr/>
          <a:lstStyle/>
          <a:p>
            <a:r>
              <a:t>Why X-Ray Astronomy Needs Polarization</a:t>
            </a:r>
          </a:p>
        </p:txBody>
      </p:sp>
      <p:sp>
        <p:nvSpPr>
          <p:cNvPr id="9" name="orange-rule-64-169">
            <a:extLst>
              <a:ext uri="{FF2B5EF4-FFF2-40B4-BE49-F238E27FC236}">
                <a16:creationId xmlns:a16="http://schemas.microsoft.com/office/drawing/2014/main" id="{05B05481-6B02-4D21-B44E-E083ACC92F68}"/>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7FB01115-00DB-4BDA-8931-1F29E074CF30}"/>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xray-context">
            <a:extLst>
              <a:ext uri="{FF2B5EF4-FFF2-40B4-BE49-F238E27FC236}">
                <a16:creationId xmlns:a16="http://schemas.microsoft.com/office/drawing/2014/main" id="{344334D8-C238-4ED7-B572-EA6F91E154BF}"/>
              </a:ext>
            </a:extLst>
          </p:cNvPr>
          <p:cNvSpPr>
            <a:spLocks noGrp="1"/>
          </p:cNvSpPr>
          <p:nvPr/>
        </p:nvSpPr>
        <p:spPr>
          <a:xfrm>
            <a:off x="742950" y="1847850"/>
            <a:ext cx="10572750" cy="552450"/>
          </a:xfrm>
          <a:prstGeom prst="rect">
            <a:avLst/>
          </a:prstGeom>
          <a:noFill/>
          <a:ln w="0">
            <a:noFill/>
            <a:prstDash val="solid"/>
          </a:ln>
        </p:spPr>
        <p:txBody>
          <a:bodyPr wrap="square" lIns="47625" tIns="38100" rIns="47625" bIns="38100" anchor="ctr">
            <a:noAutofit/>
          </a:bodyPr>
          <a:lstStyle/>
          <a:p>
            <a:pPr algn="ctr">
              <a:defRPr sz="1800" b="1">
                <a:solidFill>
                  <a:srgbClr val="17365D"/>
                </a:solidFill>
                <a:latin typeface="Calibri"/>
                <a:ea typeface="Calibri"/>
                <a:cs typeface="Calibri"/>
              </a:defRPr>
            </a:pPr>
            <a:r>
              <a:rPr sz="1800" b="1">
                <a:solidFill>
                  <a:srgbClr val="17365D"/>
                </a:solidFill>
                <a:latin typeface="Calibri"/>
                <a:ea typeface="Calibri"/>
                <a:cs typeface="Calibri"/>
              </a:rPr>
              <a:t>Compact objects, accretion flows, shocks and hot plasmas release large amounts of energy in X-rays.</a:t>
            </a:r>
          </a:p>
        </p:txBody>
      </p:sp>
      <p:sp>
        <p:nvSpPr>
          <p:cNvPr id="12" name="measure-0">
            <a:extLst>
              <a:ext uri="{FF2B5EF4-FFF2-40B4-BE49-F238E27FC236}">
                <a16:creationId xmlns:a16="http://schemas.microsoft.com/office/drawing/2014/main" id="{79C9E7D5-ABCA-41E2-9601-2C3A5BB3A3A8}"/>
              </a:ext>
            </a:extLst>
          </p:cNvPr>
          <p:cNvSpPr>
            <a:spLocks noGrp="1"/>
          </p:cNvSpPr>
          <p:nvPr/>
        </p:nvSpPr>
        <p:spPr>
          <a:xfrm>
            <a:off x="742950" y="2647950"/>
            <a:ext cx="3190875" cy="1428750"/>
          </a:xfrm>
          <a:prstGeom prst="roundRect">
            <a:avLst>
              <a:gd name="adj" fmla="val 5333"/>
            </a:avLst>
          </a:prstGeom>
          <a:solidFill>
            <a:srgbClr val="E7F3F3"/>
          </a:solidFill>
          <a:ln w="11430">
            <a:solidFill>
              <a:srgbClr val="16858A"/>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IMAGING</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Where is the emission?
Spatial structure and source location</a:t>
            </a:r>
          </a:p>
        </p:txBody>
      </p:sp>
      <p:sp>
        <p:nvSpPr>
          <p:cNvPr id="13" name="measure-1">
            <a:extLst>
              <a:ext uri="{FF2B5EF4-FFF2-40B4-BE49-F238E27FC236}">
                <a16:creationId xmlns:a16="http://schemas.microsoft.com/office/drawing/2014/main" id="{A5ED5ED8-F8E8-4532-9677-01B6D82E2BCB}"/>
              </a:ext>
            </a:extLst>
          </p:cNvPr>
          <p:cNvSpPr>
            <a:spLocks noGrp="1"/>
          </p:cNvSpPr>
          <p:nvPr/>
        </p:nvSpPr>
        <p:spPr>
          <a:xfrm>
            <a:off x="4410075" y="2647950"/>
            <a:ext cx="3190875" cy="1428750"/>
          </a:xfrm>
          <a:prstGeom prst="roundRect">
            <a:avLst>
              <a:gd name="adj" fmla="val 5333"/>
            </a:avLst>
          </a:prstGeom>
          <a:solidFill>
            <a:srgbClr val="FFF0E5"/>
          </a:solidFill>
          <a:ln w="11430">
            <a:solidFill>
              <a:srgbClr val="D95F02"/>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SPECTROSCOPY</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What energies are present?
Composition, temperature and continuum shape</a:t>
            </a:r>
          </a:p>
        </p:txBody>
      </p:sp>
      <p:sp>
        <p:nvSpPr>
          <p:cNvPr id="14" name="measure-2">
            <a:extLst>
              <a:ext uri="{FF2B5EF4-FFF2-40B4-BE49-F238E27FC236}">
                <a16:creationId xmlns:a16="http://schemas.microsoft.com/office/drawing/2014/main" id="{2D26C314-C2A2-404E-9FD2-9DD7D007C0BB}"/>
              </a:ext>
            </a:extLst>
          </p:cNvPr>
          <p:cNvSpPr>
            <a:spLocks noGrp="1"/>
          </p:cNvSpPr>
          <p:nvPr/>
        </p:nvSpPr>
        <p:spPr>
          <a:xfrm>
            <a:off x="8077200" y="2647950"/>
            <a:ext cx="3190875" cy="1428750"/>
          </a:xfrm>
          <a:prstGeom prst="roundRect">
            <a:avLst>
              <a:gd name="adj" fmla="val 5333"/>
            </a:avLst>
          </a:prstGeom>
          <a:solidFill>
            <a:srgbClr val="E7F3F3"/>
          </a:solidFill>
          <a:ln w="11430">
            <a:solidFill>
              <a:srgbClr val="16858A"/>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TIMING</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How does it change?
Variability, periodicity and transient behaviour</a:t>
            </a:r>
          </a:p>
        </p:txBody>
      </p:sp>
      <p:sp>
        <p:nvSpPr>
          <p:cNvPr id="15" name="down-arrow">
            <a:extLst>
              <a:ext uri="{FF2B5EF4-FFF2-40B4-BE49-F238E27FC236}">
                <a16:creationId xmlns:a16="http://schemas.microsoft.com/office/drawing/2014/main" id="{7D1964EE-746B-41C9-B05A-23FDA02FE13F}"/>
              </a:ext>
            </a:extLst>
          </p:cNvPr>
          <p:cNvSpPr>
            <a:spLocks noGrp="1"/>
          </p:cNvSpPr>
          <p:nvPr/>
        </p:nvSpPr>
        <p:spPr>
          <a:xfrm>
            <a:off x="5619750" y="4067175"/>
            <a:ext cx="952500" cy="523875"/>
          </a:xfrm>
          <a:prstGeom prst="rect">
            <a:avLst/>
          </a:prstGeom>
          <a:noFill/>
          <a:ln w="0">
            <a:noFill/>
            <a:prstDash val="solid"/>
          </a:ln>
        </p:spPr>
        <p:txBody>
          <a:bodyPr wrap="square" lIns="47625" tIns="38100" rIns="47625" bIns="38100" anchor="t">
            <a:noAutofit/>
          </a:bodyPr>
          <a:lstStyle/>
          <a:p>
            <a:pPr algn="ctr">
              <a:defRPr sz="2850" b="1">
                <a:solidFill>
                  <a:srgbClr val="D95F02"/>
                </a:solidFill>
                <a:latin typeface="Calibri"/>
                <a:ea typeface="Calibri"/>
                <a:cs typeface="Calibri"/>
              </a:defRPr>
            </a:pPr>
            <a:r>
              <a:rPr sz="2850" b="1">
                <a:solidFill>
                  <a:srgbClr val="D95F02"/>
                </a:solidFill>
                <a:latin typeface="Calibri"/>
                <a:ea typeface="Calibri"/>
                <a:cs typeface="Calibri"/>
              </a:rPr>
              <a:t>↓</a:t>
            </a:r>
          </a:p>
        </p:txBody>
      </p:sp>
      <p:sp>
        <p:nvSpPr>
          <p:cNvPr id="16" name="polarization-adds">
            <a:extLst>
              <a:ext uri="{FF2B5EF4-FFF2-40B4-BE49-F238E27FC236}">
                <a16:creationId xmlns:a16="http://schemas.microsoft.com/office/drawing/2014/main" id="{135A31F7-3DD7-446D-9E0C-5F6AC163A27E}"/>
              </a:ext>
            </a:extLst>
          </p:cNvPr>
          <p:cNvSpPr>
            <a:spLocks noGrp="1"/>
          </p:cNvSpPr>
          <p:nvPr/>
        </p:nvSpPr>
        <p:spPr>
          <a:xfrm>
            <a:off x="2095500" y="4667250"/>
            <a:ext cx="8001000" cy="1047750"/>
          </a:xfrm>
          <a:prstGeom prst="roundRect">
            <a:avLst>
              <a:gd name="adj" fmla="val 7273"/>
            </a:avLst>
          </a:prstGeom>
          <a:solidFill>
            <a:srgbClr val="EEF4FA"/>
          </a:solidFill>
          <a:ln w="13335">
            <a:solidFill>
              <a:srgbClr val="17365D"/>
            </a:solidFill>
            <a:prstDash val="solid"/>
          </a:ln>
        </p:spPr>
        <p:txBody>
          <a:bodyPr wrap="square" lIns="133350" tIns="95250" rIns="133350" bIns="95250" anchor="ctr">
            <a:noAutofit/>
          </a:bodyPr>
          <a:lstStyle/>
          <a:p>
            <a:pPr algn="ctr">
              <a:defRPr sz="1650" b="1">
                <a:solidFill>
                  <a:srgbClr val="17365D"/>
                </a:solidFill>
                <a:latin typeface="Calibri"/>
                <a:ea typeface="Calibri"/>
                <a:cs typeface="Calibri"/>
              </a:defRPr>
            </a:pPr>
            <a:r>
              <a:rPr sz="1650" b="1">
                <a:solidFill>
                  <a:srgbClr val="17365D"/>
                </a:solidFill>
                <a:latin typeface="Calibri"/>
                <a:ea typeface="Calibri"/>
                <a:cs typeface="Calibri"/>
              </a:rPr>
              <a:t>These observables can leave source geometry degenerate. Polarization adds orientation, magnetic-field order and scattering geometry.</a:t>
            </a:r>
          </a:p>
        </p:txBody>
      </p:sp>
    </p:spTree>
    <p:extLst>
      <p:ext uri="{BB962C8B-B14F-4D97-AF65-F5344CB8AC3E}">
        <p14:creationId xmlns:p14="http://schemas.microsoft.com/office/powerpoint/2010/main" val="2665908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14641E-B445-40C4-B19B-36F589BFBECC}"/>
              </a:ext>
            </a:extLst>
          </p:cNvPr>
          <p:cNvSpPr>
            <a:spLocks noGrp="1"/>
          </p:cNvSpPr>
          <p:nvPr>
            <p:ph type="title"/>
          </p:nvPr>
        </p:nvSpPr>
        <p:spPr>
          <a:xfrm>
            <a:off x="609600" y="235309"/>
            <a:ext cx="10972800" cy="1143000"/>
          </a:xfrm>
        </p:spPr>
        <p:txBody>
          <a:bodyPr/>
          <a:lstStyle/>
          <a:p>
            <a:r>
              <a:t>What X-Ray Polarization Measures</a:t>
            </a:r>
          </a:p>
        </p:txBody>
      </p:sp>
      <p:sp>
        <p:nvSpPr>
          <p:cNvPr id="9" name="orange-rule-64-169">
            <a:extLst>
              <a:ext uri="{FF2B5EF4-FFF2-40B4-BE49-F238E27FC236}">
                <a16:creationId xmlns:a16="http://schemas.microsoft.com/office/drawing/2014/main" id="{77137AC7-6D76-4FF8-82ED-FFCFD57943D2}"/>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BC1822C6-D8B0-4D4D-972E-58FD96848F7A}"/>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Core concepts">
            <a:extLst>
              <a:ext uri="{FF2B5EF4-FFF2-40B4-BE49-F238E27FC236}">
                <a16:creationId xmlns:a16="http://schemas.microsoft.com/office/drawing/2014/main" id="{27C27363-D513-47A4-A6D7-1987FED50D8A}"/>
              </a:ext>
            </a:extLst>
          </p:cNvPr>
          <p:cNvSpPr>
            <a:spLocks noGrp="1"/>
          </p:cNvSpPr>
          <p:nvPr/>
        </p:nvSpPr>
        <p:spPr>
          <a:xfrm>
            <a:off x="685800" y="1857375"/>
            <a:ext cx="409575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CORE CONCEPTS</a:t>
            </a:r>
          </a:p>
        </p:txBody>
      </p:sp>
      <p:sp>
        <p:nvSpPr>
          <p:cNvPr id="12" name="pol-definitions">
            <a:extLst>
              <a:ext uri="{FF2B5EF4-FFF2-40B4-BE49-F238E27FC236}">
                <a16:creationId xmlns:a16="http://schemas.microsoft.com/office/drawing/2014/main" id="{1CC67932-E2DE-40C9-9FBE-FF8FFC1A0E34}"/>
              </a:ext>
            </a:extLst>
          </p:cNvPr>
          <p:cNvSpPr>
            <a:spLocks noGrp="1"/>
          </p:cNvSpPr>
          <p:nvPr/>
        </p:nvSpPr>
        <p:spPr>
          <a:xfrm>
            <a:off x="685800" y="2190750"/>
            <a:ext cx="4476750" cy="2857500"/>
          </a:xfrm>
          <a:prstGeom prst="rect">
            <a:avLst/>
          </a:prstGeom>
          <a:noFill/>
          <a:ln w="0">
            <a:noFill/>
            <a:prstDash val="solid"/>
          </a:ln>
        </p:spPr>
        <p:txBody>
          <a:bodyPr wrap="square" lIns="47625" tIns="38100" rIns="47625" bIns="38100" anchor="t">
            <a:noAutofit/>
          </a:bodyPr>
          <a:lstStyle/>
          <a:p>
            <a:pPr algn="l">
              <a:defRPr sz="1500" b="0">
                <a:solidFill>
                  <a:srgbClr val="17212B"/>
                </a:solidFill>
                <a:latin typeface="Calibri"/>
                <a:ea typeface="Calibri"/>
                <a:cs typeface="Calibri"/>
              </a:defRPr>
            </a:pPr>
            <a:r>
              <a:rPr sz="1500" b="0">
                <a:solidFill>
                  <a:srgbClr val="17212B"/>
                </a:solidFill>
                <a:latin typeface="Calibri"/>
                <a:ea typeface="Calibri"/>
                <a:cs typeface="Calibri"/>
              </a:rPr>
              <a:t>Linear polarization</a:t>
            </a:r>
          </a:p>
          <a:p>
            <a:pPr algn="l">
              <a:defRPr sz="1500" b="0">
                <a:solidFill>
                  <a:srgbClr val="17212B"/>
                </a:solidFill>
                <a:latin typeface="Calibri"/>
                <a:ea typeface="Calibri"/>
                <a:cs typeface="Calibri"/>
              </a:defRPr>
            </a:pPr>
            <a:r>
              <a:rPr sz="1500" b="0">
                <a:solidFill>
                  <a:srgbClr val="17212B"/>
                </a:solidFill>
                <a:latin typeface="Calibri"/>
                <a:ea typeface="Calibri"/>
                <a:cs typeface="Calibri"/>
              </a:rPr>
              <a:t>Preferred orientation of the electric-field oscillation.</a:t>
            </a:r>
          </a:p>
          <a:p>
            <a:endParaRPr sz="1500" b="0">
              <a:solidFill>
                <a:srgbClr val="17212B"/>
              </a:solidFill>
              <a:latin typeface="Calibri"/>
              <a:ea typeface="Calibri"/>
              <a:cs typeface="Calibri"/>
            </a:endParaRPr>
          </a:p>
          <a:p>
            <a:pPr algn="l">
              <a:defRPr sz="1500" b="0">
                <a:solidFill>
                  <a:srgbClr val="17212B"/>
                </a:solidFill>
                <a:latin typeface="Calibri"/>
                <a:ea typeface="Calibri"/>
                <a:cs typeface="Calibri"/>
              </a:defRPr>
            </a:pPr>
            <a:r>
              <a:rPr sz="1500" b="0">
                <a:solidFill>
                  <a:srgbClr val="17212B"/>
                </a:solidFill>
                <a:latin typeface="Calibri"/>
                <a:ea typeface="Calibri"/>
                <a:cs typeface="Calibri"/>
              </a:rPr>
              <a:t>Polarization degree (PD)</a:t>
            </a:r>
          </a:p>
          <a:p>
            <a:pPr algn="l">
              <a:defRPr sz="1500" b="0">
                <a:solidFill>
                  <a:srgbClr val="17212B"/>
                </a:solidFill>
                <a:latin typeface="Calibri"/>
                <a:ea typeface="Calibri"/>
                <a:cs typeface="Calibri"/>
              </a:defRPr>
            </a:pPr>
            <a:r>
              <a:rPr sz="1500" b="0">
                <a:solidFill>
                  <a:srgbClr val="17212B"/>
                </a:solidFill>
                <a:latin typeface="Calibri"/>
                <a:ea typeface="Calibri"/>
                <a:cs typeface="Calibri"/>
              </a:rPr>
              <a:t>Fraction of the detected signal associated with linear polarization.</a:t>
            </a:r>
          </a:p>
          <a:p>
            <a:endParaRPr sz="1500" b="0">
              <a:solidFill>
                <a:srgbClr val="17212B"/>
              </a:solidFill>
              <a:latin typeface="Calibri"/>
              <a:ea typeface="Calibri"/>
              <a:cs typeface="Calibri"/>
            </a:endParaRPr>
          </a:p>
          <a:p>
            <a:pPr algn="l">
              <a:defRPr sz="1500" b="0">
                <a:solidFill>
                  <a:srgbClr val="17212B"/>
                </a:solidFill>
                <a:latin typeface="Calibri"/>
                <a:ea typeface="Calibri"/>
                <a:cs typeface="Calibri"/>
              </a:defRPr>
            </a:pPr>
            <a:r>
              <a:rPr sz="1500" b="0">
                <a:solidFill>
                  <a:srgbClr val="17212B"/>
                </a:solidFill>
                <a:latin typeface="Calibri"/>
                <a:ea typeface="Calibri"/>
                <a:cs typeface="Calibri"/>
              </a:rPr>
              <a:t>Polarization angle (PA)</a:t>
            </a:r>
          </a:p>
          <a:p>
            <a:pPr algn="l">
              <a:defRPr sz="1500" b="0">
                <a:solidFill>
                  <a:srgbClr val="17212B"/>
                </a:solidFill>
                <a:latin typeface="Calibri"/>
                <a:ea typeface="Calibri"/>
                <a:cs typeface="Calibri"/>
              </a:defRPr>
            </a:pPr>
            <a:r>
              <a:rPr sz="1500" b="0">
                <a:solidFill>
                  <a:srgbClr val="17212B"/>
                </a:solidFill>
                <a:latin typeface="Calibri"/>
                <a:ea typeface="Calibri"/>
                <a:cs typeface="Calibri"/>
              </a:rPr>
              <a:t>Orientation of the polarization direction, defined only after instrument and sky-coordinate conventions are applied.</a:t>
            </a:r>
          </a:p>
        </p:txBody>
      </p:sp>
      <p:sp>
        <p:nvSpPr>
          <p:cNvPr id="13" name="section-Azimuthal modulation">
            <a:extLst>
              <a:ext uri="{FF2B5EF4-FFF2-40B4-BE49-F238E27FC236}">
                <a16:creationId xmlns:a16="http://schemas.microsoft.com/office/drawing/2014/main" id="{75E8B548-C0FB-4F69-AF99-59F0D943DF99}"/>
              </a:ext>
            </a:extLst>
          </p:cNvPr>
          <p:cNvSpPr>
            <a:spLocks noGrp="1"/>
          </p:cNvSpPr>
          <p:nvPr/>
        </p:nvSpPr>
        <p:spPr>
          <a:xfrm>
            <a:off x="6048375" y="1857375"/>
            <a:ext cx="438150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AZIMUTHAL MODULATION</a:t>
            </a:r>
          </a:p>
        </p:txBody>
      </p:sp>
      <p:sp>
        <p:nvSpPr>
          <p:cNvPr id="14" name="mod-eq">
            <a:extLst>
              <a:ext uri="{FF2B5EF4-FFF2-40B4-BE49-F238E27FC236}">
                <a16:creationId xmlns:a16="http://schemas.microsoft.com/office/drawing/2014/main" id="{F7D73FBB-BD60-44BC-8CC4-7E37DE4DCE37}"/>
              </a:ext>
            </a:extLst>
          </p:cNvPr>
          <p:cNvSpPr>
            <a:spLocks noGrp="1"/>
          </p:cNvSpPr>
          <p:nvPr/>
        </p:nvSpPr>
        <p:spPr>
          <a:xfrm>
            <a:off x="6191250" y="2152650"/>
            <a:ext cx="4762500" cy="476250"/>
          </a:xfrm>
          <a:prstGeom prst="rect">
            <a:avLst/>
          </a:prstGeom>
          <a:noFill/>
          <a:ln w="0">
            <a:noFill/>
            <a:prstDash val="solid"/>
          </a:ln>
        </p:spPr>
        <p:txBody>
          <a:bodyPr wrap="square" lIns="47625" tIns="38100" rIns="47625" bIns="38100" anchor="ctr">
            <a:noAutofit/>
          </a:bodyPr>
          <a:lstStyle/>
          <a:p>
            <a:pPr algn="ctr">
              <a:defRPr sz="1950" b="1">
                <a:solidFill>
                  <a:srgbClr val="17365D"/>
                </a:solidFill>
                <a:latin typeface="Calibri"/>
                <a:ea typeface="Calibri"/>
                <a:cs typeface="Calibri"/>
              </a:defRPr>
            </a:pPr>
            <a:r>
              <a:rPr sz="1950" b="1">
                <a:solidFill>
                  <a:srgbClr val="17365D"/>
                </a:solidFill>
                <a:latin typeface="Calibri"/>
                <a:ea typeface="Calibri"/>
                <a:cs typeface="Calibri"/>
              </a:rPr>
              <a:t>N(φ) = A [1 + μ cos 2(φ − φ₀)]</a:t>
            </a:r>
          </a:p>
        </p:txBody>
      </p:sp>
      <p:sp>
        <p:nvSpPr>
          <p:cNvPr id="15" name="axis-x">
            <a:extLst>
              <a:ext uri="{FF2B5EF4-FFF2-40B4-BE49-F238E27FC236}">
                <a16:creationId xmlns:a16="http://schemas.microsoft.com/office/drawing/2014/main" id="{36355167-F136-4103-BFD2-808651874AA2}"/>
              </a:ext>
            </a:extLst>
          </p:cNvPr>
          <p:cNvSpPr>
            <a:spLocks noGrp="1"/>
          </p:cNvSpPr>
          <p:nvPr/>
        </p:nvSpPr>
        <p:spPr>
          <a:xfrm>
            <a:off x="6429375" y="4362450"/>
            <a:ext cx="4191000" cy="19050"/>
          </a:xfrm>
          <a:prstGeom prst="rect">
            <a:avLst/>
          </a:prstGeom>
          <a:solidFill>
            <a:srgbClr val="52606D"/>
          </a:solidFill>
          <a:ln w="0">
            <a:noFill/>
            <a:prstDash val="solid"/>
          </a:ln>
        </p:spPr>
      </p:sp>
      <p:sp>
        <p:nvSpPr>
          <p:cNvPr id="16" name="axis-y">
            <a:extLst>
              <a:ext uri="{FF2B5EF4-FFF2-40B4-BE49-F238E27FC236}">
                <a16:creationId xmlns:a16="http://schemas.microsoft.com/office/drawing/2014/main" id="{89D49279-0B42-47C2-9255-793DAC5763B6}"/>
              </a:ext>
            </a:extLst>
          </p:cNvPr>
          <p:cNvSpPr>
            <a:spLocks noGrp="1"/>
          </p:cNvSpPr>
          <p:nvPr/>
        </p:nvSpPr>
        <p:spPr>
          <a:xfrm>
            <a:off x="6429375" y="2781300"/>
            <a:ext cx="19050" cy="1600200"/>
          </a:xfrm>
          <a:prstGeom prst="rect">
            <a:avLst/>
          </a:prstGeom>
          <a:solidFill>
            <a:srgbClr val="52606D"/>
          </a:solidFill>
          <a:ln w="0">
            <a:noFill/>
            <a:prstDash val="solid"/>
          </a:ln>
        </p:spPr>
      </p:sp>
      <p:sp>
        <p:nvSpPr>
          <p:cNvPr id="17" name="mod-bar-0">
            <a:extLst>
              <a:ext uri="{FF2B5EF4-FFF2-40B4-BE49-F238E27FC236}">
                <a16:creationId xmlns:a16="http://schemas.microsoft.com/office/drawing/2014/main" id="{68D5C3B3-9833-4B8B-B088-ACD2467E020A}"/>
              </a:ext>
            </a:extLst>
          </p:cNvPr>
          <p:cNvSpPr>
            <a:spLocks noGrp="1"/>
          </p:cNvSpPr>
          <p:nvPr/>
        </p:nvSpPr>
        <p:spPr>
          <a:xfrm>
            <a:off x="6600825" y="3531394"/>
            <a:ext cx="200025" cy="831056"/>
          </a:xfrm>
          <a:prstGeom prst="rect">
            <a:avLst/>
          </a:prstGeom>
          <a:solidFill>
            <a:srgbClr val="16858A"/>
          </a:solidFill>
          <a:ln w="0">
            <a:noFill/>
            <a:prstDash val="solid"/>
          </a:ln>
        </p:spPr>
      </p:sp>
      <p:sp>
        <p:nvSpPr>
          <p:cNvPr id="18" name="mod-bar-1">
            <a:extLst>
              <a:ext uri="{FF2B5EF4-FFF2-40B4-BE49-F238E27FC236}">
                <a16:creationId xmlns:a16="http://schemas.microsoft.com/office/drawing/2014/main" id="{FD0A1A39-58B9-40D1-B6BB-8FC9386E9859}"/>
              </a:ext>
            </a:extLst>
          </p:cNvPr>
          <p:cNvSpPr>
            <a:spLocks noGrp="1"/>
          </p:cNvSpPr>
          <p:nvPr/>
        </p:nvSpPr>
        <p:spPr>
          <a:xfrm>
            <a:off x="6924675" y="3281363"/>
            <a:ext cx="200025" cy="1081088"/>
          </a:xfrm>
          <a:prstGeom prst="rect">
            <a:avLst/>
          </a:prstGeom>
          <a:solidFill>
            <a:srgbClr val="D95F02"/>
          </a:solidFill>
          <a:ln w="0">
            <a:noFill/>
            <a:prstDash val="solid"/>
          </a:ln>
        </p:spPr>
      </p:sp>
      <p:sp>
        <p:nvSpPr>
          <p:cNvPr id="19" name="mod-bar-2">
            <a:extLst>
              <a:ext uri="{FF2B5EF4-FFF2-40B4-BE49-F238E27FC236}">
                <a16:creationId xmlns:a16="http://schemas.microsoft.com/office/drawing/2014/main" id="{88A557A3-12E7-46A0-B23D-D2B5D45D7FD9}"/>
              </a:ext>
            </a:extLst>
          </p:cNvPr>
          <p:cNvSpPr>
            <a:spLocks noGrp="1"/>
          </p:cNvSpPr>
          <p:nvPr/>
        </p:nvSpPr>
        <p:spPr>
          <a:xfrm>
            <a:off x="7248525" y="3061335"/>
            <a:ext cx="200025" cy="1301115"/>
          </a:xfrm>
          <a:prstGeom prst="rect">
            <a:avLst/>
          </a:prstGeom>
          <a:solidFill>
            <a:srgbClr val="16858A"/>
          </a:solidFill>
          <a:ln w="0">
            <a:noFill/>
            <a:prstDash val="solid"/>
          </a:ln>
        </p:spPr>
      </p:sp>
      <p:sp>
        <p:nvSpPr>
          <p:cNvPr id="20" name="mod-bar-3">
            <a:extLst>
              <a:ext uri="{FF2B5EF4-FFF2-40B4-BE49-F238E27FC236}">
                <a16:creationId xmlns:a16="http://schemas.microsoft.com/office/drawing/2014/main" id="{3A1A0A50-CD47-45EB-A81D-C91E7CD19809}"/>
              </a:ext>
            </a:extLst>
          </p:cNvPr>
          <p:cNvSpPr>
            <a:spLocks noGrp="1"/>
          </p:cNvSpPr>
          <p:nvPr/>
        </p:nvSpPr>
        <p:spPr>
          <a:xfrm>
            <a:off x="7572375" y="2981325"/>
            <a:ext cx="200025" cy="1381125"/>
          </a:xfrm>
          <a:prstGeom prst="rect">
            <a:avLst/>
          </a:prstGeom>
          <a:solidFill>
            <a:srgbClr val="D95F02"/>
          </a:solidFill>
          <a:ln w="0">
            <a:noFill/>
            <a:prstDash val="solid"/>
          </a:ln>
        </p:spPr>
      </p:sp>
      <p:sp>
        <p:nvSpPr>
          <p:cNvPr id="21" name="mod-bar-4">
            <a:extLst>
              <a:ext uri="{FF2B5EF4-FFF2-40B4-BE49-F238E27FC236}">
                <a16:creationId xmlns:a16="http://schemas.microsoft.com/office/drawing/2014/main" id="{BBEA03B0-5CCE-44F8-B0F7-87DEE0D3D2DE}"/>
              </a:ext>
            </a:extLst>
          </p:cNvPr>
          <p:cNvSpPr>
            <a:spLocks noGrp="1"/>
          </p:cNvSpPr>
          <p:nvPr/>
        </p:nvSpPr>
        <p:spPr>
          <a:xfrm>
            <a:off x="7896225" y="3081338"/>
            <a:ext cx="200025" cy="1281113"/>
          </a:xfrm>
          <a:prstGeom prst="rect">
            <a:avLst/>
          </a:prstGeom>
          <a:solidFill>
            <a:srgbClr val="16858A"/>
          </a:solidFill>
          <a:ln w="0">
            <a:noFill/>
            <a:prstDash val="solid"/>
          </a:ln>
        </p:spPr>
      </p:sp>
      <p:sp>
        <p:nvSpPr>
          <p:cNvPr id="22" name="mod-bar-5">
            <a:extLst>
              <a:ext uri="{FF2B5EF4-FFF2-40B4-BE49-F238E27FC236}">
                <a16:creationId xmlns:a16="http://schemas.microsoft.com/office/drawing/2014/main" id="{7758E806-BFBD-4F98-A8C3-1240F49E0BD0}"/>
              </a:ext>
            </a:extLst>
          </p:cNvPr>
          <p:cNvSpPr>
            <a:spLocks noGrp="1"/>
          </p:cNvSpPr>
          <p:nvPr/>
        </p:nvSpPr>
        <p:spPr>
          <a:xfrm>
            <a:off x="8220075" y="3321368"/>
            <a:ext cx="200025" cy="1041083"/>
          </a:xfrm>
          <a:prstGeom prst="rect">
            <a:avLst/>
          </a:prstGeom>
          <a:solidFill>
            <a:srgbClr val="D95F02"/>
          </a:solidFill>
          <a:ln w="0">
            <a:noFill/>
            <a:prstDash val="solid"/>
          </a:ln>
        </p:spPr>
      </p:sp>
      <p:sp>
        <p:nvSpPr>
          <p:cNvPr id="23" name="mod-bar-6">
            <a:extLst>
              <a:ext uri="{FF2B5EF4-FFF2-40B4-BE49-F238E27FC236}">
                <a16:creationId xmlns:a16="http://schemas.microsoft.com/office/drawing/2014/main" id="{A8A3E4EA-E6F5-4CA6-8AD7-B82DACC7DCFB}"/>
              </a:ext>
            </a:extLst>
          </p:cNvPr>
          <p:cNvSpPr>
            <a:spLocks noGrp="1"/>
          </p:cNvSpPr>
          <p:nvPr/>
        </p:nvSpPr>
        <p:spPr>
          <a:xfrm>
            <a:off x="8543925" y="3561398"/>
            <a:ext cx="200025" cy="801053"/>
          </a:xfrm>
          <a:prstGeom prst="rect">
            <a:avLst/>
          </a:prstGeom>
          <a:solidFill>
            <a:srgbClr val="16858A"/>
          </a:solidFill>
          <a:ln w="0">
            <a:noFill/>
            <a:prstDash val="solid"/>
          </a:ln>
        </p:spPr>
      </p:sp>
      <p:sp>
        <p:nvSpPr>
          <p:cNvPr id="24" name="mod-bar-7">
            <a:extLst>
              <a:ext uri="{FF2B5EF4-FFF2-40B4-BE49-F238E27FC236}">
                <a16:creationId xmlns:a16="http://schemas.microsoft.com/office/drawing/2014/main" id="{3E357B3E-0A01-468A-B6A2-88966F49F5AE}"/>
              </a:ext>
            </a:extLst>
          </p:cNvPr>
          <p:cNvSpPr>
            <a:spLocks noGrp="1"/>
          </p:cNvSpPr>
          <p:nvPr/>
        </p:nvSpPr>
        <p:spPr>
          <a:xfrm>
            <a:off x="8867775" y="3731419"/>
            <a:ext cx="200025" cy="631031"/>
          </a:xfrm>
          <a:prstGeom prst="rect">
            <a:avLst/>
          </a:prstGeom>
          <a:solidFill>
            <a:srgbClr val="D95F02"/>
          </a:solidFill>
          <a:ln w="0">
            <a:noFill/>
            <a:prstDash val="solid"/>
          </a:ln>
        </p:spPr>
      </p:sp>
      <p:sp>
        <p:nvSpPr>
          <p:cNvPr id="25" name="mod-bar-8">
            <a:extLst>
              <a:ext uri="{FF2B5EF4-FFF2-40B4-BE49-F238E27FC236}">
                <a16:creationId xmlns:a16="http://schemas.microsoft.com/office/drawing/2014/main" id="{F03A4850-17E5-41E4-959A-4403D34F2143}"/>
              </a:ext>
            </a:extLst>
          </p:cNvPr>
          <p:cNvSpPr>
            <a:spLocks noGrp="1"/>
          </p:cNvSpPr>
          <p:nvPr/>
        </p:nvSpPr>
        <p:spPr>
          <a:xfrm>
            <a:off x="9191625" y="3621405"/>
            <a:ext cx="200025" cy="741045"/>
          </a:xfrm>
          <a:prstGeom prst="rect">
            <a:avLst/>
          </a:prstGeom>
          <a:solidFill>
            <a:srgbClr val="16858A"/>
          </a:solidFill>
          <a:ln w="0">
            <a:noFill/>
            <a:prstDash val="solid"/>
          </a:ln>
        </p:spPr>
      </p:sp>
      <p:sp>
        <p:nvSpPr>
          <p:cNvPr id="26" name="mod-bar-9">
            <a:extLst>
              <a:ext uri="{FF2B5EF4-FFF2-40B4-BE49-F238E27FC236}">
                <a16:creationId xmlns:a16="http://schemas.microsoft.com/office/drawing/2014/main" id="{8D4A37AA-4FE9-4FAC-8D99-B50D12023347}"/>
              </a:ext>
            </a:extLst>
          </p:cNvPr>
          <p:cNvSpPr>
            <a:spLocks noGrp="1"/>
          </p:cNvSpPr>
          <p:nvPr/>
        </p:nvSpPr>
        <p:spPr>
          <a:xfrm>
            <a:off x="9515475" y="3371374"/>
            <a:ext cx="200025" cy="991076"/>
          </a:xfrm>
          <a:prstGeom prst="rect">
            <a:avLst/>
          </a:prstGeom>
          <a:solidFill>
            <a:srgbClr val="D95F02"/>
          </a:solidFill>
          <a:ln w="0">
            <a:noFill/>
            <a:prstDash val="solid"/>
          </a:ln>
        </p:spPr>
      </p:sp>
      <p:sp>
        <p:nvSpPr>
          <p:cNvPr id="27" name="mod-bar-10">
            <a:extLst>
              <a:ext uri="{FF2B5EF4-FFF2-40B4-BE49-F238E27FC236}">
                <a16:creationId xmlns:a16="http://schemas.microsoft.com/office/drawing/2014/main" id="{6AF0541E-5A5E-476F-8BC7-4B63721AD976}"/>
              </a:ext>
            </a:extLst>
          </p:cNvPr>
          <p:cNvSpPr>
            <a:spLocks noGrp="1"/>
          </p:cNvSpPr>
          <p:nvPr/>
        </p:nvSpPr>
        <p:spPr>
          <a:xfrm>
            <a:off x="9839325" y="3111341"/>
            <a:ext cx="200025" cy="1251109"/>
          </a:xfrm>
          <a:prstGeom prst="rect">
            <a:avLst/>
          </a:prstGeom>
          <a:solidFill>
            <a:srgbClr val="16858A"/>
          </a:solidFill>
          <a:ln w="0">
            <a:noFill/>
            <a:prstDash val="solid"/>
          </a:ln>
        </p:spPr>
      </p:sp>
      <p:sp>
        <p:nvSpPr>
          <p:cNvPr id="28" name="mod-bar-11">
            <a:extLst>
              <a:ext uri="{FF2B5EF4-FFF2-40B4-BE49-F238E27FC236}">
                <a16:creationId xmlns:a16="http://schemas.microsoft.com/office/drawing/2014/main" id="{E5E55A3C-A154-4B46-B386-DCB25B9EB356}"/>
              </a:ext>
            </a:extLst>
          </p:cNvPr>
          <p:cNvSpPr>
            <a:spLocks noGrp="1"/>
          </p:cNvSpPr>
          <p:nvPr/>
        </p:nvSpPr>
        <p:spPr>
          <a:xfrm>
            <a:off x="10163175" y="3001328"/>
            <a:ext cx="200025" cy="1361122"/>
          </a:xfrm>
          <a:prstGeom prst="rect">
            <a:avLst/>
          </a:prstGeom>
          <a:solidFill>
            <a:srgbClr val="D95F02"/>
          </a:solidFill>
          <a:ln w="0">
            <a:noFill/>
            <a:prstDash val="solid"/>
          </a:ln>
        </p:spPr>
      </p:sp>
      <p:sp>
        <p:nvSpPr>
          <p:cNvPr id="29" name="az-label">
            <a:extLst>
              <a:ext uri="{FF2B5EF4-FFF2-40B4-BE49-F238E27FC236}">
                <a16:creationId xmlns:a16="http://schemas.microsoft.com/office/drawing/2014/main" id="{BD1D3AC1-4A5C-41A1-A17D-278460C69556}"/>
              </a:ext>
            </a:extLst>
          </p:cNvPr>
          <p:cNvSpPr>
            <a:spLocks noGrp="1"/>
          </p:cNvSpPr>
          <p:nvPr/>
        </p:nvSpPr>
        <p:spPr>
          <a:xfrm>
            <a:off x="7239000" y="4476750"/>
            <a:ext cx="2857500" cy="285750"/>
          </a:xfrm>
          <a:prstGeom prst="rect">
            <a:avLst/>
          </a:prstGeom>
          <a:noFill/>
          <a:ln w="0">
            <a:noFill/>
            <a:prstDash val="solid"/>
          </a:ln>
        </p:spPr>
        <p:txBody>
          <a:bodyPr wrap="square" lIns="47625" tIns="38100" rIns="47625" bIns="38100" anchor="t">
            <a:noAutofit/>
          </a:bodyPr>
          <a:lstStyle/>
          <a:p>
            <a:pPr algn="ctr">
              <a:defRPr sz="1275" b="0">
                <a:solidFill>
                  <a:srgbClr val="52606D"/>
                </a:solidFill>
                <a:latin typeface="Calibri"/>
                <a:ea typeface="Calibri"/>
                <a:cs typeface="Calibri"/>
              </a:defRPr>
            </a:pPr>
            <a:r>
              <a:rPr sz="1275" b="0">
                <a:solidFill>
                  <a:srgbClr val="52606D"/>
                </a:solidFill>
                <a:latin typeface="Calibri"/>
                <a:ea typeface="Calibri"/>
                <a:cs typeface="Calibri"/>
              </a:rPr>
              <a:t>Azimuthal scattering angle φ</a:t>
            </a:r>
          </a:p>
        </p:txBody>
      </p:sp>
      <p:sp>
        <p:nvSpPr>
          <p:cNvPr id="30" name="physics-meaning">
            <a:extLst>
              <a:ext uri="{FF2B5EF4-FFF2-40B4-BE49-F238E27FC236}">
                <a16:creationId xmlns:a16="http://schemas.microsoft.com/office/drawing/2014/main" id="{2B2D7470-104F-423D-B772-75A708DBCC8D}"/>
              </a:ext>
            </a:extLst>
          </p:cNvPr>
          <p:cNvSpPr>
            <a:spLocks noGrp="1"/>
          </p:cNvSpPr>
          <p:nvPr/>
        </p:nvSpPr>
        <p:spPr>
          <a:xfrm>
            <a:off x="876300" y="5219700"/>
            <a:ext cx="10439400" cy="666750"/>
          </a:xfrm>
          <a:prstGeom prst="roundRect">
            <a:avLst>
              <a:gd name="adj" fmla="val 11429"/>
            </a:avLst>
          </a:prstGeom>
          <a:solidFill>
            <a:srgbClr val="FFF0E5"/>
          </a:solidFill>
          <a:ln w="13335">
            <a:solidFill>
              <a:srgbClr val="D95F02"/>
            </a:solidFill>
            <a:prstDash val="solid"/>
          </a:ln>
        </p:spPr>
        <p:txBody>
          <a:bodyPr wrap="square" lIns="133350" tIns="95250" rIns="133350" bIns="95250" anchor="ctr">
            <a:noAutofit/>
          </a:bodyPr>
          <a:lstStyle/>
          <a:p>
            <a:pPr algn="ctr">
              <a:defRPr sz="1425" b="1">
                <a:solidFill>
                  <a:srgbClr val="D95F02"/>
                </a:solidFill>
                <a:latin typeface="Calibri"/>
                <a:ea typeface="Calibri"/>
                <a:cs typeface="Calibri"/>
              </a:defRPr>
            </a:pPr>
            <a:r>
              <a:rPr sz="1425" b="1">
                <a:solidFill>
                  <a:srgbClr val="D95F02"/>
                </a:solidFill>
                <a:latin typeface="Calibri"/>
                <a:ea typeface="Calibri"/>
                <a:cs typeface="Calibri"/>
              </a:rPr>
              <a:t>Modulation carries information about emission geometry, magnetic fields and scattering media—but calibration and background treatment are required for PD/PA.</a:t>
            </a:r>
          </a:p>
        </p:txBody>
      </p:sp>
    </p:spTree>
    <p:extLst>
      <p:ext uri="{BB962C8B-B14F-4D97-AF65-F5344CB8AC3E}">
        <p14:creationId xmlns:p14="http://schemas.microsoft.com/office/powerpoint/2010/main" val="266590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Mission Capabilities Must Not Be Conflated</a:t>
            </a:r>
          </a:p>
        </p:txBody>
      </p:sp>
      <p:sp>
        <p:nvSpPr>
          <p:cNvPr id="9" name="orange-rule-64-169">
            <a:extLst>
              <a:ext uri="{FF2B5EF4-FFF2-40B4-BE49-F238E27FC236}">
                <a16:creationId xmlns:a16="http://schemas.microsoft.com/office/drawing/2014/main" id="{35DF6384-5E33-4FB8-8EE6-BC9644665728}"/>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AE5D11C9-82D6-44A1-8D38-D8225718CF05}"/>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mission-h-0">
            <a:extLst>
              <a:ext uri="{FF2B5EF4-FFF2-40B4-BE49-F238E27FC236}">
                <a16:creationId xmlns:a16="http://schemas.microsoft.com/office/drawing/2014/main" id="{80A6033D-7A8A-47E3-BF76-41C230605222}"/>
              </a:ext>
            </a:extLst>
          </p:cNvPr>
          <p:cNvSpPr>
            <a:spLocks noGrp="1"/>
          </p:cNvSpPr>
          <p:nvPr/>
        </p:nvSpPr>
        <p:spPr>
          <a:xfrm>
            <a:off x="666750" y="1905000"/>
            <a:ext cx="1638300" cy="523875"/>
          </a:xfrm>
          <a:prstGeom prst="rect">
            <a:avLst/>
          </a:prstGeom>
          <a:solidFill>
            <a:srgbClr val="17365D"/>
          </a:solidFill>
          <a:ln w="9525">
            <a:solidFill>
              <a:srgbClr val="17365D"/>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Mission / payload</a:t>
            </a:r>
          </a:p>
        </p:txBody>
      </p:sp>
      <p:sp>
        <p:nvSpPr>
          <p:cNvPr id="12" name="mission-h-1">
            <a:extLst>
              <a:ext uri="{FF2B5EF4-FFF2-40B4-BE49-F238E27FC236}">
                <a16:creationId xmlns:a16="http://schemas.microsoft.com/office/drawing/2014/main" id="{86780174-97B9-47E9-BF9E-5DE4CD1B3662}"/>
              </a:ext>
            </a:extLst>
          </p:cNvPr>
          <p:cNvSpPr>
            <a:spLocks noGrp="1"/>
          </p:cNvSpPr>
          <p:nvPr/>
        </p:nvSpPr>
        <p:spPr>
          <a:xfrm>
            <a:off x="2305050" y="1905000"/>
            <a:ext cx="4505325" cy="523875"/>
          </a:xfrm>
          <a:prstGeom prst="rect">
            <a:avLst/>
          </a:prstGeom>
          <a:solidFill>
            <a:srgbClr val="17365D"/>
          </a:solidFill>
          <a:ln w="9525">
            <a:solidFill>
              <a:srgbClr val="17365D"/>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Primary capability</a:t>
            </a:r>
          </a:p>
        </p:txBody>
      </p:sp>
      <p:sp>
        <p:nvSpPr>
          <p:cNvPr id="13" name="mission-h-2">
            <a:extLst>
              <a:ext uri="{FF2B5EF4-FFF2-40B4-BE49-F238E27FC236}">
                <a16:creationId xmlns:a16="http://schemas.microsoft.com/office/drawing/2014/main" id="{5F852D08-C0C7-4F2F-8458-65DCA900742E}"/>
              </a:ext>
            </a:extLst>
          </p:cNvPr>
          <p:cNvSpPr>
            <a:spLocks noGrp="1"/>
          </p:cNvSpPr>
          <p:nvPr/>
        </p:nvSpPr>
        <p:spPr>
          <a:xfrm>
            <a:off x="6810375" y="1905000"/>
            <a:ext cx="2066925" cy="523875"/>
          </a:xfrm>
          <a:prstGeom prst="rect">
            <a:avLst/>
          </a:prstGeom>
          <a:solidFill>
            <a:srgbClr val="17365D"/>
          </a:solidFill>
          <a:ln w="9525">
            <a:solidFill>
              <a:srgbClr val="17365D"/>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Verified band</a:t>
            </a:r>
          </a:p>
        </p:txBody>
      </p:sp>
      <p:sp>
        <p:nvSpPr>
          <p:cNvPr id="14" name="mission-h-3">
            <a:extLst>
              <a:ext uri="{FF2B5EF4-FFF2-40B4-BE49-F238E27FC236}">
                <a16:creationId xmlns:a16="http://schemas.microsoft.com/office/drawing/2014/main" id="{D01C27D2-7034-4EB1-A521-C538D577C29A}"/>
              </a:ext>
            </a:extLst>
          </p:cNvPr>
          <p:cNvSpPr>
            <a:spLocks noGrp="1"/>
          </p:cNvSpPr>
          <p:nvPr/>
        </p:nvSpPr>
        <p:spPr>
          <a:xfrm>
            <a:off x="8877300" y="1905000"/>
            <a:ext cx="2667000" cy="523875"/>
          </a:xfrm>
          <a:prstGeom prst="rect">
            <a:avLst/>
          </a:prstGeom>
          <a:solidFill>
            <a:srgbClr val="17365D"/>
          </a:solidFill>
          <a:ln w="9525">
            <a:solidFill>
              <a:srgbClr val="17365D"/>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Context for this study</a:t>
            </a:r>
          </a:p>
        </p:txBody>
      </p:sp>
      <p:sp>
        <p:nvSpPr>
          <p:cNvPr id="15" name="mission-0-0">
            <a:extLst>
              <a:ext uri="{FF2B5EF4-FFF2-40B4-BE49-F238E27FC236}">
                <a16:creationId xmlns:a16="http://schemas.microsoft.com/office/drawing/2014/main" id="{D78AFE07-D8F1-425A-80E3-52B3D3074E5A}"/>
              </a:ext>
            </a:extLst>
          </p:cNvPr>
          <p:cNvSpPr>
            <a:spLocks noGrp="1"/>
          </p:cNvSpPr>
          <p:nvPr/>
        </p:nvSpPr>
        <p:spPr>
          <a:xfrm>
            <a:off x="666750" y="2428875"/>
            <a:ext cx="16383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Chandra</a:t>
            </a:r>
          </a:p>
        </p:txBody>
      </p:sp>
      <p:sp>
        <p:nvSpPr>
          <p:cNvPr id="16" name="mission-0-1">
            <a:extLst>
              <a:ext uri="{FF2B5EF4-FFF2-40B4-BE49-F238E27FC236}">
                <a16:creationId xmlns:a16="http://schemas.microsoft.com/office/drawing/2014/main" id="{03899EEF-F5F9-477E-9829-2F51508C0923}"/>
              </a:ext>
            </a:extLst>
          </p:cNvPr>
          <p:cNvSpPr>
            <a:spLocks noGrp="1"/>
          </p:cNvSpPr>
          <p:nvPr/>
        </p:nvSpPr>
        <p:spPr>
          <a:xfrm>
            <a:off x="2305050" y="2428875"/>
            <a:ext cx="45053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High-resolution X-ray imaging and spectroscopy</a:t>
            </a:r>
          </a:p>
        </p:txBody>
      </p:sp>
      <p:sp>
        <p:nvSpPr>
          <p:cNvPr id="17" name="mission-0-2">
            <a:extLst>
              <a:ext uri="{FF2B5EF4-FFF2-40B4-BE49-F238E27FC236}">
                <a16:creationId xmlns:a16="http://schemas.microsoft.com/office/drawing/2014/main" id="{0344D68C-44FE-435C-A07B-1EFCB493F2DB}"/>
              </a:ext>
            </a:extLst>
          </p:cNvPr>
          <p:cNvSpPr>
            <a:spLocks noGrp="1"/>
          </p:cNvSpPr>
          <p:nvPr/>
        </p:nvSpPr>
        <p:spPr>
          <a:xfrm>
            <a:off x="6810375" y="2428875"/>
            <a:ext cx="20669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Instrument-dependent</a:t>
            </a:r>
          </a:p>
        </p:txBody>
      </p:sp>
      <p:sp>
        <p:nvSpPr>
          <p:cNvPr id="18" name="mission-0-3">
            <a:extLst>
              <a:ext uri="{FF2B5EF4-FFF2-40B4-BE49-F238E27FC236}">
                <a16:creationId xmlns:a16="http://schemas.microsoft.com/office/drawing/2014/main" id="{00A00EB6-C30A-4CA3-8354-8D7BD8CF1B69}"/>
              </a:ext>
            </a:extLst>
          </p:cNvPr>
          <p:cNvSpPr>
            <a:spLocks noGrp="1"/>
          </p:cNvSpPr>
          <p:nvPr/>
        </p:nvSpPr>
        <p:spPr>
          <a:xfrm>
            <a:off x="8877300" y="2428875"/>
            <a:ext cx="26670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Context only; not a polarimetry mission</a:t>
            </a:r>
          </a:p>
        </p:txBody>
      </p:sp>
      <p:sp>
        <p:nvSpPr>
          <p:cNvPr id="19" name="mission-1-0">
            <a:extLst>
              <a:ext uri="{FF2B5EF4-FFF2-40B4-BE49-F238E27FC236}">
                <a16:creationId xmlns:a16="http://schemas.microsoft.com/office/drawing/2014/main" id="{321A3A35-C2F2-45A2-912A-29099F4BCF29}"/>
              </a:ext>
            </a:extLst>
          </p:cNvPr>
          <p:cNvSpPr>
            <a:spLocks noGrp="1"/>
          </p:cNvSpPr>
          <p:nvPr/>
        </p:nvSpPr>
        <p:spPr>
          <a:xfrm>
            <a:off x="666750" y="3076575"/>
            <a:ext cx="1638300"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IXPE</a:t>
            </a:r>
          </a:p>
        </p:txBody>
      </p:sp>
      <p:sp>
        <p:nvSpPr>
          <p:cNvPr id="20" name="mission-1-1">
            <a:extLst>
              <a:ext uri="{FF2B5EF4-FFF2-40B4-BE49-F238E27FC236}">
                <a16:creationId xmlns:a16="http://schemas.microsoft.com/office/drawing/2014/main" id="{2204E587-04CA-44A9-926C-FC9D339658D7}"/>
              </a:ext>
            </a:extLst>
          </p:cNvPr>
          <p:cNvSpPr>
            <a:spLocks noGrp="1"/>
          </p:cNvSpPr>
          <p:nvPr/>
        </p:nvSpPr>
        <p:spPr>
          <a:xfrm>
            <a:off x="2305050" y="3076575"/>
            <a:ext cx="4505325"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Dedicated imaging X-ray polarimetry</a:t>
            </a:r>
          </a:p>
        </p:txBody>
      </p:sp>
      <p:sp>
        <p:nvSpPr>
          <p:cNvPr id="21" name="mission-1-2">
            <a:extLst>
              <a:ext uri="{FF2B5EF4-FFF2-40B4-BE49-F238E27FC236}">
                <a16:creationId xmlns:a16="http://schemas.microsoft.com/office/drawing/2014/main" id="{EE6A1C48-8771-4E04-B891-29EAC75FEEEA}"/>
              </a:ext>
            </a:extLst>
          </p:cNvPr>
          <p:cNvSpPr>
            <a:spLocks noGrp="1"/>
          </p:cNvSpPr>
          <p:nvPr/>
        </p:nvSpPr>
        <p:spPr>
          <a:xfrm>
            <a:off x="6810375" y="3076575"/>
            <a:ext cx="2066925"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2–8 keV</a:t>
            </a:r>
          </a:p>
        </p:txBody>
      </p:sp>
      <p:sp>
        <p:nvSpPr>
          <p:cNvPr id="22" name="mission-1-3">
            <a:extLst>
              <a:ext uri="{FF2B5EF4-FFF2-40B4-BE49-F238E27FC236}">
                <a16:creationId xmlns:a16="http://schemas.microsoft.com/office/drawing/2014/main" id="{D53282A0-AE47-4A96-A0AA-E77B05701D48}"/>
              </a:ext>
            </a:extLst>
          </p:cNvPr>
          <p:cNvSpPr>
            <a:spLocks noGrp="1"/>
          </p:cNvSpPr>
          <p:nvPr/>
        </p:nvSpPr>
        <p:spPr>
          <a:xfrm>
            <a:off x="8877300" y="3076575"/>
            <a:ext cx="2667000"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Calibrated imaging-polarimetry literature</a:t>
            </a:r>
          </a:p>
        </p:txBody>
      </p:sp>
      <p:sp>
        <p:nvSpPr>
          <p:cNvPr id="23" name="mission-2-0">
            <a:extLst>
              <a:ext uri="{FF2B5EF4-FFF2-40B4-BE49-F238E27FC236}">
                <a16:creationId xmlns:a16="http://schemas.microsoft.com/office/drawing/2014/main" id="{7F8811F8-18AC-4673-A76B-99AB94378952}"/>
              </a:ext>
            </a:extLst>
          </p:cNvPr>
          <p:cNvSpPr>
            <a:spLocks noGrp="1"/>
          </p:cNvSpPr>
          <p:nvPr/>
        </p:nvSpPr>
        <p:spPr>
          <a:xfrm>
            <a:off x="666750" y="3724275"/>
            <a:ext cx="16383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XPoSat</a:t>
            </a:r>
          </a:p>
        </p:txBody>
      </p:sp>
      <p:sp>
        <p:nvSpPr>
          <p:cNvPr id="24" name="mission-2-1">
            <a:extLst>
              <a:ext uri="{FF2B5EF4-FFF2-40B4-BE49-F238E27FC236}">
                <a16:creationId xmlns:a16="http://schemas.microsoft.com/office/drawing/2014/main" id="{CD320F24-D46F-424E-9EEC-BB67CA972C6C}"/>
              </a:ext>
            </a:extLst>
          </p:cNvPr>
          <p:cNvSpPr>
            <a:spLocks noGrp="1"/>
          </p:cNvSpPr>
          <p:nvPr/>
        </p:nvSpPr>
        <p:spPr>
          <a:xfrm>
            <a:off x="2305050" y="3724275"/>
            <a:ext cx="45053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Indian mission carrying POLIX and XSPECT</a:t>
            </a:r>
          </a:p>
        </p:txBody>
      </p:sp>
      <p:sp>
        <p:nvSpPr>
          <p:cNvPr id="25" name="mission-2-2">
            <a:extLst>
              <a:ext uri="{FF2B5EF4-FFF2-40B4-BE49-F238E27FC236}">
                <a16:creationId xmlns:a16="http://schemas.microsoft.com/office/drawing/2014/main" id="{8BB43989-500E-4B72-903F-EAC88C98A49E}"/>
              </a:ext>
            </a:extLst>
          </p:cNvPr>
          <p:cNvSpPr>
            <a:spLocks noGrp="1"/>
          </p:cNvSpPr>
          <p:nvPr/>
        </p:nvSpPr>
        <p:spPr>
          <a:xfrm>
            <a:off x="6810375" y="3724275"/>
            <a:ext cx="20669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Two payload bands</a:t>
            </a:r>
          </a:p>
        </p:txBody>
      </p:sp>
      <p:sp>
        <p:nvSpPr>
          <p:cNvPr id="26" name="mission-2-3">
            <a:extLst>
              <a:ext uri="{FF2B5EF4-FFF2-40B4-BE49-F238E27FC236}">
                <a16:creationId xmlns:a16="http://schemas.microsoft.com/office/drawing/2014/main" id="{EEBE6FC6-7719-4E88-87E5-7512CF787795}"/>
              </a:ext>
            </a:extLst>
          </p:cNvPr>
          <p:cNvSpPr>
            <a:spLocks noGrp="1"/>
          </p:cNvSpPr>
          <p:nvPr/>
        </p:nvSpPr>
        <p:spPr>
          <a:xfrm>
            <a:off x="8877300" y="3724275"/>
            <a:ext cx="26670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Mission platform for the proposed study</a:t>
            </a:r>
          </a:p>
        </p:txBody>
      </p:sp>
      <p:sp>
        <p:nvSpPr>
          <p:cNvPr id="27" name="mission-3-0">
            <a:extLst>
              <a:ext uri="{FF2B5EF4-FFF2-40B4-BE49-F238E27FC236}">
                <a16:creationId xmlns:a16="http://schemas.microsoft.com/office/drawing/2014/main" id="{5DA1A28C-2557-4679-BA1C-40BBE80049F5}"/>
              </a:ext>
            </a:extLst>
          </p:cNvPr>
          <p:cNvSpPr>
            <a:spLocks noGrp="1"/>
          </p:cNvSpPr>
          <p:nvPr/>
        </p:nvSpPr>
        <p:spPr>
          <a:xfrm>
            <a:off x="666750" y="4371975"/>
            <a:ext cx="1638300"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POLIX</a:t>
            </a:r>
          </a:p>
        </p:txBody>
      </p:sp>
      <p:sp>
        <p:nvSpPr>
          <p:cNvPr id="28" name="mission-3-1">
            <a:extLst>
              <a:ext uri="{FF2B5EF4-FFF2-40B4-BE49-F238E27FC236}">
                <a16:creationId xmlns:a16="http://schemas.microsoft.com/office/drawing/2014/main" id="{C8337C8E-1650-4BC6-AE64-4349BF5297E0}"/>
              </a:ext>
            </a:extLst>
          </p:cNvPr>
          <p:cNvSpPr>
            <a:spLocks noGrp="1"/>
          </p:cNvSpPr>
          <p:nvPr/>
        </p:nvSpPr>
        <p:spPr>
          <a:xfrm>
            <a:off x="2305050" y="4371975"/>
            <a:ext cx="4505325"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Medium-energy X-ray polarimetry</a:t>
            </a:r>
          </a:p>
        </p:txBody>
      </p:sp>
      <p:sp>
        <p:nvSpPr>
          <p:cNvPr id="29" name="mission-3-2">
            <a:extLst>
              <a:ext uri="{FF2B5EF4-FFF2-40B4-BE49-F238E27FC236}">
                <a16:creationId xmlns:a16="http://schemas.microsoft.com/office/drawing/2014/main" id="{C050685F-267F-42E5-A041-0542835D4CCA}"/>
              </a:ext>
            </a:extLst>
          </p:cNvPr>
          <p:cNvSpPr>
            <a:spLocks noGrp="1"/>
          </p:cNvSpPr>
          <p:nvPr/>
        </p:nvSpPr>
        <p:spPr>
          <a:xfrm>
            <a:off x="6810375" y="4371975"/>
            <a:ext cx="2066925"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8–30 keV</a:t>
            </a:r>
          </a:p>
        </p:txBody>
      </p:sp>
      <p:sp>
        <p:nvSpPr>
          <p:cNvPr id="30" name="mission-3-3">
            <a:extLst>
              <a:ext uri="{FF2B5EF4-FFF2-40B4-BE49-F238E27FC236}">
                <a16:creationId xmlns:a16="http://schemas.microsoft.com/office/drawing/2014/main" id="{5872A319-EA62-4A45-A6CE-76E6DC885BBC}"/>
              </a:ext>
            </a:extLst>
          </p:cNvPr>
          <p:cNvSpPr>
            <a:spLocks noGrp="1"/>
          </p:cNvSpPr>
          <p:nvPr/>
        </p:nvSpPr>
        <p:spPr>
          <a:xfrm>
            <a:off x="8877300" y="4371975"/>
            <a:ext cx="2667000" cy="6477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Primary Level-2 data scope</a:t>
            </a:r>
          </a:p>
        </p:txBody>
      </p:sp>
      <p:sp>
        <p:nvSpPr>
          <p:cNvPr id="31" name="mission-4-0">
            <a:extLst>
              <a:ext uri="{FF2B5EF4-FFF2-40B4-BE49-F238E27FC236}">
                <a16:creationId xmlns:a16="http://schemas.microsoft.com/office/drawing/2014/main" id="{ED164E51-D0A3-4035-8E8B-4F645F833923}"/>
              </a:ext>
            </a:extLst>
          </p:cNvPr>
          <p:cNvSpPr>
            <a:spLocks noGrp="1"/>
          </p:cNvSpPr>
          <p:nvPr/>
        </p:nvSpPr>
        <p:spPr>
          <a:xfrm>
            <a:off x="666750" y="5019675"/>
            <a:ext cx="16383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XSPECT</a:t>
            </a:r>
          </a:p>
        </p:txBody>
      </p:sp>
      <p:sp>
        <p:nvSpPr>
          <p:cNvPr id="32" name="mission-4-1">
            <a:extLst>
              <a:ext uri="{FF2B5EF4-FFF2-40B4-BE49-F238E27FC236}">
                <a16:creationId xmlns:a16="http://schemas.microsoft.com/office/drawing/2014/main" id="{910712C7-CF6F-4B50-A2C8-F73D17CD604C}"/>
              </a:ext>
            </a:extLst>
          </p:cNvPr>
          <p:cNvSpPr>
            <a:spLocks noGrp="1"/>
          </p:cNvSpPr>
          <p:nvPr/>
        </p:nvSpPr>
        <p:spPr>
          <a:xfrm>
            <a:off x="2305050" y="5019675"/>
            <a:ext cx="45053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X-ray spectroscopy and timing</a:t>
            </a:r>
          </a:p>
        </p:txBody>
      </p:sp>
      <p:sp>
        <p:nvSpPr>
          <p:cNvPr id="33" name="mission-4-2">
            <a:extLst>
              <a:ext uri="{FF2B5EF4-FFF2-40B4-BE49-F238E27FC236}">
                <a16:creationId xmlns:a16="http://schemas.microsoft.com/office/drawing/2014/main" id="{4563FC03-FBB6-4018-B59E-16775C48AD1D}"/>
              </a:ext>
            </a:extLst>
          </p:cNvPr>
          <p:cNvSpPr>
            <a:spLocks noGrp="1"/>
          </p:cNvSpPr>
          <p:nvPr/>
        </p:nvSpPr>
        <p:spPr>
          <a:xfrm>
            <a:off x="6810375" y="5019675"/>
            <a:ext cx="2066925"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0.8–15 keV</a:t>
            </a:r>
          </a:p>
        </p:txBody>
      </p:sp>
      <p:sp>
        <p:nvSpPr>
          <p:cNvPr id="34" name="mission-4-3">
            <a:extLst>
              <a:ext uri="{FF2B5EF4-FFF2-40B4-BE49-F238E27FC236}">
                <a16:creationId xmlns:a16="http://schemas.microsoft.com/office/drawing/2014/main" id="{721B3507-11AC-4F69-90A0-4D017C72A59B}"/>
              </a:ext>
            </a:extLst>
          </p:cNvPr>
          <p:cNvSpPr>
            <a:spLocks noGrp="1"/>
          </p:cNvSpPr>
          <p:nvPr/>
        </p:nvSpPr>
        <p:spPr>
          <a:xfrm>
            <a:off x="8877300" y="5019675"/>
            <a:ext cx="2667000" cy="6477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75" b="0">
                <a:solidFill>
                  <a:srgbClr val="17212B"/>
                </a:solidFill>
                <a:latin typeface="Calibri"/>
                <a:ea typeface="Calibri"/>
                <a:cs typeface="Calibri"/>
              </a:defRPr>
            </a:pPr>
            <a:r>
              <a:rPr sz="1275" b="0">
                <a:solidFill>
                  <a:srgbClr val="17212B"/>
                </a:solidFill>
                <a:latin typeface="Calibri"/>
                <a:ea typeface="Calibri"/>
                <a:cs typeface="Calibri"/>
              </a:rPr>
              <a:t>Complementary; not primary scope</a:t>
            </a:r>
          </a:p>
        </p:txBody>
      </p:sp>
      <p:sp>
        <p:nvSpPr>
          <p:cNvPr id="35" name="mission-check">
            <a:extLst>
              <a:ext uri="{FF2B5EF4-FFF2-40B4-BE49-F238E27FC236}">
                <a16:creationId xmlns:a16="http://schemas.microsoft.com/office/drawing/2014/main" id="{B2C4AF42-2478-45A3-A97D-B79E9FD58A0C}"/>
              </a:ext>
            </a:extLst>
          </p:cNvPr>
          <p:cNvSpPr>
            <a:spLocks noGrp="1"/>
          </p:cNvSpPr>
          <p:nvPr/>
        </p:nvSpPr>
        <p:spPr>
          <a:xfrm>
            <a:off x="723900" y="5753100"/>
            <a:ext cx="10668000" cy="361950"/>
          </a:xfrm>
          <a:prstGeom prst="rect">
            <a:avLst/>
          </a:prstGeom>
          <a:noFill/>
          <a:ln w="0">
            <a:noFill/>
            <a:prstDash val="solid"/>
          </a:ln>
        </p:spPr>
        <p:txBody>
          <a:bodyPr wrap="square" lIns="47625" tIns="38100" rIns="47625" bIns="38100" anchor="t">
            <a:noAutofit/>
          </a:bodyPr>
          <a:lstStyle/>
          <a:p>
            <a:pPr algn="ctr">
              <a:defRPr sz="1275" b="1">
                <a:solidFill>
                  <a:srgbClr val="A61B1B"/>
                </a:solidFill>
                <a:latin typeface="Calibri"/>
                <a:ea typeface="Calibri"/>
                <a:cs typeface="Calibri"/>
              </a:defRPr>
            </a:pPr>
            <a:r>
              <a:rPr sz="1275" b="1">
                <a:solidFill>
                  <a:srgbClr val="A61B1B"/>
                </a:solidFill>
                <a:latin typeface="Calibri"/>
                <a:ea typeface="Calibri"/>
                <a:cs typeface="Calibri"/>
              </a:rPr>
              <a:t>Quality-control check: Chandra is presented as an imaging/spectroscopy observatory—not as a polarimetry mission.</a:t>
            </a:r>
          </a:p>
        </p:txBody>
      </p:sp>
    </p:spTree>
    <p:extLst>
      <p:ext uri="{BB962C8B-B14F-4D97-AF65-F5344CB8AC3E}">
        <p14:creationId xmlns:p14="http://schemas.microsoft.com/office/powerpoint/2010/main" val="3143505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XPoSat Adds Indian X-Ray Polarimetry</a:t>
            </a:r>
          </a:p>
        </p:txBody>
      </p:sp>
      <p:sp>
        <p:nvSpPr>
          <p:cNvPr id="9" name="orange-rule-64-169">
            <a:extLst>
              <a:ext uri="{FF2B5EF4-FFF2-40B4-BE49-F238E27FC236}">
                <a16:creationId xmlns:a16="http://schemas.microsoft.com/office/drawing/2014/main" id="{7CFF5077-1134-4534-8CF7-79849D8FE83F}"/>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336BD5E6-8E69-48CC-ABA9-D57899961D55}"/>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Mission purpose">
            <a:extLst>
              <a:ext uri="{FF2B5EF4-FFF2-40B4-BE49-F238E27FC236}">
                <a16:creationId xmlns:a16="http://schemas.microsoft.com/office/drawing/2014/main" id="{37597D85-FB73-4C4C-BE1B-F455CCDD392C}"/>
              </a:ext>
            </a:extLst>
          </p:cNvPr>
          <p:cNvSpPr>
            <a:spLocks noGrp="1"/>
          </p:cNvSpPr>
          <p:nvPr/>
        </p:nvSpPr>
        <p:spPr>
          <a:xfrm>
            <a:off x="685800" y="1857375"/>
            <a:ext cx="43815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MISSION PURPOSE</a:t>
            </a:r>
          </a:p>
        </p:txBody>
      </p:sp>
      <p:sp>
        <p:nvSpPr>
          <p:cNvPr id="12" name="xposat-purpose">
            <a:extLst>
              <a:ext uri="{FF2B5EF4-FFF2-40B4-BE49-F238E27FC236}">
                <a16:creationId xmlns:a16="http://schemas.microsoft.com/office/drawing/2014/main" id="{0AAB0BD5-24EE-4AFC-BEB9-A42A4736AE52}"/>
              </a:ext>
            </a:extLst>
          </p:cNvPr>
          <p:cNvSpPr>
            <a:spLocks noGrp="1"/>
          </p:cNvSpPr>
          <p:nvPr/>
        </p:nvSpPr>
        <p:spPr>
          <a:xfrm>
            <a:off x="685800" y="2190750"/>
            <a:ext cx="4762500" cy="2905125"/>
          </a:xfrm>
          <a:prstGeom prst="rect">
            <a:avLst/>
          </a:prstGeom>
          <a:noFill/>
          <a:ln w="0">
            <a:noFill/>
            <a:prstDash val="solid"/>
          </a:ln>
        </p:spPr>
        <p:txBody>
          <a:bodyPr wrap="square" lIns="47625" tIns="38100" rIns="47625" bIns="38100" anchor="t">
            <a:noAutofit/>
          </a:bodyPr>
          <a:lstStyle/>
          <a:p>
            <a:pPr algn="l">
              <a:defRPr sz="1575" b="0">
                <a:solidFill>
                  <a:srgbClr val="17212B"/>
                </a:solidFill>
                <a:latin typeface="Calibri"/>
                <a:ea typeface="Calibri"/>
                <a:cs typeface="Calibri"/>
              </a:defRPr>
            </a:pPr>
            <a:r>
              <a:rPr sz="1575" b="0">
                <a:solidFill>
                  <a:srgbClr val="17212B"/>
                </a:solidFill>
                <a:latin typeface="Calibri"/>
                <a:ea typeface="Calibri"/>
                <a:cs typeface="Calibri"/>
              </a:rPr>
              <a:t>• India’s first dedicated X-ray polarimetry mission</a:t>
            </a:r>
          </a:p>
          <a:p>
            <a:endParaRPr sz="1575" b="0">
              <a:solidFill>
                <a:srgbClr val="17212B"/>
              </a:solidFill>
              <a:latin typeface="Calibri"/>
              <a:ea typeface="Calibri"/>
              <a:cs typeface="Calibri"/>
            </a:endParaRPr>
          </a:p>
          <a:p>
            <a:pPr algn="l">
              <a:defRPr sz="1575" b="0">
                <a:solidFill>
                  <a:srgbClr val="17212B"/>
                </a:solidFill>
                <a:latin typeface="Calibri"/>
                <a:ea typeface="Calibri"/>
                <a:cs typeface="Calibri"/>
              </a:defRPr>
            </a:pPr>
            <a:r>
              <a:rPr sz="1575" b="0">
                <a:solidFill>
                  <a:srgbClr val="17212B"/>
                </a:solidFill>
                <a:latin typeface="Calibri"/>
                <a:ea typeface="Calibri"/>
                <a:cs typeface="Calibri"/>
              </a:rPr>
              <a:t>• Launched on 1 January 2024 aboard PSLV-C58</a:t>
            </a:r>
          </a:p>
          <a:p>
            <a:endParaRPr sz="1575" b="0">
              <a:solidFill>
                <a:srgbClr val="17212B"/>
              </a:solidFill>
              <a:latin typeface="Calibri"/>
              <a:ea typeface="Calibri"/>
              <a:cs typeface="Calibri"/>
            </a:endParaRPr>
          </a:p>
          <a:p>
            <a:pPr algn="l">
              <a:defRPr sz="1575" b="0">
                <a:solidFill>
                  <a:srgbClr val="17212B"/>
                </a:solidFill>
                <a:latin typeface="Calibri"/>
                <a:ea typeface="Calibri"/>
                <a:cs typeface="Calibri"/>
              </a:defRPr>
            </a:pPr>
            <a:r>
              <a:rPr sz="1575" b="0">
                <a:solidFill>
                  <a:srgbClr val="17212B"/>
                </a:solidFill>
                <a:latin typeface="Calibri"/>
                <a:ea typeface="Calibri"/>
                <a:cs typeface="Calibri"/>
              </a:rPr>
              <a:t>• Designed to combine medium-energy polarimetry with simultaneous spectroscopic and timing context</a:t>
            </a:r>
          </a:p>
          <a:p>
            <a:endParaRPr sz="1575" b="0">
              <a:solidFill>
                <a:srgbClr val="17212B"/>
              </a:solidFill>
              <a:latin typeface="Calibri"/>
              <a:ea typeface="Calibri"/>
              <a:cs typeface="Calibri"/>
            </a:endParaRPr>
          </a:p>
          <a:p>
            <a:pPr algn="l">
              <a:defRPr sz="1575" b="0">
                <a:solidFill>
                  <a:srgbClr val="17212B"/>
                </a:solidFill>
                <a:latin typeface="Calibri"/>
                <a:ea typeface="Calibri"/>
                <a:cs typeface="Calibri"/>
              </a:defRPr>
            </a:pPr>
            <a:r>
              <a:rPr sz="1575" b="0">
                <a:solidFill>
                  <a:srgbClr val="17212B"/>
                </a:solidFill>
                <a:latin typeface="Calibri"/>
                <a:ea typeface="Calibri"/>
                <a:cs typeface="Calibri"/>
              </a:rPr>
              <a:t>• Extends India’s space-astronomy capability into polarization-sensitive observation</a:t>
            </a:r>
          </a:p>
        </p:txBody>
      </p:sp>
      <p:sp>
        <p:nvSpPr>
          <p:cNvPr id="13" name="xposat-image-frame">
            <a:extLst>
              <a:ext uri="{FF2B5EF4-FFF2-40B4-BE49-F238E27FC236}">
                <a16:creationId xmlns:a16="http://schemas.microsoft.com/office/drawing/2014/main" id="{BB38216F-A179-417F-AD24-435400B21413}"/>
              </a:ext>
            </a:extLst>
          </p:cNvPr>
          <p:cNvSpPr>
            <a:spLocks noGrp="1"/>
          </p:cNvSpPr>
          <p:nvPr/>
        </p:nvSpPr>
        <p:spPr>
          <a:xfrm>
            <a:off x="5953125" y="1952625"/>
            <a:ext cx="5334000" cy="3143250"/>
          </a:xfrm>
          <a:prstGeom prst="roundRect">
            <a:avLst>
              <a:gd name="adj" fmla="val 2424"/>
            </a:avLst>
          </a:prstGeom>
          <a:noFill/>
          <a:ln w="11430">
            <a:solidFill>
              <a:srgbClr val="CBD5E1"/>
            </a:solidFill>
            <a:prstDash val="solid"/>
          </a:ln>
        </p:spPr>
      </p:sp>
      <p:pic>
        <p:nvPicPr>
          <p:cNvPr id="24" name="Picture 23"/>
          <p:cNvPicPr>
            <a:picLocks noChangeAspect="1"/>
          </p:cNvPicPr>
          <p:nvPr/>
        </p:nvPicPr>
        <p:blipFill>
          <a:blip r:embed="rId3"/>
          <a:srcRect l="1348" r="1348"/>
          <a:stretch>
            <a:fillRect/>
          </a:stretch>
        </p:blipFill>
        <p:spPr>
          <a:xfrm>
            <a:off x="6048375" y="2047875"/>
            <a:ext cx="5143500" cy="2952750"/>
          </a:xfrm>
          <a:prstGeom prst="roundRect">
            <a:avLst>
              <a:gd name="adj" fmla="val 3871"/>
            </a:avLst>
          </a:prstGeom>
        </p:spPr>
      </p:pic>
      <p:sp>
        <p:nvSpPr>
          <p:cNvPr id="15" name="payload-divider">
            <a:extLst>
              <a:ext uri="{FF2B5EF4-FFF2-40B4-BE49-F238E27FC236}">
                <a16:creationId xmlns:a16="http://schemas.microsoft.com/office/drawing/2014/main" id="{EC16A797-AF68-462A-A601-F3944A6FC3CD}"/>
              </a:ext>
            </a:extLst>
          </p:cNvPr>
          <p:cNvSpPr>
            <a:spLocks noGrp="1"/>
          </p:cNvSpPr>
          <p:nvPr/>
        </p:nvSpPr>
        <p:spPr>
          <a:xfrm>
            <a:off x="5934075" y="5276850"/>
            <a:ext cx="19050" cy="666750"/>
          </a:xfrm>
          <a:prstGeom prst="rect">
            <a:avLst/>
          </a:prstGeom>
          <a:solidFill>
            <a:srgbClr val="CBD5E1"/>
          </a:solidFill>
          <a:ln w="0">
            <a:noFill/>
            <a:prstDash val="solid"/>
          </a:ln>
        </p:spPr>
      </p:sp>
      <p:sp>
        <p:nvSpPr>
          <p:cNvPr id="16" name="polix-payload">
            <a:extLst>
              <a:ext uri="{FF2B5EF4-FFF2-40B4-BE49-F238E27FC236}">
                <a16:creationId xmlns:a16="http://schemas.microsoft.com/office/drawing/2014/main" id="{CD33DDFB-8A57-4BD9-B48A-E81A070300A8}"/>
              </a:ext>
            </a:extLst>
          </p:cNvPr>
          <p:cNvSpPr>
            <a:spLocks noGrp="1"/>
          </p:cNvSpPr>
          <p:nvPr/>
        </p:nvSpPr>
        <p:spPr>
          <a:xfrm>
            <a:off x="857250" y="5286375"/>
            <a:ext cx="4572000" cy="666750"/>
          </a:xfrm>
          <a:prstGeom prst="rect">
            <a:avLst/>
          </a:prstGeom>
          <a:noFill/>
          <a:ln w="0">
            <a:noFill/>
            <a:prstDash val="solid"/>
          </a:ln>
        </p:spPr>
        <p:txBody>
          <a:bodyPr wrap="square" lIns="47625" tIns="38100" rIns="47625" bIns="38100" anchor="ctr">
            <a:noAutofit/>
          </a:bodyPr>
          <a:lstStyle/>
          <a:p>
            <a:pPr algn="ctr">
              <a:defRPr sz="1650" b="1">
                <a:solidFill>
                  <a:srgbClr val="006064"/>
                </a:solidFill>
                <a:latin typeface="Calibri"/>
                <a:ea typeface="Calibri"/>
                <a:cs typeface="Calibri"/>
              </a:defRPr>
            </a:pPr>
            <a:r>
              <a:rPr sz="1650" b="1">
                <a:solidFill>
                  <a:srgbClr val="006064"/>
                </a:solidFill>
                <a:latin typeface="Calibri"/>
                <a:ea typeface="Calibri"/>
                <a:cs typeface="Calibri"/>
              </a:rPr>
              <a:t>POLIX  |  8–30 keV</a:t>
            </a:r>
          </a:p>
          <a:p>
            <a:pPr algn="ctr">
              <a:defRPr sz="1650" b="1">
                <a:solidFill>
                  <a:srgbClr val="006064"/>
                </a:solidFill>
                <a:latin typeface="Calibri"/>
                <a:ea typeface="Calibri"/>
                <a:cs typeface="Calibri"/>
              </a:defRPr>
            </a:pPr>
            <a:r>
              <a:rPr sz="1650" b="1">
                <a:solidFill>
                  <a:srgbClr val="006064"/>
                </a:solidFill>
                <a:latin typeface="Calibri"/>
                <a:ea typeface="Calibri"/>
                <a:cs typeface="Calibri"/>
              </a:rPr>
              <a:t>Polarimetry</a:t>
            </a:r>
          </a:p>
        </p:txBody>
      </p:sp>
      <p:sp>
        <p:nvSpPr>
          <p:cNvPr id="17" name="xspect-payload">
            <a:extLst>
              <a:ext uri="{FF2B5EF4-FFF2-40B4-BE49-F238E27FC236}">
                <a16:creationId xmlns:a16="http://schemas.microsoft.com/office/drawing/2014/main" id="{B108EDAC-3E2E-49EE-ABFF-EC0C94897ACF}"/>
              </a:ext>
            </a:extLst>
          </p:cNvPr>
          <p:cNvSpPr>
            <a:spLocks noGrp="1"/>
          </p:cNvSpPr>
          <p:nvPr/>
        </p:nvSpPr>
        <p:spPr>
          <a:xfrm>
            <a:off x="6238875" y="5286375"/>
            <a:ext cx="4762500" cy="666750"/>
          </a:xfrm>
          <a:prstGeom prst="rect">
            <a:avLst/>
          </a:prstGeom>
          <a:noFill/>
          <a:ln w="0">
            <a:noFill/>
            <a:prstDash val="solid"/>
          </a:ln>
        </p:spPr>
        <p:txBody>
          <a:bodyPr wrap="square" lIns="47625" tIns="38100" rIns="47625" bIns="38100" anchor="ctr">
            <a:noAutofit/>
          </a:bodyPr>
          <a:lstStyle/>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XSPECT  |  0.8–15 keV</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Spectroscopy and timing</a:t>
            </a:r>
          </a:p>
        </p:txBody>
      </p:sp>
    </p:spTree>
    <p:extLst>
      <p:ext uri="{BB962C8B-B14F-4D97-AF65-F5344CB8AC3E}">
        <p14:creationId xmlns:p14="http://schemas.microsoft.com/office/powerpoint/2010/main" val="3143505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POLIX Converts Scattering into Modulation</a:t>
            </a:r>
          </a:p>
        </p:txBody>
      </p:sp>
      <p:sp>
        <p:nvSpPr>
          <p:cNvPr id="9" name="orange-rule-64-169">
            <a:extLst>
              <a:ext uri="{FF2B5EF4-FFF2-40B4-BE49-F238E27FC236}">
                <a16:creationId xmlns:a16="http://schemas.microsoft.com/office/drawing/2014/main" id="{27D4412D-F8AD-4E24-9BF5-1AB26E77253F}"/>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8A67C747-0616-448F-971F-696F31691FC4}"/>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Cross-sectional view">
            <a:extLst>
              <a:ext uri="{FF2B5EF4-FFF2-40B4-BE49-F238E27FC236}">
                <a16:creationId xmlns:a16="http://schemas.microsoft.com/office/drawing/2014/main" id="{0D052A48-E92B-4437-A395-02E456BD8191}"/>
              </a:ext>
            </a:extLst>
          </p:cNvPr>
          <p:cNvSpPr>
            <a:spLocks noGrp="1"/>
          </p:cNvSpPr>
          <p:nvPr/>
        </p:nvSpPr>
        <p:spPr>
          <a:xfrm>
            <a:off x="685800" y="1952625"/>
            <a:ext cx="2667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CROSS-SECTIONAL VIEW</a:t>
            </a:r>
          </a:p>
        </p:txBody>
      </p:sp>
      <p:sp>
        <p:nvSpPr>
          <p:cNvPr id="12" name="incoming-label">
            <a:extLst>
              <a:ext uri="{FF2B5EF4-FFF2-40B4-BE49-F238E27FC236}">
                <a16:creationId xmlns:a16="http://schemas.microsoft.com/office/drawing/2014/main" id="{711F4D3E-97D2-4A06-A4A2-68A578658BC1}"/>
              </a:ext>
            </a:extLst>
          </p:cNvPr>
          <p:cNvSpPr>
            <a:spLocks noGrp="1"/>
          </p:cNvSpPr>
          <p:nvPr/>
        </p:nvSpPr>
        <p:spPr>
          <a:xfrm>
            <a:off x="714375" y="2305050"/>
            <a:ext cx="2286000" cy="781050"/>
          </a:xfrm>
          <a:prstGeom prst="rect">
            <a:avLst/>
          </a:prstGeom>
          <a:noFill/>
          <a:ln w="0">
            <a:noFill/>
            <a:prstDash val="solid"/>
          </a:ln>
        </p:spPr>
        <p:txBody>
          <a:bodyPr wrap="square" lIns="47625" tIns="38100" rIns="47625" bIns="38100" anchor="ctr">
            <a:noAutofit/>
          </a:bodyPr>
          <a:lstStyle/>
          <a:p>
            <a:pPr algn="ctr">
              <a:defRPr sz="1425" b="0">
                <a:solidFill>
                  <a:srgbClr val="17365D"/>
                </a:solidFill>
                <a:latin typeface="Calibri"/>
                <a:ea typeface="Calibri"/>
                <a:cs typeface="Calibri"/>
              </a:defRPr>
            </a:pPr>
            <a:r>
              <a:rPr sz="1425" b="0">
                <a:solidFill>
                  <a:srgbClr val="17365D"/>
                </a:solidFill>
                <a:latin typeface="Calibri"/>
                <a:ea typeface="Calibri"/>
                <a:cs typeface="Calibri"/>
              </a:rPr>
              <a:t>Incident X-rays enter along the instrument axis into the central scatterer.</a:t>
            </a:r>
          </a:p>
        </p:txBody>
      </p:sp>
      <p:sp>
        <p:nvSpPr>
          <p:cNvPr id="13" name="be-scatterer">
            <a:extLst>
              <a:ext uri="{FF2B5EF4-FFF2-40B4-BE49-F238E27FC236}">
                <a16:creationId xmlns:a16="http://schemas.microsoft.com/office/drawing/2014/main" id="{D287B2AC-B30C-413F-ACDE-AAF3821AC1AA}"/>
              </a:ext>
            </a:extLst>
          </p:cNvPr>
          <p:cNvSpPr>
            <a:spLocks noGrp="1"/>
          </p:cNvSpPr>
          <p:nvPr/>
        </p:nvSpPr>
        <p:spPr>
          <a:xfrm>
            <a:off x="4667250" y="2857500"/>
            <a:ext cx="2095500" cy="1428750"/>
          </a:xfrm>
          <a:prstGeom prst="ellipse">
            <a:avLst/>
          </a:prstGeom>
          <a:solidFill>
            <a:srgbClr val="FFF0E5"/>
          </a:solidFill>
          <a:ln w="19050">
            <a:solidFill>
              <a:srgbClr val="D95F02"/>
            </a:solidFill>
            <a:prstDash val="solid"/>
          </a:ln>
        </p:spPr>
        <p:txBody>
          <a:bodyPr wrap="square" lIns="228600" tIns="152400" rIns="228600" bIns="152400" anchor="ctr">
            <a:noAutofit/>
          </a:bodyPr>
          <a:lstStyle/>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Central</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beryllium</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scatterer</a:t>
            </a:r>
          </a:p>
        </p:txBody>
      </p:sp>
      <p:sp>
        <p:nvSpPr>
          <p:cNvPr id="14" name="detector-0">
            <a:extLst>
              <a:ext uri="{FF2B5EF4-FFF2-40B4-BE49-F238E27FC236}">
                <a16:creationId xmlns:a16="http://schemas.microsoft.com/office/drawing/2014/main" id="{0375E961-BA35-4145-9EEA-F962D7121318}"/>
              </a:ext>
            </a:extLst>
          </p:cNvPr>
          <p:cNvSpPr>
            <a:spLocks noGrp="1"/>
          </p:cNvSpPr>
          <p:nvPr/>
        </p:nvSpPr>
        <p:spPr>
          <a:xfrm>
            <a:off x="4810125" y="1952625"/>
            <a:ext cx="1809750" cy="704850"/>
          </a:xfrm>
          <a:prstGeom prst="roundRect">
            <a:avLst>
              <a:gd name="adj" fmla="val 10811"/>
            </a:avLst>
          </a:prstGeom>
          <a:solidFill>
            <a:srgbClr val="E7F3F3"/>
          </a:solidFill>
          <a:ln w="14288">
            <a:solidFill>
              <a:srgbClr val="006064"/>
            </a:solidFill>
            <a:prstDash val="solid"/>
          </a:ln>
        </p:spPr>
      </p:sp>
      <p:sp>
        <p:nvSpPr>
          <p:cNvPr id="15" name="detector-label-0">
            <a:extLst>
              <a:ext uri="{FF2B5EF4-FFF2-40B4-BE49-F238E27FC236}">
                <a16:creationId xmlns:a16="http://schemas.microsoft.com/office/drawing/2014/main" id="{E0C84775-6445-464F-A02B-4D8C909CA9F2}"/>
              </a:ext>
            </a:extLst>
          </p:cNvPr>
          <p:cNvSpPr>
            <a:spLocks noGrp="1"/>
          </p:cNvSpPr>
          <p:nvPr/>
        </p:nvSpPr>
        <p:spPr>
          <a:xfrm>
            <a:off x="4886325" y="2028825"/>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1</a:t>
            </a:r>
          </a:p>
        </p:txBody>
      </p:sp>
      <p:sp>
        <p:nvSpPr>
          <p:cNvPr id="16" name="detector-1">
            <a:extLst>
              <a:ext uri="{FF2B5EF4-FFF2-40B4-BE49-F238E27FC236}">
                <a16:creationId xmlns:a16="http://schemas.microsoft.com/office/drawing/2014/main" id="{58D35CEE-C1C8-4E39-9DE5-521147CE3ADD}"/>
              </a:ext>
            </a:extLst>
          </p:cNvPr>
          <p:cNvSpPr>
            <a:spLocks noGrp="1"/>
          </p:cNvSpPr>
          <p:nvPr/>
        </p:nvSpPr>
        <p:spPr>
          <a:xfrm>
            <a:off x="7000875" y="3048000"/>
            <a:ext cx="1809750" cy="704850"/>
          </a:xfrm>
          <a:prstGeom prst="roundRect">
            <a:avLst>
              <a:gd name="adj" fmla="val 10811"/>
            </a:avLst>
          </a:prstGeom>
          <a:solidFill>
            <a:srgbClr val="E7F3F3"/>
          </a:solidFill>
          <a:ln w="14288">
            <a:solidFill>
              <a:srgbClr val="006064"/>
            </a:solidFill>
            <a:prstDash val="solid"/>
          </a:ln>
        </p:spPr>
      </p:sp>
      <p:sp>
        <p:nvSpPr>
          <p:cNvPr id="17" name="detector-label-1">
            <a:extLst>
              <a:ext uri="{FF2B5EF4-FFF2-40B4-BE49-F238E27FC236}">
                <a16:creationId xmlns:a16="http://schemas.microsoft.com/office/drawing/2014/main" id="{9C8D0135-035B-457E-AC19-FBAD9B320EDD}"/>
              </a:ext>
            </a:extLst>
          </p:cNvPr>
          <p:cNvSpPr>
            <a:spLocks noGrp="1"/>
          </p:cNvSpPr>
          <p:nvPr/>
        </p:nvSpPr>
        <p:spPr>
          <a:xfrm>
            <a:off x="7077075" y="3124200"/>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2</a:t>
            </a:r>
          </a:p>
        </p:txBody>
      </p:sp>
      <p:sp>
        <p:nvSpPr>
          <p:cNvPr id="18" name="detector-2">
            <a:extLst>
              <a:ext uri="{FF2B5EF4-FFF2-40B4-BE49-F238E27FC236}">
                <a16:creationId xmlns:a16="http://schemas.microsoft.com/office/drawing/2014/main" id="{4B346CF4-22CA-4C6A-B4A7-E5A22D7465FE}"/>
              </a:ext>
            </a:extLst>
          </p:cNvPr>
          <p:cNvSpPr>
            <a:spLocks noGrp="1"/>
          </p:cNvSpPr>
          <p:nvPr/>
        </p:nvSpPr>
        <p:spPr>
          <a:xfrm>
            <a:off x="4810125" y="4524375"/>
            <a:ext cx="1809750" cy="704850"/>
          </a:xfrm>
          <a:prstGeom prst="roundRect">
            <a:avLst>
              <a:gd name="adj" fmla="val 10811"/>
            </a:avLst>
          </a:prstGeom>
          <a:solidFill>
            <a:srgbClr val="E7F3F3"/>
          </a:solidFill>
          <a:ln w="14288">
            <a:solidFill>
              <a:srgbClr val="006064"/>
            </a:solidFill>
            <a:prstDash val="solid"/>
          </a:ln>
        </p:spPr>
      </p:sp>
      <p:sp>
        <p:nvSpPr>
          <p:cNvPr id="19" name="detector-label-2">
            <a:extLst>
              <a:ext uri="{FF2B5EF4-FFF2-40B4-BE49-F238E27FC236}">
                <a16:creationId xmlns:a16="http://schemas.microsoft.com/office/drawing/2014/main" id="{EDCFB9EC-35FD-4BAE-97AF-164C53EA256E}"/>
              </a:ext>
            </a:extLst>
          </p:cNvPr>
          <p:cNvSpPr>
            <a:spLocks noGrp="1"/>
          </p:cNvSpPr>
          <p:nvPr/>
        </p:nvSpPr>
        <p:spPr>
          <a:xfrm>
            <a:off x="4886325" y="4600575"/>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3</a:t>
            </a:r>
          </a:p>
        </p:txBody>
      </p:sp>
      <p:sp>
        <p:nvSpPr>
          <p:cNvPr id="20" name="detector-3">
            <a:extLst>
              <a:ext uri="{FF2B5EF4-FFF2-40B4-BE49-F238E27FC236}">
                <a16:creationId xmlns:a16="http://schemas.microsoft.com/office/drawing/2014/main" id="{502F6964-8F78-4A91-ADFC-CCCC36825147}"/>
              </a:ext>
            </a:extLst>
          </p:cNvPr>
          <p:cNvSpPr>
            <a:spLocks noGrp="1"/>
          </p:cNvSpPr>
          <p:nvPr/>
        </p:nvSpPr>
        <p:spPr>
          <a:xfrm>
            <a:off x="2619375" y="3048000"/>
            <a:ext cx="1809750" cy="704850"/>
          </a:xfrm>
          <a:prstGeom prst="roundRect">
            <a:avLst>
              <a:gd name="adj" fmla="val 10811"/>
            </a:avLst>
          </a:prstGeom>
          <a:solidFill>
            <a:srgbClr val="E7F3F3"/>
          </a:solidFill>
          <a:ln w="14288">
            <a:solidFill>
              <a:srgbClr val="006064"/>
            </a:solidFill>
            <a:prstDash val="solid"/>
          </a:ln>
        </p:spPr>
      </p:sp>
      <p:sp>
        <p:nvSpPr>
          <p:cNvPr id="21" name="detector-label-3">
            <a:extLst>
              <a:ext uri="{FF2B5EF4-FFF2-40B4-BE49-F238E27FC236}">
                <a16:creationId xmlns:a16="http://schemas.microsoft.com/office/drawing/2014/main" id="{DC9F22F1-521D-4551-B63D-EE6833BADB67}"/>
              </a:ext>
            </a:extLst>
          </p:cNvPr>
          <p:cNvSpPr>
            <a:spLocks noGrp="1"/>
          </p:cNvSpPr>
          <p:nvPr/>
        </p:nvSpPr>
        <p:spPr>
          <a:xfrm>
            <a:off x="2695575" y="3124200"/>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4</a:t>
            </a:r>
          </a:p>
        </p:txBody>
      </p:sp>
      <p:sp>
        <p:nvSpPr>
          <p:cNvPr id="22" name="scatter-arrows">
            <a:extLst>
              <a:ext uri="{FF2B5EF4-FFF2-40B4-BE49-F238E27FC236}">
                <a16:creationId xmlns:a16="http://schemas.microsoft.com/office/drawing/2014/main" id="{250B905D-A9BF-4A24-82D2-D29E8E2528E4}"/>
              </a:ext>
            </a:extLst>
          </p:cNvPr>
          <p:cNvSpPr>
            <a:spLocks noGrp="1"/>
          </p:cNvSpPr>
          <p:nvPr/>
        </p:nvSpPr>
        <p:spPr>
          <a:xfrm>
            <a:off x="3600450" y="2524125"/>
            <a:ext cx="4238625" cy="2190750"/>
          </a:xfrm>
          <a:prstGeom prst="rect">
            <a:avLst/>
          </a:prstGeom>
          <a:noFill/>
          <a:ln w="0">
            <a:noFill/>
            <a:prstDash val="solid"/>
          </a:ln>
        </p:spPr>
        <p:txBody>
          <a:bodyPr wrap="square" lIns="47625" tIns="38100" rIns="47625" bIns="38100" anchor="ctr">
            <a:noAutofit/>
          </a:bodyPr>
          <a:lstStyle/>
          <a:p>
            <a:pPr algn="ctr">
              <a:defRPr sz="3150" b="1">
                <a:solidFill>
                  <a:srgbClr val="52606D"/>
                </a:solidFill>
                <a:latin typeface="Calibri"/>
                <a:ea typeface="Calibri"/>
                <a:cs typeface="Calibri"/>
              </a:defRPr>
            </a:pPr>
            <a:r>
              <a:rPr sz="3150" b="1">
                <a:solidFill>
                  <a:srgbClr val="52606D"/>
                </a:solidFill>
                <a:latin typeface="Calibri"/>
                <a:ea typeface="Calibri"/>
                <a:cs typeface="Calibri"/>
              </a:rPr>
              <a:t>↖        ↗</a:t>
            </a:r>
          </a:p>
          <a:p>
            <a:endParaRPr sz="3150" b="1">
              <a:solidFill>
                <a:srgbClr val="52606D"/>
              </a:solidFill>
              <a:latin typeface="Calibri"/>
              <a:ea typeface="Calibri"/>
              <a:cs typeface="Calibri"/>
            </a:endParaRPr>
          </a:p>
          <a:p>
            <a:pPr algn="ctr">
              <a:defRPr sz="3150" b="1">
                <a:solidFill>
                  <a:srgbClr val="52606D"/>
                </a:solidFill>
                <a:latin typeface="Calibri"/>
                <a:ea typeface="Calibri"/>
                <a:cs typeface="Calibri"/>
              </a:defRPr>
            </a:pPr>
            <a:r>
              <a:rPr sz="3150" b="1">
                <a:solidFill>
                  <a:srgbClr val="52606D"/>
                </a:solidFill>
                <a:latin typeface="Calibri"/>
                <a:ea typeface="Calibri"/>
                <a:cs typeface="Calibri"/>
              </a:rPr>
              <a:t>↙        ↘</a:t>
            </a:r>
          </a:p>
        </p:txBody>
      </p:sp>
      <p:sp>
        <p:nvSpPr>
          <p:cNvPr id="23" name="section-Documented detector facts">
            <a:extLst>
              <a:ext uri="{FF2B5EF4-FFF2-40B4-BE49-F238E27FC236}">
                <a16:creationId xmlns:a16="http://schemas.microsoft.com/office/drawing/2014/main" id="{3F91ACB1-F32F-44CA-BA4F-E7111031688C}"/>
              </a:ext>
            </a:extLst>
          </p:cNvPr>
          <p:cNvSpPr>
            <a:spLocks noGrp="1"/>
          </p:cNvSpPr>
          <p:nvPr/>
        </p:nvSpPr>
        <p:spPr>
          <a:xfrm>
            <a:off x="8810625" y="1952625"/>
            <a:ext cx="257175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DOCUMENTED DETECTOR FACTS</a:t>
            </a:r>
          </a:p>
        </p:txBody>
      </p:sp>
      <p:sp>
        <p:nvSpPr>
          <p:cNvPr id="24" name="detector-facts">
            <a:extLst>
              <a:ext uri="{FF2B5EF4-FFF2-40B4-BE49-F238E27FC236}">
                <a16:creationId xmlns:a16="http://schemas.microsoft.com/office/drawing/2014/main" id="{E09C1EC0-CAA4-4C43-A046-83FB3A3566A3}"/>
              </a:ext>
            </a:extLst>
          </p:cNvPr>
          <p:cNvSpPr>
            <a:spLocks noGrp="1"/>
          </p:cNvSpPr>
          <p:nvPr/>
        </p:nvSpPr>
        <p:spPr>
          <a:xfrm>
            <a:off x="8810625" y="2333625"/>
            <a:ext cx="2667000" cy="2762250"/>
          </a:xfrm>
          <a:prstGeom prst="rect">
            <a:avLst/>
          </a:prstGeom>
          <a:noFill/>
          <a:ln w="0">
            <a:noFill/>
            <a:prstDash val="solid"/>
          </a:ln>
        </p:spPr>
        <p:txBody>
          <a:bodyPr wrap="square" lIns="47625" tIns="38100" rIns="47625" bIns="38100" anchor="t">
            <a:noAutofit/>
          </a:bodyPr>
          <a:lstStyle/>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Four position-sensitive proportional counters</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48 anode cells in total</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Thomson-scattering sensitivity</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Polarization produces a preferred azimuthal count pattern</a:t>
            </a:r>
          </a:p>
        </p:txBody>
      </p:sp>
      <p:sp>
        <p:nvSpPr>
          <p:cNvPr id="25" name="polix-principle">
            <a:extLst>
              <a:ext uri="{FF2B5EF4-FFF2-40B4-BE49-F238E27FC236}">
                <a16:creationId xmlns:a16="http://schemas.microsoft.com/office/drawing/2014/main" id="{7B134603-46EF-403D-84C1-808488CBEBC4}"/>
              </a:ext>
            </a:extLst>
          </p:cNvPr>
          <p:cNvSpPr>
            <a:spLocks noGrp="1"/>
          </p:cNvSpPr>
          <p:nvPr/>
        </p:nvSpPr>
        <p:spPr>
          <a:xfrm>
            <a:off x="1619250" y="5353050"/>
            <a:ext cx="8572500" cy="609600"/>
          </a:xfrm>
          <a:prstGeom prst="roundRect">
            <a:avLst>
              <a:gd name="adj" fmla="val 12500"/>
            </a:avLst>
          </a:prstGeom>
          <a:solidFill>
            <a:srgbClr val="EEF4FA"/>
          </a:solidFill>
          <a:ln w="13335">
            <a:solidFill>
              <a:srgbClr val="17365D"/>
            </a:solidFill>
            <a:prstDash val="solid"/>
          </a:ln>
        </p:spPr>
        <p:txBody>
          <a:bodyPr wrap="square" lIns="133350" tIns="95250" rIns="133350" bIns="95250" anchor="ctr">
            <a:no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The modulation pattern is evidence from which polarization information may be inferred after background treatment and calibration.</a:t>
            </a:r>
          </a:p>
        </p:txBody>
      </p:sp>
    </p:spTree>
    <p:extLst>
      <p:ext uri="{BB962C8B-B14F-4D97-AF65-F5344CB8AC3E}">
        <p14:creationId xmlns:p14="http://schemas.microsoft.com/office/powerpoint/2010/main" val="314350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One Observation Spans Multiple Products</a:t>
            </a:r>
          </a:p>
        </p:txBody>
      </p:sp>
      <p:sp>
        <p:nvSpPr>
          <p:cNvPr id="9" name="orange-rule-64-169">
            <a:extLst>
              <a:ext uri="{FF2B5EF4-FFF2-40B4-BE49-F238E27FC236}">
                <a16:creationId xmlns:a16="http://schemas.microsoft.com/office/drawing/2014/main" id="{84F39708-E004-43D6-9754-FDDA4BF3371B}"/>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5960FABB-D645-4A2F-898E-34E33EE86CBB}"/>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product-band-0">
            <a:extLst>
              <a:ext uri="{FF2B5EF4-FFF2-40B4-BE49-F238E27FC236}">
                <a16:creationId xmlns:a16="http://schemas.microsoft.com/office/drawing/2014/main" id="{FFAE1AD4-7553-41E4-BEE7-E97DDCC56ACE}"/>
              </a:ext>
            </a:extLst>
          </p:cNvPr>
          <p:cNvSpPr>
            <a:spLocks noGrp="1"/>
          </p:cNvSpPr>
          <p:nvPr/>
        </p:nvSpPr>
        <p:spPr>
          <a:xfrm>
            <a:off x="685800" y="1952625"/>
            <a:ext cx="5048250" cy="838200"/>
          </a:xfrm>
          <a:prstGeom prst="roundRect">
            <a:avLst>
              <a:gd name="adj" fmla="val 9091"/>
            </a:avLst>
          </a:prstGeom>
          <a:solidFill>
            <a:srgbClr val="F5F7F9"/>
          </a:solidFill>
          <a:ln w="11430">
            <a:solidFill>
              <a:srgbClr val="CBD5E1"/>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Exposure products</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Good-time and exposure context</a:t>
            </a:r>
          </a:p>
        </p:txBody>
      </p:sp>
      <p:sp>
        <p:nvSpPr>
          <p:cNvPr id="12" name="product-band-1">
            <a:extLst>
              <a:ext uri="{FF2B5EF4-FFF2-40B4-BE49-F238E27FC236}">
                <a16:creationId xmlns:a16="http://schemas.microsoft.com/office/drawing/2014/main" id="{84630ED1-BF9C-4880-AB9C-09D5BF6F5892}"/>
              </a:ext>
            </a:extLst>
          </p:cNvPr>
          <p:cNvSpPr>
            <a:spLocks noGrp="1"/>
          </p:cNvSpPr>
          <p:nvPr/>
        </p:nvSpPr>
        <p:spPr>
          <a:xfrm>
            <a:off x="6162675" y="1952625"/>
            <a:ext cx="5048250" cy="838200"/>
          </a:xfrm>
          <a:prstGeom prst="roundRect">
            <a:avLst>
              <a:gd name="adj" fmla="val 9091"/>
            </a:avLst>
          </a:prstGeom>
          <a:solidFill>
            <a:srgbClr val="F5F7F9"/>
          </a:solidFill>
          <a:ln w="11430">
            <a:solidFill>
              <a:srgbClr val="CBD5E1"/>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Energy–azimuth products</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Count distribution across energy and azimuth</a:t>
            </a:r>
          </a:p>
        </p:txBody>
      </p:sp>
      <p:sp>
        <p:nvSpPr>
          <p:cNvPr id="13" name="product-band-2">
            <a:extLst>
              <a:ext uri="{FF2B5EF4-FFF2-40B4-BE49-F238E27FC236}">
                <a16:creationId xmlns:a16="http://schemas.microsoft.com/office/drawing/2014/main" id="{5B33C4B6-9E5D-4042-98A1-75AAF3AFCC73}"/>
              </a:ext>
            </a:extLst>
          </p:cNvPr>
          <p:cNvSpPr>
            <a:spLocks noGrp="1"/>
          </p:cNvSpPr>
          <p:nvPr/>
        </p:nvSpPr>
        <p:spPr>
          <a:xfrm>
            <a:off x="685800" y="2981325"/>
            <a:ext cx="5048250" cy="838200"/>
          </a:xfrm>
          <a:prstGeom prst="roundRect">
            <a:avLst>
              <a:gd name="adj" fmla="val 9091"/>
            </a:avLst>
          </a:prstGeom>
          <a:solidFill>
            <a:srgbClr val="F5F7F9"/>
          </a:solidFill>
          <a:ln w="11430">
            <a:solidFill>
              <a:srgbClr val="CBD5E1"/>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Source azimuthal profiles</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Observation-level angular behaviour</a:t>
            </a:r>
          </a:p>
        </p:txBody>
      </p:sp>
      <p:sp>
        <p:nvSpPr>
          <p:cNvPr id="14" name="product-band-3">
            <a:extLst>
              <a:ext uri="{FF2B5EF4-FFF2-40B4-BE49-F238E27FC236}">
                <a16:creationId xmlns:a16="http://schemas.microsoft.com/office/drawing/2014/main" id="{6CEF3CAD-2461-4358-AC04-9BFF469DEB96}"/>
              </a:ext>
            </a:extLst>
          </p:cNvPr>
          <p:cNvSpPr>
            <a:spLocks noGrp="1"/>
          </p:cNvSpPr>
          <p:nvPr/>
        </p:nvSpPr>
        <p:spPr>
          <a:xfrm>
            <a:off x="6162675" y="2981325"/>
            <a:ext cx="5048250" cy="838200"/>
          </a:xfrm>
          <a:prstGeom prst="roundRect">
            <a:avLst>
              <a:gd name="adj" fmla="val 9091"/>
            </a:avLst>
          </a:prstGeom>
          <a:solidFill>
            <a:srgbClr val="F5F7F9"/>
          </a:solidFill>
          <a:ln w="11430">
            <a:solidFill>
              <a:srgbClr val="CBD5E1"/>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Source light curves</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Temporal variability</a:t>
            </a:r>
          </a:p>
        </p:txBody>
      </p:sp>
      <p:sp>
        <p:nvSpPr>
          <p:cNvPr id="15" name="product-band-4">
            <a:extLst>
              <a:ext uri="{FF2B5EF4-FFF2-40B4-BE49-F238E27FC236}">
                <a16:creationId xmlns:a16="http://schemas.microsoft.com/office/drawing/2014/main" id="{73D96F1F-C7AB-4926-AC40-B70A9C6E2AEC}"/>
              </a:ext>
            </a:extLst>
          </p:cNvPr>
          <p:cNvSpPr>
            <a:spLocks noGrp="1"/>
          </p:cNvSpPr>
          <p:nvPr/>
        </p:nvSpPr>
        <p:spPr>
          <a:xfrm>
            <a:off x="685800" y="4010025"/>
            <a:ext cx="5048250" cy="838200"/>
          </a:xfrm>
          <a:prstGeom prst="roundRect">
            <a:avLst>
              <a:gd name="adj" fmla="val 9091"/>
            </a:avLst>
          </a:prstGeom>
          <a:solidFill>
            <a:srgbClr val="F5F7F9"/>
          </a:solidFill>
          <a:ln w="11430">
            <a:solidFill>
              <a:srgbClr val="CBD5E1"/>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Detector-wise light curves / spectra</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Balance and detector-specific behaviour</a:t>
            </a:r>
          </a:p>
        </p:txBody>
      </p:sp>
      <p:sp>
        <p:nvSpPr>
          <p:cNvPr id="16" name="product-band-5">
            <a:extLst>
              <a:ext uri="{FF2B5EF4-FFF2-40B4-BE49-F238E27FC236}">
                <a16:creationId xmlns:a16="http://schemas.microsoft.com/office/drawing/2014/main" id="{A70D04A1-D85A-4780-87E8-4B2219ABA63F}"/>
              </a:ext>
            </a:extLst>
          </p:cNvPr>
          <p:cNvSpPr>
            <a:spLocks noGrp="1"/>
          </p:cNvSpPr>
          <p:nvPr/>
        </p:nvSpPr>
        <p:spPr>
          <a:xfrm>
            <a:off x="6162675" y="4010025"/>
            <a:ext cx="5048250" cy="838200"/>
          </a:xfrm>
          <a:prstGeom prst="roundRect">
            <a:avLst>
              <a:gd name="adj" fmla="val 9091"/>
            </a:avLst>
          </a:prstGeom>
          <a:solidFill>
            <a:srgbClr val="FFF0E5"/>
          </a:solidFill>
          <a:ln w="11430">
            <a:solidFill>
              <a:srgbClr val="D95F02"/>
            </a:solidFill>
            <a:prstDash val="solid"/>
          </a:ln>
        </p:spPr>
        <p:txBody>
          <a:bodyPr wrap="square" lIns="133350" tIns="95250" rIns="133350" bIns="95250" anchor="ctr">
            <a:noAutofit/>
          </a:bodyPr>
          <a:lstStyle/>
          <a:p>
            <a:pPr algn="l">
              <a:defRPr sz="1313">
                <a:solidFill>
                  <a:srgbClr val="17212B"/>
                </a:solidFill>
                <a:latin typeface="Calibri"/>
                <a:ea typeface="Calibri"/>
                <a:cs typeface="Calibri"/>
              </a:defRPr>
            </a:pPr>
            <a:r>
              <a:rPr sz="1313" b="1">
                <a:solidFill>
                  <a:srgbClr val="17212B"/>
                </a:solidFill>
                <a:latin typeface="Calibri"/>
                <a:ea typeface="Calibri"/>
                <a:cs typeface="Calibri"/>
              </a:rPr>
              <a:t>WeightedRoll modulation</a:t>
            </a:r>
          </a:p>
          <a:p>
            <a:pPr algn="l">
              <a:defRPr sz="1313">
                <a:solidFill>
                  <a:srgbClr val="17212B"/>
                </a:solidFill>
                <a:latin typeface="Calibri"/>
                <a:ea typeface="Calibri"/>
                <a:cs typeface="Calibri"/>
              </a:defRPr>
            </a:pPr>
            <a:r>
              <a:rPr sz="1313">
                <a:solidFill>
                  <a:srgbClr val="17212B"/>
                </a:solidFill>
                <a:latin typeface="Calibri"/>
                <a:ea typeface="Calibri"/>
                <a:cs typeface="Calibri"/>
              </a:rPr>
              <a:t>Physical-diagnostic product; source and background contributions</a:t>
            </a:r>
          </a:p>
        </p:txBody>
      </p:sp>
      <p:sp>
        <p:nvSpPr>
          <p:cNvPr id="17" name="multi-product">
            <a:extLst>
              <a:ext uri="{FF2B5EF4-FFF2-40B4-BE49-F238E27FC236}">
                <a16:creationId xmlns:a16="http://schemas.microsoft.com/office/drawing/2014/main" id="{A7DE6417-9345-41CC-BAC5-453E46E8C235}"/>
              </a:ext>
            </a:extLst>
          </p:cNvPr>
          <p:cNvSpPr>
            <a:spLocks noGrp="1"/>
          </p:cNvSpPr>
          <p:nvPr/>
        </p:nvSpPr>
        <p:spPr>
          <a:xfrm>
            <a:off x="762000" y="5334000"/>
            <a:ext cx="10668000" cy="762000"/>
          </a:xfrm>
          <a:prstGeom prst="roundRect">
            <a:avLst>
              <a:gd name="adj" fmla="val 10000"/>
            </a:avLst>
          </a:prstGeom>
          <a:solidFill>
            <a:srgbClr val="E7F3F3"/>
          </a:solidFill>
          <a:ln w="13335">
            <a:solidFill>
              <a:srgbClr val="006064"/>
            </a:solidFill>
            <a:prstDash val="solid"/>
          </a:ln>
        </p:spPr>
        <p:txBody>
          <a:bodyPr wrap="square" lIns="133350" tIns="95250" rIns="133350" bIns="95250" anchor="ctr">
            <a:noAutofit/>
          </a:bodyPr>
          <a:lstStyle/>
          <a:p>
            <a:pPr algn="ctr">
              <a:defRPr sz="1500" b="1">
                <a:solidFill>
                  <a:srgbClr val="006064"/>
                </a:solidFill>
                <a:latin typeface="Calibri"/>
                <a:ea typeface="Calibri"/>
                <a:cs typeface="Calibri"/>
              </a:defRPr>
            </a:pPr>
            <a:r>
              <a:rPr sz="1500" b="1">
                <a:solidFill>
                  <a:srgbClr val="006064"/>
                </a:solidFill>
                <a:latin typeface="Calibri"/>
                <a:ea typeface="Calibri"/>
                <a:cs typeface="Calibri"/>
              </a:rPr>
              <a:t>One observation must be interpreted across several heterogeneous products; unusual behaviour may arise from exposure, energy, timing, detector balance or azimuth.</a:t>
            </a:r>
          </a:p>
        </p:txBody>
      </p:sp>
      <p:sp>
        <p:nvSpPr>
          <p:cNvPr id="18" name="weighted-warning">
            <a:extLst>
              <a:ext uri="{FF2B5EF4-FFF2-40B4-BE49-F238E27FC236}">
                <a16:creationId xmlns:a16="http://schemas.microsoft.com/office/drawing/2014/main" id="{C2E069DF-42FD-4E4E-9EB8-0110C22FD405}"/>
              </a:ext>
            </a:extLst>
          </p:cNvPr>
          <p:cNvSpPr>
            <a:spLocks noGrp="1"/>
          </p:cNvSpPr>
          <p:nvPr/>
        </p:nvSpPr>
        <p:spPr>
          <a:xfrm>
            <a:off x="7000875" y="4933950"/>
            <a:ext cx="4286250" cy="323850"/>
          </a:xfrm>
          <a:prstGeom prst="rect">
            <a:avLst/>
          </a:prstGeom>
          <a:noFill/>
          <a:ln w="0">
            <a:noFill/>
            <a:prstDash val="solid"/>
          </a:ln>
        </p:spPr>
        <p:txBody>
          <a:bodyPr wrap="square" lIns="47625" tIns="38100" rIns="47625" bIns="38100" anchor="t">
            <a:noAutofit/>
          </a:bodyPr>
          <a:lstStyle/>
          <a:p>
            <a:pPr algn="r">
              <a:defRPr sz="1238" b="1">
                <a:solidFill>
                  <a:srgbClr val="A61B1B"/>
                </a:solidFill>
                <a:latin typeface="Calibri"/>
                <a:ea typeface="Calibri"/>
                <a:cs typeface="Calibri"/>
              </a:defRPr>
            </a:pPr>
            <a:r>
              <a:rPr sz="1238" b="1">
                <a:solidFill>
                  <a:srgbClr val="A61B1B"/>
                </a:solidFill>
                <a:latin typeface="Calibri"/>
                <a:ea typeface="Calibri"/>
                <a:cs typeface="Calibri"/>
              </a:rPr>
              <a:t>WeightedRoll is not presented as fully background-corrected.</a:t>
            </a:r>
          </a:p>
        </p:txBody>
      </p:sp>
    </p:spTree>
    <p:extLst>
      <p:ext uri="{BB962C8B-B14F-4D97-AF65-F5344CB8AC3E}">
        <p14:creationId xmlns:p14="http://schemas.microsoft.com/office/powerpoint/2010/main" val="3143505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14641E-B445-40C4-B19B-36F589BFBECC}"/>
              </a:ext>
            </a:extLst>
          </p:cNvPr>
          <p:cNvSpPr>
            <a:spLocks noGrp="1"/>
          </p:cNvSpPr>
          <p:nvPr>
            <p:ph type="title"/>
          </p:nvPr>
        </p:nvSpPr>
        <p:spPr>
          <a:xfrm>
            <a:off x="609600" y="235309"/>
            <a:ext cx="10972800" cy="1143000"/>
          </a:xfrm>
        </p:spPr>
        <p:txBody>
          <a:bodyPr/>
          <a:lstStyle/>
          <a:p>
            <a:r>
              <a:t>Research Problem, Aim and Objectives</a:t>
            </a:r>
          </a:p>
        </p:txBody>
      </p:sp>
      <p:sp>
        <p:nvSpPr>
          <p:cNvPr id="9" name="orange-rule-64-169">
            <a:extLst>
              <a:ext uri="{FF2B5EF4-FFF2-40B4-BE49-F238E27FC236}">
                <a16:creationId xmlns:a16="http://schemas.microsoft.com/office/drawing/2014/main" id="{B3906303-08AB-4D7E-A83B-4F94CC2C1D6A}"/>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C237943B-7BDD-4DBC-A0FA-C48150B73958}"/>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Formal problem">
            <a:extLst>
              <a:ext uri="{FF2B5EF4-FFF2-40B4-BE49-F238E27FC236}">
                <a16:creationId xmlns:a16="http://schemas.microsoft.com/office/drawing/2014/main" id="{D11326E7-9DE9-4310-A7FB-92C8B983E03E}"/>
              </a:ext>
            </a:extLst>
          </p:cNvPr>
          <p:cNvSpPr>
            <a:spLocks noGrp="1"/>
          </p:cNvSpPr>
          <p:nvPr/>
        </p:nvSpPr>
        <p:spPr>
          <a:xfrm>
            <a:off x="6858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FORMAL PROBLEM</a:t>
            </a:r>
          </a:p>
        </p:txBody>
      </p:sp>
      <p:sp>
        <p:nvSpPr>
          <p:cNvPr id="12" name="problem-statement">
            <a:extLst>
              <a:ext uri="{FF2B5EF4-FFF2-40B4-BE49-F238E27FC236}">
                <a16:creationId xmlns:a16="http://schemas.microsoft.com/office/drawing/2014/main" id="{E5E1CB07-F774-4628-8A8B-3B8F020912DB}"/>
              </a:ext>
            </a:extLst>
          </p:cNvPr>
          <p:cNvSpPr>
            <a:spLocks noGrp="1"/>
          </p:cNvSpPr>
          <p:nvPr/>
        </p:nvSpPr>
        <p:spPr>
          <a:xfrm>
            <a:off x="685800" y="2190750"/>
            <a:ext cx="4905375" cy="1476375"/>
          </a:xfrm>
          <a:prstGeom prst="rect">
            <a:avLst/>
          </a:prstGeom>
          <a:noFill/>
          <a:ln w="0">
            <a:noFill/>
            <a:prstDash val="solid"/>
          </a:ln>
        </p:spPr>
        <p:txBody>
          <a:bodyPr wrap="square" lIns="47625" tIns="38100" rIns="47625" bIns="38100" anchor="t">
            <a:noAutofit/>
          </a:bodyPr>
          <a:lstStyle/>
          <a:p>
            <a:pPr algn="l">
              <a:defRPr sz="1575" b="0">
                <a:solidFill>
                  <a:srgbClr val="17212B"/>
                </a:solidFill>
                <a:latin typeface="Calibri"/>
                <a:ea typeface="Calibri"/>
                <a:cs typeface="Calibri"/>
              </a:defRPr>
            </a:pPr>
            <a:r>
              <a:rPr sz="1575" b="0">
                <a:solidFill>
                  <a:srgbClr val="17212B"/>
                </a:solidFill>
                <a:latin typeface="Calibri"/>
                <a:ea typeface="Calibri"/>
                <a:cs typeface="Calibri"/>
              </a:rPr>
              <a:t>How can multiple POLIX Level-2 products be analysed automatically, without trusted anomaly labels, to identify unusual observations and explain the responsible features/products—while keeping physical modulation evidence separate and presenting results for researcher review?</a:t>
            </a:r>
          </a:p>
        </p:txBody>
      </p:sp>
      <p:sp>
        <p:nvSpPr>
          <p:cNvPr id="13" name="section-Aim">
            <a:extLst>
              <a:ext uri="{FF2B5EF4-FFF2-40B4-BE49-F238E27FC236}">
                <a16:creationId xmlns:a16="http://schemas.microsoft.com/office/drawing/2014/main" id="{C4A50C93-96AC-47E7-AC38-BBB912733C4C}"/>
              </a:ext>
            </a:extLst>
          </p:cNvPr>
          <p:cNvSpPr>
            <a:spLocks noGrp="1"/>
          </p:cNvSpPr>
          <p:nvPr/>
        </p:nvSpPr>
        <p:spPr>
          <a:xfrm>
            <a:off x="60960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AIM</a:t>
            </a:r>
          </a:p>
        </p:txBody>
      </p:sp>
      <p:sp>
        <p:nvSpPr>
          <p:cNvPr id="14" name="aim-statement">
            <a:extLst>
              <a:ext uri="{FF2B5EF4-FFF2-40B4-BE49-F238E27FC236}">
                <a16:creationId xmlns:a16="http://schemas.microsoft.com/office/drawing/2014/main" id="{15F024FB-48AE-4088-BD95-E8F2BB49BFA0}"/>
              </a:ext>
            </a:extLst>
          </p:cNvPr>
          <p:cNvSpPr>
            <a:spLocks noGrp="1"/>
          </p:cNvSpPr>
          <p:nvPr/>
        </p:nvSpPr>
        <p:spPr>
          <a:xfrm>
            <a:off x="6096000" y="2190750"/>
            <a:ext cx="4953000" cy="1476375"/>
          </a:xfrm>
          <a:prstGeom prst="rect">
            <a:avLst/>
          </a:prstGeom>
          <a:noFill/>
          <a:ln w="0">
            <a:noFill/>
            <a:prstDash val="solid"/>
          </a:ln>
        </p:spPr>
        <p:txBody>
          <a:bodyPr wrap="square" lIns="47625" tIns="38100" rIns="47625" bIns="38100" anchor="ctr">
            <a:noAutofit/>
          </a:bodyPr>
          <a:lstStyle/>
          <a:p>
            <a:pPr algn="l">
              <a:defRPr sz="1650" b="1">
                <a:solidFill>
                  <a:srgbClr val="17365D"/>
                </a:solidFill>
                <a:latin typeface="Calibri"/>
                <a:ea typeface="Calibri"/>
                <a:cs typeface="Calibri"/>
              </a:defRPr>
            </a:pPr>
            <a:r>
              <a:rPr sz="1650" b="1">
                <a:solidFill>
                  <a:srgbClr val="17365D"/>
                </a:solidFill>
                <a:latin typeface="Calibri"/>
                <a:ea typeface="Calibri"/>
                <a:cs typeface="Calibri"/>
              </a:rPr>
              <a:t>The project aims to develop an explainable, unsupervised framework for screening POLIX Level-2 observations and supporting cautious, traceable scientific interpretation.</a:t>
            </a:r>
          </a:p>
        </p:txBody>
      </p:sp>
      <p:sp>
        <p:nvSpPr>
          <p:cNvPr id="15" name="objective-rule">
            <a:extLst>
              <a:ext uri="{FF2B5EF4-FFF2-40B4-BE49-F238E27FC236}">
                <a16:creationId xmlns:a16="http://schemas.microsoft.com/office/drawing/2014/main" id="{0F3FB5FF-256A-4997-973E-823E622CF651}"/>
              </a:ext>
            </a:extLst>
          </p:cNvPr>
          <p:cNvSpPr>
            <a:spLocks noGrp="1"/>
          </p:cNvSpPr>
          <p:nvPr/>
        </p:nvSpPr>
        <p:spPr>
          <a:xfrm>
            <a:off x="685800" y="3857625"/>
            <a:ext cx="10363200" cy="19050"/>
          </a:xfrm>
          <a:prstGeom prst="rect">
            <a:avLst/>
          </a:prstGeom>
          <a:solidFill>
            <a:srgbClr val="CBD5E1"/>
          </a:solidFill>
          <a:ln w="0">
            <a:noFill/>
            <a:prstDash val="solid"/>
          </a:ln>
        </p:spPr>
      </p:sp>
      <p:sp>
        <p:nvSpPr>
          <p:cNvPr id="16" name="section-Proposed objectives">
            <a:extLst>
              <a:ext uri="{FF2B5EF4-FFF2-40B4-BE49-F238E27FC236}">
                <a16:creationId xmlns:a16="http://schemas.microsoft.com/office/drawing/2014/main" id="{8ABC7757-0228-4233-93E6-1533F6F5A095}"/>
              </a:ext>
            </a:extLst>
          </p:cNvPr>
          <p:cNvSpPr>
            <a:spLocks noGrp="1"/>
          </p:cNvSpPr>
          <p:nvPr/>
        </p:nvSpPr>
        <p:spPr>
          <a:xfrm>
            <a:off x="685800" y="4000500"/>
            <a:ext cx="103632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PROPOSED OBJECTIVES</a:t>
            </a:r>
          </a:p>
        </p:txBody>
      </p:sp>
      <p:sp>
        <p:nvSpPr>
          <p:cNvPr id="17" name="objectives-left">
            <a:extLst>
              <a:ext uri="{FF2B5EF4-FFF2-40B4-BE49-F238E27FC236}">
                <a16:creationId xmlns:a16="http://schemas.microsoft.com/office/drawing/2014/main" id="{6AA22F2D-9E95-4DE7-BE5E-72F5ACCB85FE}"/>
              </a:ext>
            </a:extLst>
          </p:cNvPr>
          <p:cNvSpPr>
            <a:spLocks noGrp="1"/>
          </p:cNvSpPr>
          <p:nvPr/>
        </p:nvSpPr>
        <p:spPr>
          <a:xfrm>
            <a:off x="781050" y="4362450"/>
            <a:ext cx="5000625" cy="1524000"/>
          </a:xfrm>
          <a:prstGeom prst="rect">
            <a:avLst/>
          </a:prstGeom>
          <a:noFill/>
          <a:ln w="0">
            <a:noFill/>
            <a:prstDash val="solid"/>
          </a:ln>
        </p:spPr>
        <p:txBody>
          <a:bodyPr wrap="square" lIns="47625" tIns="38100" rIns="47625" bIns="38100" anchor="t">
            <a:noAutofit/>
          </a:bodyPr>
          <a:lstStyle/>
          <a:p>
            <a:pPr algn="l">
              <a:defRPr sz="1388" b="0">
                <a:solidFill>
                  <a:srgbClr val="17212B"/>
                </a:solidFill>
                <a:latin typeface="Calibri"/>
                <a:ea typeface="Calibri"/>
                <a:cs typeface="Calibri"/>
              </a:defRPr>
            </a:pPr>
            <a:r>
              <a:rPr sz="1388" b="0">
                <a:solidFill>
                  <a:srgbClr val="17212B"/>
                </a:solidFill>
                <a:latin typeface="Calibri"/>
                <a:ea typeface="Calibri"/>
                <a:cs typeface="Calibri"/>
              </a:rPr>
              <a:t>1  Study XPoSat/POLIX and Level-2 FITS structure</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2  Define scientifically meaningful features</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3  Compare source and blank-sky observations</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4  Apply PCA and clustering where justified</a:t>
            </a:r>
          </a:p>
        </p:txBody>
      </p:sp>
      <p:sp>
        <p:nvSpPr>
          <p:cNvPr id="18" name="objectives-right">
            <a:extLst>
              <a:ext uri="{FF2B5EF4-FFF2-40B4-BE49-F238E27FC236}">
                <a16:creationId xmlns:a16="http://schemas.microsoft.com/office/drawing/2014/main" id="{0E0109BD-D045-4065-9550-10DBFC9940CE}"/>
              </a:ext>
            </a:extLst>
          </p:cNvPr>
          <p:cNvSpPr>
            <a:spLocks noGrp="1"/>
          </p:cNvSpPr>
          <p:nvPr/>
        </p:nvSpPr>
        <p:spPr>
          <a:xfrm>
            <a:off x="6238875" y="4362450"/>
            <a:ext cx="4953000" cy="1524000"/>
          </a:xfrm>
          <a:prstGeom prst="rect">
            <a:avLst/>
          </a:prstGeom>
          <a:noFill/>
          <a:ln w="0">
            <a:noFill/>
            <a:prstDash val="solid"/>
          </a:ln>
        </p:spPr>
        <p:txBody>
          <a:bodyPr wrap="square" lIns="47625" tIns="38100" rIns="47625" bIns="38100" anchor="t">
            <a:noAutofit/>
          </a:bodyPr>
          <a:lstStyle/>
          <a:p>
            <a:pPr algn="l">
              <a:defRPr sz="1388" b="0">
                <a:solidFill>
                  <a:srgbClr val="17212B"/>
                </a:solidFill>
                <a:latin typeface="Calibri"/>
                <a:ea typeface="Calibri"/>
                <a:cs typeface="Calibri"/>
              </a:defRPr>
            </a:pPr>
            <a:r>
              <a:rPr sz="1388" b="0">
                <a:solidFill>
                  <a:srgbClr val="17212B"/>
                </a:solidFill>
                <a:latin typeface="Calibri"/>
                <a:ea typeface="Calibri"/>
                <a:cs typeface="Calibri"/>
              </a:rPr>
              <a:t>5  Rank unusual observations with unsupervised detection</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6  Explain evidence at feature and product level</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7  Treat WeightedRoll as an independent diagnostic</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8  Provide an accessible researcher-oriented interface</a:t>
            </a:r>
          </a:p>
        </p:txBody>
      </p:sp>
    </p:spTree>
    <p:extLst>
      <p:ext uri="{BB962C8B-B14F-4D97-AF65-F5344CB8AC3E}">
        <p14:creationId xmlns:p14="http://schemas.microsoft.com/office/powerpoint/2010/main" val="266590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17A6AF5-0F7B-2072-C4EB-1E602FEB4A7B}"/>
              </a:ext>
            </a:extLst>
          </p:cNvPr>
          <p:cNvSpPr>
            <a:spLocks noGrp="1"/>
          </p:cNvSpPr>
          <p:nvPr>
            <p:ph type="title"/>
          </p:nvPr>
        </p:nvSpPr>
        <p:spPr>
          <a:xfrm>
            <a:off x="609600" y="235309"/>
            <a:ext cx="10972800" cy="1143000"/>
          </a:xfrm>
        </p:spPr>
        <p:txBody>
          <a:bodyPr/>
          <a:lstStyle/>
          <a:p>
            <a:r>
              <a:t>Early Base Papers Shaped the Question</a:t>
            </a:r>
          </a:p>
        </p:txBody>
      </p:sp>
      <p:sp>
        <p:nvSpPr>
          <p:cNvPr id="9" name="orange-rule-64-169">
            <a:extLst>
              <a:ext uri="{FF2B5EF4-FFF2-40B4-BE49-F238E27FC236}">
                <a16:creationId xmlns:a16="http://schemas.microsoft.com/office/drawing/2014/main" id="{540F2470-D4E8-4CCB-A33F-AE6F4937D9E9}"/>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1DE8057C-7094-4776-8F85-FF02AE208ACD}"/>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Original starting references">
            <a:extLst>
              <a:ext uri="{FF2B5EF4-FFF2-40B4-BE49-F238E27FC236}">
                <a16:creationId xmlns:a16="http://schemas.microsoft.com/office/drawing/2014/main" id="{6F2F53BF-866A-4557-A951-91B8F499D6B8}"/>
              </a:ext>
            </a:extLst>
          </p:cNvPr>
          <p:cNvSpPr>
            <a:spLocks noGrp="1"/>
          </p:cNvSpPr>
          <p:nvPr/>
        </p:nvSpPr>
        <p:spPr>
          <a:xfrm>
            <a:off x="685800" y="1857375"/>
            <a:ext cx="5334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ORIGINAL STARTING REFERENCES</a:t>
            </a:r>
          </a:p>
        </p:txBody>
      </p:sp>
      <p:sp>
        <p:nvSpPr>
          <p:cNvPr id="12" name="paper1-frame">
            <a:extLst>
              <a:ext uri="{FF2B5EF4-FFF2-40B4-BE49-F238E27FC236}">
                <a16:creationId xmlns:a16="http://schemas.microsoft.com/office/drawing/2014/main" id="{44AC3E84-5B3D-4CA5-81B8-DACC60002154}"/>
              </a:ext>
            </a:extLst>
          </p:cNvPr>
          <p:cNvSpPr>
            <a:spLocks noGrp="1"/>
          </p:cNvSpPr>
          <p:nvPr/>
        </p:nvSpPr>
        <p:spPr>
          <a:xfrm>
            <a:off x="685800" y="2238375"/>
            <a:ext cx="2238375" cy="2762250"/>
          </a:xfrm>
          <a:prstGeom prst="rect">
            <a:avLst/>
          </a:prstGeom>
          <a:noFill/>
          <a:ln w="9525">
            <a:solidFill>
              <a:srgbClr val="CBD5E1"/>
            </a:solidFill>
            <a:prstDash val="solid"/>
          </a:ln>
        </p:spPr>
      </p:sp>
      <p:pic>
        <p:nvPicPr>
          <p:cNvPr id="28" name="Picture 27"/>
          <p:cNvPicPr>
            <a:picLocks noChangeAspect="1"/>
          </p:cNvPicPr>
          <p:nvPr/>
        </p:nvPicPr>
        <p:blipFill>
          <a:blip r:embed="rId3"/>
          <a:stretch/>
        </p:blipFill>
        <p:spPr>
          <a:xfrm>
            <a:off x="781916" y="2295525"/>
            <a:ext cx="2046143" cy="2647950"/>
          </a:xfrm>
          <a:prstGeom prst="rect">
            <a:avLst/>
          </a:prstGeom>
        </p:spPr>
      </p:pic>
      <p:sp>
        <p:nvSpPr>
          <p:cNvPr id="14" name="paper2-frame">
            <a:extLst>
              <a:ext uri="{FF2B5EF4-FFF2-40B4-BE49-F238E27FC236}">
                <a16:creationId xmlns:a16="http://schemas.microsoft.com/office/drawing/2014/main" id="{CCF6E2F9-2A4F-4442-A6A0-2C896F6E272C}"/>
              </a:ext>
            </a:extLst>
          </p:cNvPr>
          <p:cNvSpPr>
            <a:spLocks noGrp="1"/>
          </p:cNvSpPr>
          <p:nvPr/>
        </p:nvSpPr>
        <p:spPr>
          <a:xfrm>
            <a:off x="3238500" y="2238375"/>
            <a:ext cx="2238375" cy="2762250"/>
          </a:xfrm>
          <a:prstGeom prst="rect">
            <a:avLst/>
          </a:prstGeom>
          <a:noFill/>
          <a:ln w="9525">
            <a:solidFill>
              <a:srgbClr val="CBD5E1"/>
            </a:solidFill>
            <a:prstDash val="solid"/>
          </a:ln>
        </p:spPr>
      </p:sp>
      <p:pic>
        <p:nvPicPr>
          <p:cNvPr id="30" name="Picture 29"/>
          <p:cNvPicPr>
            <a:picLocks noChangeAspect="1"/>
          </p:cNvPicPr>
          <p:nvPr/>
        </p:nvPicPr>
        <p:blipFill>
          <a:blip r:embed="rId4"/>
          <a:stretch/>
        </p:blipFill>
        <p:spPr>
          <a:xfrm>
            <a:off x="3349476" y="2295525"/>
            <a:ext cx="2016422" cy="2647950"/>
          </a:xfrm>
          <a:prstGeom prst="rect">
            <a:avLst/>
          </a:prstGeom>
        </p:spPr>
      </p:pic>
      <p:sp>
        <p:nvSpPr>
          <p:cNvPr id="16" name="paper1-caption">
            <a:extLst>
              <a:ext uri="{FF2B5EF4-FFF2-40B4-BE49-F238E27FC236}">
                <a16:creationId xmlns:a16="http://schemas.microsoft.com/office/drawing/2014/main" id="{4D562EA6-1C65-487E-B6C7-B7A01FA49402}"/>
              </a:ext>
            </a:extLst>
          </p:cNvPr>
          <p:cNvSpPr>
            <a:spLocks noGrp="1"/>
          </p:cNvSpPr>
          <p:nvPr/>
        </p:nvSpPr>
        <p:spPr>
          <a:xfrm>
            <a:off x="647700" y="5067300"/>
            <a:ext cx="2333625" cy="590550"/>
          </a:xfrm>
          <a:prstGeom prst="rect">
            <a:avLst/>
          </a:prstGeom>
          <a:noFill/>
          <a:ln w="0">
            <a:noFill/>
            <a:prstDash val="solid"/>
          </a:ln>
        </p:spPr>
        <p:txBody>
          <a:bodyPr wrap="square" lIns="47625" tIns="38100" rIns="47625" bIns="38100" anchor="t">
            <a:no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Kumaran et al. (2026 preprint)</a:t>
            </a:r>
          </a:p>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Explainable Chandra source classification</a:t>
            </a:r>
          </a:p>
        </p:txBody>
      </p:sp>
      <p:sp>
        <p:nvSpPr>
          <p:cNvPr id="17" name="paper2-caption">
            <a:extLst>
              <a:ext uri="{FF2B5EF4-FFF2-40B4-BE49-F238E27FC236}">
                <a16:creationId xmlns:a16="http://schemas.microsoft.com/office/drawing/2014/main" id="{9F54E88F-5176-4F8A-8822-930ED72689BB}"/>
              </a:ext>
            </a:extLst>
          </p:cNvPr>
          <p:cNvSpPr>
            <a:spLocks noGrp="1"/>
          </p:cNvSpPr>
          <p:nvPr/>
        </p:nvSpPr>
        <p:spPr>
          <a:xfrm>
            <a:off x="3181350" y="5067300"/>
            <a:ext cx="2381250" cy="590550"/>
          </a:xfrm>
          <a:prstGeom prst="rect">
            <a:avLst/>
          </a:prstGeom>
          <a:noFill/>
          <a:ln w="0">
            <a:noFill/>
            <a:prstDash val="solid"/>
          </a:ln>
        </p:spPr>
        <p:txBody>
          <a:bodyPr wrap="square" lIns="47625" tIns="38100" rIns="47625" bIns="38100" anchor="t">
            <a:no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Pérez-Díaz et al. (2024)</a:t>
            </a:r>
          </a:p>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Unsupervised Chandra source classification</a:t>
            </a:r>
          </a:p>
        </p:txBody>
      </p:sp>
      <p:sp>
        <p:nvSpPr>
          <p:cNvPr id="18" name="divider-620">
            <a:extLst>
              <a:ext uri="{FF2B5EF4-FFF2-40B4-BE49-F238E27FC236}">
                <a16:creationId xmlns:a16="http://schemas.microsoft.com/office/drawing/2014/main" id="{30278245-1ABB-423D-90BF-18BF93D2BDAA}"/>
              </a:ext>
            </a:extLst>
          </p:cNvPr>
          <p:cNvSpPr>
            <a:spLocks noGrp="1"/>
          </p:cNvSpPr>
          <p:nvPr/>
        </p:nvSpPr>
        <p:spPr>
          <a:xfrm>
            <a:off x="5905500" y="1952625"/>
            <a:ext cx="14288" cy="3905250"/>
          </a:xfrm>
          <a:prstGeom prst="rect">
            <a:avLst/>
          </a:prstGeom>
          <a:solidFill>
            <a:srgbClr val="CBD5E1"/>
          </a:solidFill>
          <a:ln w="0">
            <a:noFill/>
            <a:prstDash val="solid"/>
          </a:ln>
        </p:spPr>
      </p:sp>
      <p:sp>
        <p:nvSpPr>
          <p:cNvPr id="19" name="section-What was adapted">
            <a:extLst>
              <a:ext uri="{FF2B5EF4-FFF2-40B4-BE49-F238E27FC236}">
                <a16:creationId xmlns:a16="http://schemas.microsoft.com/office/drawing/2014/main" id="{B5170080-127A-476B-A22F-999ACB30FE39}"/>
              </a:ext>
            </a:extLst>
          </p:cNvPr>
          <p:cNvSpPr>
            <a:spLocks noGrp="1"/>
          </p:cNvSpPr>
          <p:nvPr/>
        </p:nvSpPr>
        <p:spPr>
          <a:xfrm>
            <a:off x="6286500" y="1952625"/>
            <a:ext cx="47625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WHAT WAS ADAPTED</a:t>
            </a:r>
          </a:p>
        </p:txBody>
      </p:sp>
      <p:sp>
        <p:nvSpPr>
          <p:cNvPr id="20" name="adapted-ideas">
            <a:extLst>
              <a:ext uri="{FF2B5EF4-FFF2-40B4-BE49-F238E27FC236}">
                <a16:creationId xmlns:a16="http://schemas.microsoft.com/office/drawing/2014/main" id="{84DFCC44-FB02-49BB-A37C-03C9E928F2BE}"/>
              </a:ext>
            </a:extLst>
          </p:cNvPr>
          <p:cNvSpPr>
            <a:spLocks noGrp="1"/>
          </p:cNvSpPr>
          <p:nvPr/>
        </p:nvSpPr>
        <p:spPr>
          <a:xfrm>
            <a:off x="6286500" y="2305050"/>
            <a:ext cx="4762500" cy="1952625"/>
          </a:xfrm>
          <a:prstGeom prst="rect">
            <a:avLst/>
          </a:prstGeom>
          <a:noFill/>
          <a:ln w="0">
            <a:noFill/>
            <a:prstDash val="solid"/>
          </a:ln>
        </p:spPr>
        <p:txBody>
          <a:bodyPr wrap="square" lIns="47625" tIns="38100" rIns="47625" bIns="38100" anchor="t">
            <a:noAutofit/>
          </a:bodyPr>
          <a:lstStyle/>
          <a:p>
            <a:pPr algn="l">
              <a:defRPr sz="1425" b="0">
                <a:solidFill>
                  <a:srgbClr val="17212B"/>
                </a:solidFill>
                <a:latin typeface="Calibri"/>
                <a:ea typeface="Calibri"/>
                <a:cs typeface="Calibri"/>
              </a:defRPr>
            </a:pPr>
            <a:r>
              <a:rPr sz="1425" b="0">
                <a:solidFill>
                  <a:srgbClr val="17212B"/>
                </a:solidFill>
                <a:latin typeface="Calibri"/>
                <a:ea typeface="Calibri"/>
                <a:cs typeface="Calibri"/>
              </a:rPr>
              <a:t>• Astronomy can benefit from automated analysis of high-dimensional X-ray data</a:t>
            </a:r>
          </a:p>
          <a:p>
            <a:endParaRPr sz="1425" b="0">
              <a:solidFill>
                <a:srgbClr val="17212B"/>
              </a:solidFill>
              <a:latin typeface="Calibri"/>
              <a:ea typeface="Calibri"/>
              <a:cs typeface="Calibri"/>
            </a:endParaRPr>
          </a:p>
          <a:p>
            <a:pPr algn="l">
              <a:defRPr sz="1425" b="0">
                <a:solidFill>
                  <a:srgbClr val="17212B"/>
                </a:solidFill>
                <a:latin typeface="Calibri"/>
                <a:ea typeface="Calibri"/>
                <a:cs typeface="Calibri"/>
              </a:defRPr>
            </a:pPr>
            <a:r>
              <a:rPr sz="1425" b="0">
                <a:solidFill>
                  <a:srgbClr val="17212B"/>
                </a:solidFill>
                <a:latin typeface="Calibri"/>
                <a:ea typeface="Calibri"/>
                <a:cs typeface="Calibri"/>
              </a:rPr>
              <a:t>• Interpretability is necessary for scientific trust</a:t>
            </a:r>
          </a:p>
          <a:p>
            <a:endParaRPr sz="1425" b="0">
              <a:solidFill>
                <a:srgbClr val="17212B"/>
              </a:solidFill>
              <a:latin typeface="Calibri"/>
              <a:ea typeface="Calibri"/>
              <a:cs typeface="Calibri"/>
            </a:endParaRPr>
          </a:p>
          <a:p>
            <a:pPr algn="l">
              <a:defRPr sz="1425" b="0">
                <a:solidFill>
                  <a:srgbClr val="17212B"/>
                </a:solidFill>
                <a:latin typeface="Calibri"/>
                <a:ea typeface="Calibri"/>
                <a:cs typeface="Calibri"/>
              </a:defRPr>
            </a:pPr>
            <a:r>
              <a:rPr sz="1425" b="0">
                <a:solidFill>
                  <a:srgbClr val="17212B"/>
                </a:solidFill>
                <a:latin typeface="Calibri"/>
                <a:ea typeface="Calibri"/>
                <a:cs typeface="Calibri"/>
              </a:rPr>
              <a:t>• Unsupervised feature-space structure is useful when labels are limited</a:t>
            </a:r>
          </a:p>
          <a:p>
            <a:endParaRPr sz="1425" b="0">
              <a:solidFill>
                <a:srgbClr val="17212B"/>
              </a:solidFill>
              <a:latin typeface="Calibri"/>
              <a:ea typeface="Calibri"/>
              <a:cs typeface="Calibri"/>
            </a:endParaRPr>
          </a:p>
          <a:p>
            <a:pPr algn="l">
              <a:defRPr sz="1425" b="0">
                <a:solidFill>
                  <a:srgbClr val="17212B"/>
                </a:solidFill>
                <a:latin typeface="Calibri"/>
                <a:ea typeface="Calibri"/>
                <a:cs typeface="Calibri"/>
              </a:defRPr>
            </a:pPr>
            <a:r>
              <a:rPr sz="1425" b="0">
                <a:solidFill>
                  <a:srgbClr val="17212B"/>
                </a:solidFill>
                <a:latin typeface="Calibri"/>
                <a:ea typeface="Calibri"/>
                <a:cs typeface="Calibri"/>
              </a:rPr>
              <a:t>• Results must be checked against astrophysical expectations</a:t>
            </a:r>
          </a:p>
        </p:txBody>
      </p:sp>
      <p:sp>
        <p:nvSpPr>
          <p:cNvPr id="21" name="section-What the project does not adopt">
            <a:extLst>
              <a:ext uri="{FF2B5EF4-FFF2-40B4-BE49-F238E27FC236}">
                <a16:creationId xmlns:a16="http://schemas.microsoft.com/office/drawing/2014/main" id="{09C5B0F5-82A2-4104-854F-F61287E3EA79}"/>
              </a:ext>
            </a:extLst>
          </p:cNvPr>
          <p:cNvSpPr>
            <a:spLocks noGrp="1"/>
          </p:cNvSpPr>
          <p:nvPr/>
        </p:nvSpPr>
        <p:spPr>
          <a:xfrm>
            <a:off x="6286500" y="4400550"/>
            <a:ext cx="476250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WHAT THE PROJECT DOES NOT ADOPT</a:t>
            </a:r>
          </a:p>
        </p:txBody>
      </p:sp>
      <p:sp>
        <p:nvSpPr>
          <p:cNvPr id="22" name="not-adopted">
            <a:extLst>
              <a:ext uri="{FF2B5EF4-FFF2-40B4-BE49-F238E27FC236}">
                <a16:creationId xmlns:a16="http://schemas.microsoft.com/office/drawing/2014/main" id="{8B6F1301-2A78-4CE2-8FD4-9EF19D1C4567}"/>
              </a:ext>
            </a:extLst>
          </p:cNvPr>
          <p:cNvSpPr>
            <a:spLocks noGrp="1"/>
          </p:cNvSpPr>
          <p:nvPr/>
        </p:nvSpPr>
        <p:spPr>
          <a:xfrm>
            <a:off x="6286500" y="4762500"/>
            <a:ext cx="4762500" cy="971550"/>
          </a:xfrm>
          <a:prstGeom prst="rect">
            <a:avLst/>
          </a:prstGeom>
          <a:noFill/>
          <a:ln w="0">
            <a:noFill/>
            <a:prstDash val="solid"/>
          </a:ln>
        </p:spPr>
        <p:txBody>
          <a:bodyPr wrap="square" lIns="47625" tIns="38100" rIns="47625" bIns="38100" anchor="ctr">
            <a:noAutofit/>
          </a:bodyPr>
          <a:lstStyle/>
          <a:p>
            <a:pPr algn="l">
              <a:defRPr sz="1425" b="1">
                <a:solidFill>
                  <a:srgbClr val="A61B1B"/>
                </a:solidFill>
                <a:latin typeface="Calibri"/>
                <a:ea typeface="Calibri"/>
                <a:cs typeface="Calibri"/>
              </a:defRPr>
            </a:pPr>
            <a:r>
              <a:rPr sz="1425" b="1">
                <a:solidFill>
                  <a:srgbClr val="A61B1B"/>
                </a:solidFill>
                <a:latin typeface="Calibri"/>
                <a:ea typeface="Calibri"/>
                <a:cs typeface="Calibri"/>
              </a:rPr>
              <a:t>No source classification • no LightGBM • no SHAP • no class probabilities. The proposed task is observation-level anomaly screening across POLIX products.</a:t>
            </a:r>
          </a:p>
        </p:txBody>
      </p:sp>
    </p:spTree>
    <p:extLst>
      <p:ext uri="{BB962C8B-B14F-4D97-AF65-F5344CB8AC3E}">
        <p14:creationId xmlns:p14="http://schemas.microsoft.com/office/powerpoint/2010/main" val="631771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17A6AF5-0F7B-2072-C4EB-1E602FEB4A7B}"/>
              </a:ext>
            </a:extLst>
          </p:cNvPr>
          <p:cNvSpPr>
            <a:spLocks noGrp="1"/>
          </p:cNvSpPr>
          <p:nvPr>
            <p:ph type="title"/>
          </p:nvPr>
        </p:nvSpPr>
        <p:spPr>
          <a:xfrm>
            <a:off x="609600" y="235309"/>
            <a:ext cx="10972800" cy="1143000"/>
          </a:xfrm>
        </p:spPr>
        <p:txBody>
          <a:bodyPr/>
          <a:lstStyle/>
          <a:p>
            <a:r>
              <a:t>The Evolved Study Needs a Base-Source Set</a:t>
            </a:r>
          </a:p>
        </p:txBody>
      </p:sp>
      <p:sp>
        <p:nvSpPr>
          <p:cNvPr id="9" name="orange-rule-64-169">
            <a:extLst>
              <a:ext uri="{FF2B5EF4-FFF2-40B4-BE49-F238E27FC236}">
                <a16:creationId xmlns:a16="http://schemas.microsoft.com/office/drawing/2014/main" id="{ADA0E299-25E8-4FB8-B73A-44ECD10FEE3D}"/>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8792764E-02ED-4A5A-A8E7-C316F410DE48}"/>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combined-base">
            <a:extLst>
              <a:ext uri="{FF2B5EF4-FFF2-40B4-BE49-F238E27FC236}">
                <a16:creationId xmlns:a16="http://schemas.microsoft.com/office/drawing/2014/main" id="{47C05AFF-0F4A-4658-BBBE-EBFD7DCC228C}"/>
              </a:ext>
            </a:extLst>
          </p:cNvPr>
          <p:cNvSpPr>
            <a:spLocks noGrp="1"/>
          </p:cNvSpPr>
          <p:nvPr/>
        </p:nvSpPr>
        <p:spPr>
          <a:xfrm>
            <a:off x="1381125" y="1828800"/>
            <a:ext cx="9429750" cy="619125"/>
          </a:xfrm>
          <a:prstGeom prst="roundRect">
            <a:avLst>
              <a:gd name="adj" fmla="val 12308"/>
            </a:avLst>
          </a:prstGeom>
          <a:solidFill>
            <a:srgbClr val="EEF4FA"/>
          </a:solidFill>
          <a:ln w="13335">
            <a:solidFill>
              <a:srgbClr val="17365D"/>
            </a:solidFill>
            <a:prstDash val="solid"/>
          </a:ln>
        </p:spPr>
        <p:txBody>
          <a:bodyPr wrap="square" lIns="133350" tIns="95250" rIns="133350" bIns="95250" anchor="ctr">
            <a:noAutofit/>
          </a:bodyPr>
          <a:lstStyle/>
          <a:p>
            <a:pPr algn="ctr">
              <a:defRPr sz="1500" b="1">
                <a:solidFill>
                  <a:srgbClr val="17365D"/>
                </a:solidFill>
                <a:latin typeface="Calibri"/>
                <a:ea typeface="Calibri"/>
                <a:cs typeface="Calibri"/>
              </a:defRPr>
            </a:pPr>
            <a:r>
              <a:rPr sz="1500" b="1">
                <a:solidFill>
                  <a:srgbClr val="17365D"/>
                </a:solidFill>
                <a:latin typeface="Calibri"/>
                <a:ea typeface="Calibri"/>
                <a:cs typeface="Calibri"/>
              </a:rPr>
              <a:t>No single paper covers the evolved problem; the proposed study therefore uses a four-part base-source set.</a:t>
            </a:r>
          </a:p>
        </p:txBody>
      </p:sp>
      <p:sp>
        <p:nvSpPr>
          <p:cNvPr id="12" name="base-num-bg-0">
            <a:extLst>
              <a:ext uri="{FF2B5EF4-FFF2-40B4-BE49-F238E27FC236}">
                <a16:creationId xmlns:a16="http://schemas.microsoft.com/office/drawing/2014/main" id="{95EE6FE1-1580-4674-8540-93DC51455CD3}"/>
              </a:ext>
            </a:extLst>
          </p:cNvPr>
          <p:cNvSpPr>
            <a:spLocks noGrp="1"/>
          </p:cNvSpPr>
          <p:nvPr/>
        </p:nvSpPr>
        <p:spPr>
          <a:xfrm>
            <a:off x="838200" y="2781300"/>
            <a:ext cx="552450" cy="552450"/>
          </a:xfrm>
          <a:prstGeom prst="ellipse">
            <a:avLst/>
          </a:prstGeom>
          <a:solidFill>
            <a:srgbClr val="006064"/>
          </a:solidFill>
          <a:ln w="0">
            <a:noFill/>
            <a:prstDash val="solid"/>
          </a:ln>
        </p:spPr>
      </p:sp>
      <p:sp>
        <p:nvSpPr>
          <p:cNvPr id="13" name="base-num-0">
            <a:extLst>
              <a:ext uri="{FF2B5EF4-FFF2-40B4-BE49-F238E27FC236}">
                <a16:creationId xmlns:a16="http://schemas.microsoft.com/office/drawing/2014/main" id="{34D820CA-F599-4761-ACE0-8FDFA8D85374}"/>
              </a:ext>
            </a:extLst>
          </p:cNvPr>
          <p:cNvSpPr>
            <a:spLocks noGrp="1"/>
          </p:cNvSpPr>
          <p:nvPr/>
        </p:nvSpPr>
        <p:spPr>
          <a:xfrm>
            <a:off x="838200" y="2790825"/>
            <a:ext cx="552450" cy="533400"/>
          </a:xfrm>
          <a:prstGeom prst="rect">
            <a:avLst/>
          </a:prstGeom>
          <a:noFill/>
          <a:ln w="0">
            <a:noFill/>
            <a:prstDash val="solid"/>
          </a:ln>
        </p:spPr>
        <p:txBody>
          <a:bodyPr wrap="square" lIns="47625" tIns="38100" rIns="47625" bIns="38100"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1</a:t>
            </a:r>
          </a:p>
        </p:txBody>
      </p:sp>
      <p:sp>
        <p:nvSpPr>
          <p:cNvPr id="14" name="base-area-0">
            <a:extLst>
              <a:ext uri="{FF2B5EF4-FFF2-40B4-BE49-F238E27FC236}">
                <a16:creationId xmlns:a16="http://schemas.microsoft.com/office/drawing/2014/main" id="{FE10FAF6-0FB1-4A5A-BA09-1034DB2DB6E5}"/>
              </a:ext>
            </a:extLst>
          </p:cNvPr>
          <p:cNvSpPr>
            <a:spLocks noGrp="1"/>
          </p:cNvSpPr>
          <p:nvPr/>
        </p:nvSpPr>
        <p:spPr>
          <a:xfrm>
            <a:off x="1638300" y="2714625"/>
            <a:ext cx="2095500" cy="323850"/>
          </a:xfrm>
          <a:prstGeom prst="rect">
            <a:avLst/>
          </a:prstGeom>
          <a:noFill/>
          <a:ln w="0">
            <a:noFill/>
            <a:prstDash val="solid"/>
          </a:ln>
        </p:spPr>
        <p:txBody>
          <a:bodyPr wrap="square" lIns="47625" tIns="38100" rIns="47625" bIns="38100" anchor="t">
            <a:noAutofit/>
          </a:bodyPr>
          <a:lstStyle/>
          <a:p>
            <a:pPr algn="l">
              <a:defRPr sz="1350" b="1">
                <a:solidFill>
                  <a:srgbClr val="006064"/>
                </a:solidFill>
                <a:latin typeface="Calibri"/>
                <a:ea typeface="Calibri"/>
                <a:cs typeface="Calibri"/>
              </a:defRPr>
            </a:pPr>
            <a:r>
              <a:rPr sz="1350" b="1">
                <a:solidFill>
                  <a:srgbClr val="006064"/>
                </a:solidFill>
                <a:latin typeface="Calibri"/>
                <a:ea typeface="Calibri"/>
                <a:cs typeface="Calibri"/>
              </a:rPr>
              <a:t>Mission and data</a:t>
            </a:r>
          </a:p>
        </p:txBody>
      </p:sp>
      <p:sp>
        <p:nvSpPr>
          <p:cNvPr id="15" name="base-source-0">
            <a:extLst>
              <a:ext uri="{FF2B5EF4-FFF2-40B4-BE49-F238E27FC236}">
                <a16:creationId xmlns:a16="http://schemas.microsoft.com/office/drawing/2014/main" id="{667255E3-3FAD-4942-A60C-17EC7DD5D3D8}"/>
              </a:ext>
            </a:extLst>
          </p:cNvPr>
          <p:cNvSpPr>
            <a:spLocks noGrp="1"/>
          </p:cNvSpPr>
          <p:nvPr/>
        </p:nvSpPr>
        <p:spPr>
          <a:xfrm>
            <a:off x="3810000" y="2714625"/>
            <a:ext cx="2952750" cy="323850"/>
          </a:xfrm>
          <a:prstGeom prst="rect">
            <a:avLst/>
          </a:prstGeom>
          <a:noFill/>
          <a:ln w="0">
            <a:noFill/>
            <a:prstDash val="solid"/>
          </a:ln>
        </p:spPr>
        <p:txBody>
          <a:bodyPr wrap="square" lIns="47625" tIns="38100" rIns="47625" bIns="38100" anchor="t">
            <a:noAutofit/>
          </a:bodyPr>
          <a:lstStyle/>
          <a:p>
            <a:pPr algn="l">
              <a:defRPr sz="1350" b="1">
                <a:solidFill>
                  <a:srgbClr val="17365D"/>
                </a:solidFill>
                <a:latin typeface="Calibri"/>
                <a:ea typeface="Calibri"/>
                <a:cs typeface="Calibri"/>
              </a:defRPr>
            </a:pPr>
            <a:r>
              <a:rPr sz="1350" b="1">
                <a:solidFill>
                  <a:srgbClr val="17365D"/>
                </a:solidFill>
                <a:latin typeface="Calibri"/>
                <a:ea typeface="Calibri"/>
                <a:cs typeface="Calibri"/>
              </a:rPr>
              <a:t>POLIX Level-2 User Handbook (2025)</a:t>
            </a:r>
          </a:p>
        </p:txBody>
      </p:sp>
      <p:sp>
        <p:nvSpPr>
          <p:cNvPr id="16" name="base-value-0">
            <a:extLst>
              <a:ext uri="{FF2B5EF4-FFF2-40B4-BE49-F238E27FC236}">
                <a16:creationId xmlns:a16="http://schemas.microsoft.com/office/drawing/2014/main" id="{377CBBE9-D882-47D0-AB8D-85F0C49473D7}"/>
              </a:ext>
            </a:extLst>
          </p:cNvPr>
          <p:cNvSpPr>
            <a:spLocks noGrp="1"/>
          </p:cNvSpPr>
          <p:nvPr/>
        </p:nvSpPr>
        <p:spPr>
          <a:xfrm>
            <a:off x="6953250" y="2695575"/>
            <a:ext cx="4286250" cy="609600"/>
          </a:xfrm>
          <a:prstGeom prst="rect">
            <a:avLst/>
          </a:prstGeom>
          <a:noFill/>
          <a:ln w="0">
            <a:noFill/>
            <a:prstDash val="solid"/>
          </a:ln>
        </p:spPr>
        <p:txBody>
          <a:bodyPr wrap="square" lIns="47625" tIns="38100" rIns="47625" bIns="38100" anchor="ctr">
            <a:noAutofit/>
          </a:bodyPr>
          <a:lstStyle/>
          <a:p>
            <a:pPr algn="l">
              <a:defRPr sz="1313" b="0">
                <a:solidFill>
                  <a:srgbClr val="17212B"/>
                </a:solidFill>
                <a:latin typeface="Calibri"/>
                <a:ea typeface="Calibri"/>
                <a:cs typeface="Calibri"/>
              </a:defRPr>
            </a:pPr>
            <a:r>
              <a:rPr sz="1313" b="0">
                <a:solidFill>
                  <a:srgbClr val="17212B"/>
                </a:solidFill>
                <a:latin typeface="Calibri"/>
                <a:ea typeface="Calibri"/>
                <a:cs typeface="Calibri"/>
              </a:rPr>
              <a:t>Authoritative product semantics, detector facts and processing limits</a:t>
            </a:r>
          </a:p>
        </p:txBody>
      </p:sp>
      <p:sp>
        <p:nvSpPr>
          <p:cNvPr id="17" name="base-row-line-0">
            <a:extLst>
              <a:ext uri="{FF2B5EF4-FFF2-40B4-BE49-F238E27FC236}">
                <a16:creationId xmlns:a16="http://schemas.microsoft.com/office/drawing/2014/main" id="{52C64C2E-A28F-4E8F-91A0-A76EA60EEFAE}"/>
              </a:ext>
            </a:extLst>
          </p:cNvPr>
          <p:cNvSpPr>
            <a:spLocks noGrp="1"/>
          </p:cNvSpPr>
          <p:nvPr/>
        </p:nvSpPr>
        <p:spPr>
          <a:xfrm>
            <a:off x="1600200" y="3390900"/>
            <a:ext cx="9639300" cy="9525"/>
          </a:xfrm>
          <a:prstGeom prst="rect">
            <a:avLst/>
          </a:prstGeom>
          <a:solidFill>
            <a:srgbClr val="CBD5E1"/>
          </a:solidFill>
          <a:ln w="0">
            <a:noFill/>
            <a:prstDash val="solid"/>
          </a:ln>
        </p:spPr>
      </p:sp>
      <p:sp>
        <p:nvSpPr>
          <p:cNvPr id="18" name="base-num-bg-1">
            <a:extLst>
              <a:ext uri="{FF2B5EF4-FFF2-40B4-BE49-F238E27FC236}">
                <a16:creationId xmlns:a16="http://schemas.microsoft.com/office/drawing/2014/main" id="{89EEB4A8-96FB-43D8-8D37-4A3D27AB91CD}"/>
              </a:ext>
            </a:extLst>
          </p:cNvPr>
          <p:cNvSpPr>
            <a:spLocks noGrp="1"/>
          </p:cNvSpPr>
          <p:nvPr/>
        </p:nvSpPr>
        <p:spPr>
          <a:xfrm>
            <a:off x="838200" y="3562350"/>
            <a:ext cx="552450" cy="552450"/>
          </a:xfrm>
          <a:prstGeom prst="ellipse">
            <a:avLst/>
          </a:prstGeom>
          <a:solidFill>
            <a:srgbClr val="D95F02"/>
          </a:solidFill>
          <a:ln w="0">
            <a:noFill/>
            <a:prstDash val="solid"/>
          </a:ln>
        </p:spPr>
      </p:sp>
      <p:sp>
        <p:nvSpPr>
          <p:cNvPr id="19" name="base-num-1">
            <a:extLst>
              <a:ext uri="{FF2B5EF4-FFF2-40B4-BE49-F238E27FC236}">
                <a16:creationId xmlns:a16="http://schemas.microsoft.com/office/drawing/2014/main" id="{CCF8B7E4-5847-4681-93C1-7B67ADE59166}"/>
              </a:ext>
            </a:extLst>
          </p:cNvPr>
          <p:cNvSpPr>
            <a:spLocks noGrp="1"/>
          </p:cNvSpPr>
          <p:nvPr/>
        </p:nvSpPr>
        <p:spPr>
          <a:xfrm>
            <a:off x="838200" y="3571875"/>
            <a:ext cx="552450" cy="533400"/>
          </a:xfrm>
          <a:prstGeom prst="rect">
            <a:avLst/>
          </a:prstGeom>
          <a:noFill/>
          <a:ln w="0">
            <a:noFill/>
            <a:prstDash val="solid"/>
          </a:ln>
        </p:spPr>
        <p:txBody>
          <a:bodyPr wrap="square" lIns="47625" tIns="38100" rIns="47625" bIns="38100"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2</a:t>
            </a:r>
          </a:p>
        </p:txBody>
      </p:sp>
      <p:sp>
        <p:nvSpPr>
          <p:cNvPr id="20" name="base-area-1">
            <a:extLst>
              <a:ext uri="{FF2B5EF4-FFF2-40B4-BE49-F238E27FC236}">
                <a16:creationId xmlns:a16="http://schemas.microsoft.com/office/drawing/2014/main" id="{6D093059-1A0B-4110-9AD9-F8EC1ECA2CA3}"/>
              </a:ext>
            </a:extLst>
          </p:cNvPr>
          <p:cNvSpPr>
            <a:spLocks noGrp="1"/>
          </p:cNvSpPr>
          <p:nvPr/>
        </p:nvSpPr>
        <p:spPr>
          <a:xfrm>
            <a:off x="1638300" y="3495675"/>
            <a:ext cx="2095500" cy="323850"/>
          </a:xfrm>
          <a:prstGeom prst="rect">
            <a:avLst/>
          </a:prstGeom>
          <a:noFill/>
          <a:ln w="0">
            <a:noFill/>
            <a:prstDash val="solid"/>
          </a:ln>
        </p:spPr>
        <p:txBody>
          <a:bodyPr wrap="square" lIns="47625" tIns="38100" rIns="47625" bIns="38100" anchor="t">
            <a:noAutofit/>
          </a:bodyPr>
          <a:lstStyle/>
          <a:p>
            <a:pPr algn="l">
              <a:defRPr sz="1350" b="1">
                <a:solidFill>
                  <a:srgbClr val="D95F02"/>
                </a:solidFill>
                <a:latin typeface="Calibri"/>
                <a:ea typeface="Calibri"/>
                <a:cs typeface="Calibri"/>
              </a:defRPr>
            </a:pPr>
            <a:r>
              <a:rPr sz="1350" b="1">
                <a:solidFill>
                  <a:srgbClr val="D95F02"/>
                </a:solidFill>
                <a:latin typeface="Calibri"/>
                <a:ea typeface="Calibri"/>
                <a:cs typeface="Calibri"/>
              </a:rPr>
              <a:t>Physical analysis</a:t>
            </a:r>
          </a:p>
        </p:txBody>
      </p:sp>
      <p:sp>
        <p:nvSpPr>
          <p:cNvPr id="21" name="base-source-1">
            <a:extLst>
              <a:ext uri="{FF2B5EF4-FFF2-40B4-BE49-F238E27FC236}">
                <a16:creationId xmlns:a16="http://schemas.microsoft.com/office/drawing/2014/main" id="{F9E1D373-DA5C-43E4-AE19-325A9CE67DAD}"/>
              </a:ext>
            </a:extLst>
          </p:cNvPr>
          <p:cNvSpPr>
            <a:spLocks noGrp="1"/>
          </p:cNvSpPr>
          <p:nvPr/>
        </p:nvSpPr>
        <p:spPr>
          <a:xfrm>
            <a:off x="3810000" y="3495675"/>
            <a:ext cx="2952750" cy="323850"/>
          </a:xfrm>
          <a:prstGeom prst="rect">
            <a:avLst/>
          </a:prstGeom>
          <a:noFill/>
          <a:ln w="0">
            <a:noFill/>
            <a:prstDash val="solid"/>
          </a:ln>
        </p:spPr>
        <p:txBody>
          <a:bodyPr wrap="square" lIns="47625" tIns="38100" rIns="47625" bIns="38100" anchor="t">
            <a:noAutofit/>
          </a:bodyPr>
          <a:lstStyle/>
          <a:p>
            <a:pPr algn="l">
              <a:defRPr sz="1350" b="1">
                <a:solidFill>
                  <a:srgbClr val="17365D"/>
                </a:solidFill>
                <a:latin typeface="Calibri"/>
                <a:ea typeface="Calibri"/>
                <a:cs typeface="Calibri"/>
              </a:defRPr>
            </a:pPr>
            <a:r>
              <a:rPr sz="1350" b="1">
                <a:solidFill>
                  <a:srgbClr val="17365D"/>
                </a:solidFill>
                <a:latin typeface="Calibri"/>
                <a:ea typeface="Calibri"/>
                <a:cs typeface="Calibri"/>
              </a:rPr>
              <a:t>Kislat et al. (2015)</a:t>
            </a:r>
          </a:p>
        </p:txBody>
      </p:sp>
      <p:sp>
        <p:nvSpPr>
          <p:cNvPr id="22" name="base-value-1">
            <a:extLst>
              <a:ext uri="{FF2B5EF4-FFF2-40B4-BE49-F238E27FC236}">
                <a16:creationId xmlns:a16="http://schemas.microsoft.com/office/drawing/2014/main" id="{F0341AA2-9B3C-4567-B13E-1A39885F16EA}"/>
              </a:ext>
            </a:extLst>
          </p:cNvPr>
          <p:cNvSpPr>
            <a:spLocks noGrp="1"/>
          </p:cNvSpPr>
          <p:nvPr/>
        </p:nvSpPr>
        <p:spPr>
          <a:xfrm>
            <a:off x="6953250" y="3476625"/>
            <a:ext cx="4286250" cy="609600"/>
          </a:xfrm>
          <a:prstGeom prst="rect">
            <a:avLst/>
          </a:prstGeom>
          <a:noFill/>
          <a:ln w="0">
            <a:noFill/>
            <a:prstDash val="solid"/>
          </a:ln>
        </p:spPr>
        <p:txBody>
          <a:bodyPr wrap="square" lIns="47625" tIns="38100" rIns="47625" bIns="38100" anchor="ctr">
            <a:noAutofit/>
          </a:bodyPr>
          <a:lstStyle/>
          <a:p>
            <a:pPr algn="l">
              <a:defRPr sz="1313" b="0">
                <a:solidFill>
                  <a:srgbClr val="17212B"/>
                </a:solidFill>
                <a:latin typeface="Calibri"/>
                <a:ea typeface="Calibri"/>
                <a:cs typeface="Calibri"/>
              </a:defRPr>
            </a:pPr>
            <a:r>
              <a:rPr sz="1313" b="0">
                <a:solidFill>
                  <a:srgbClr val="17212B"/>
                </a:solidFill>
                <a:latin typeface="Calibri"/>
                <a:ea typeface="Calibri"/>
                <a:cs typeface="Calibri"/>
              </a:rPr>
              <a:t>Stokes Q/U, background treatment and calibrated-polarization boundaries</a:t>
            </a:r>
          </a:p>
        </p:txBody>
      </p:sp>
      <p:sp>
        <p:nvSpPr>
          <p:cNvPr id="23" name="base-row-line-1">
            <a:extLst>
              <a:ext uri="{FF2B5EF4-FFF2-40B4-BE49-F238E27FC236}">
                <a16:creationId xmlns:a16="http://schemas.microsoft.com/office/drawing/2014/main" id="{A13EC9EF-9736-4387-9500-0A3DD686522B}"/>
              </a:ext>
            </a:extLst>
          </p:cNvPr>
          <p:cNvSpPr>
            <a:spLocks noGrp="1"/>
          </p:cNvSpPr>
          <p:nvPr/>
        </p:nvSpPr>
        <p:spPr>
          <a:xfrm>
            <a:off x="1600200" y="4171950"/>
            <a:ext cx="9639300" cy="9525"/>
          </a:xfrm>
          <a:prstGeom prst="rect">
            <a:avLst/>
          </a:prstGeom>
          <a:solidFill>
            <a:srgbClr val="CBD5E1"/>
          </a:solidFill>
          <a:ln w="0">
            <a:noFill/>
            <a:prstDash val="solid"/>
          </a:ln>
        </p:spPr>
      </p:sp>
      <p:sp>
        <p:nvSpPr>
          <p:cNvPr id="24" name="base-num-bg-2">
            <a:extLst>
              <a:ext uri="{FF2B5EF4-FFF2-40B4-BE49-F238E27FC236}">
                <a16:creationId xmlns:a16="http://schemas.microsoft.com/office/drawing/2014/main" id="{5A76EEEB-A684-4FB5-9D61-7832687407A1}"/>
              </a:ext>
            </a:extLst>
          </p:cNvPr>
          <p:cNvSpPr>
            <a:spLocks noGrp="1"/>
          </p:cNvSpPr>
          <p:nvPr/>
        </p:nvSpPr>
        <p:spPr>
          <a:xfrm>
            <a:off x="838200" y="4343400"/>
            <a:ext cx="552450" cy="552450"/>
          </a:xfrm>
          <a:prstGeom prst="ellipse">
            <a:avLst/>
          </a:prstGeom>
          <a:solidFill>
            <a:srgbClr val="006064"/>
          </a:solidFill>
          <a:ln w="0">
            <a:noFill/>
            <a:prstDash val="solid"/>
          </a:ln>
        </p:spPr>
      </p:sp>
      <p:sp>
        <p:nvSpPr>
          <p:cNvPr id="25" name="base-num-2">
            <a:extLst>
              <a:ext uri="{FF2B5EF4-FFF2-40B4-BE49-F238E27FC236}">
                <a16:creationId xmlns:a16="http://schemas.microsoft.com/office/drawing/2014/main" id="{79B5A561-E344-44A9-B669-6E6EFB53C9AB}"/>
              </a:ext>
            </a:extLst>
          </p:cNvPr>
          <p:cNvSpPr>
            <a:spLocks noGrp="1"/>
          </p:cNvSpPr>
          <p:nvPr/>
        </p:nvSpPr>
        <p:spPr>
          <a:xfrm>
            <a:off x="838200" y="4352925"/>
            <a:ext cx="552450" cy="533400"/>
          </a:xfrm>
          <a:prstGeom prst="rect">
            <a:avLst/>
          </a:prstGeom>
          <a:noFill/>
          <a:ln w="0">
            <a:noFill/>
            <a:prstDash val="solid"/>
          </a:ln>
        </p:spPr>
        <p:txBody>
          <a:bodyPr wrap="square" lIns="47625" tIns="38100" rIns="47625" bIns="38100"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3</a:t>
            </a:r>
          </a:p>
        </p:txBody>
      </p:sp>
      <p:sp>
        <p:nvSpPr>
          <p:cNvPr id="26" name="base-area-2">
            <a:extLst>
              <a:ext uri="{FF2B5EF4-FFF2-40B4-BE49-F238E27FC236}">
                <a16:creationId xmlns:a16="http://schemas.microsoft.com/office/drawing/2014/main" id="{6857B8B3-C0D5-4D73-9337-1F1317572284}"/>
              </a:ext>
            </a:extLst>
          </p:cNvPr>
          <p:cNvSpPr>
            <a:spLocks noGrp="1"/>
          </p:cNvSpPr>
          <p:nvPr/>
        </p:nvSpPr>
        <p:spPr>
          <a:xfrm>
            <a:off x="1638300" y="4276725"/>
            <a:ext cx="2095500" cy="323850"/>
          </a:xfrm>
          <a:prstGeom prst="rect">
            <a:avLst/>
          </a:prstGeom>
          <a:noFill/>
          <a:ln w="0">
            <a:noFill/>
            <a:prstDash val="solid"/>
          </a:ln>
        </p:spPr>
        <p:txBody>
          <a:bodyPr wrap="square" lIns="47625" tIns="38100" rIns="47625" bIns="38100" anchor="t">
            <a:noAutofit/>
          </a:bodyPr>
          <a:lstStyle/>
          <a:p>
            <a:pPr algn="l">
              <a:defRPr sz="1350" b="1">
                <a:solidFill>
                  <a:srgbClr val="006064"/>
                </a:solidFill>
                <a:latin typeface="Calibri"/>
                <a:ea typeface="Calibri"/>
                <a:cs typeface="Calibri"/>
              </a:defRPr>
            </a:pPr>
            <a:r>
              <a:rPr sz="1350" b="1">
                <a:solidFill>
                  <a:srgbClr val="006064"/>
                </a:solidFill>
                <a:latin typeface="Calibri"/>
                <a:ea typeface="Calibri"/>
                <a:cs typeface="Calibri"/>
              </a:rPr>
              <a:t>Unsupervised ML</a:t>
            </a:r>
          </a:p>
        </p:txBody>
      </p:sp>
      <p:sp>
        <p:nvSpPr>
          <p:cNvPr id="27" name="base-source-2">
            <a:extLst>
              <a:ext uri="{FF2B5EF4-FFF2-40B4-BE49-F238E27FC236}">
                <a16:creationId xmlns:a16="http://schemas.microsoft.com/office/drawing/2014/main" id="{C3E8BA5C-2723-4699-B4D4-249979D93731}"/>
              </a:ext>
            </a:extLst>
          </p:cNvPr>
          <p:cNvSpPr>
            <a:spLocks noGrp="1"/>
          </p:cNvSpPr>
          <p:nvPr/>
        </p:nvSpPr>
        <p:spPr>
          <a:xfrm>
            <a:off x="3810000" y="4276725"/>
            <a:ext cx="2952750" cy="323850"/>
          </a:xfrm>
          <a:prstGeom prst="rect">
            <a:avLst/>
          </a:prstGeom>
          <a:noFill/>
          <a:ln w="0">
            <a:noFill/>
            <a:prstDash val="solid"/>
          </a:ln>
        </p:spPr>
        <p:txBody>
          <a:bodyPr wrap="square" lIns="47625" tIns="38100" rIns="47625" bIns="38100" anchor="t">
            <a:noAutofit/>
          </a:bodyPr>
          <a:lstStyle/>
          <a:p>
            <a:pPr algn="l">
              <a:defRPr sz="1350" b="1">
                <a:solidFill>
                  <a:srgbClr val="17365D"/>
                </a:solidFill>
                <a:latin typeface="Calibri"/>
                <a:ea typeface="Calibri"/>
                <a:cs typeface="Calibri"/>
              </a:defRPr>
            </a:pPr>
            <a:r>
              <a:rPr sz="1350" b="1">
                <a:solidFill>
                  <a:srgbClr val="17365D"/>
                </a:solidFill>
                <a:latin typeface="Calibri"/>
                <a:ea typeface="Calibri"/>
                <a:cs typeface="Calibri"/>
              </a:rPr>
              <a:t>Liu, Ting and Zhou (2008)</a:t>
            </a:r>
          </a:p>
        </p:txBody>
      </p:sp>
      <p:sp>
        <p:nvSpPr>
          <p:cNvPr id="28" name="base-value-2">
            <a:extLst>
              <a:ext uri="{FF2B5EF4-FFF2-40B4-BE49-F238E27FC236}">
                <a16:creationId xmlns:a16="http://schemas.microsoft.com/office/drawing/2014/main" id="{4F80C73A-CD34-4B74-AEDA-F4F7AFF9C595}"/>
              </a:ext>
            </a:extLst>
          </p:cNvPr>
          <p:cNvSpPr>
            <a:spLocks noGrp="1"/>
          </p:cNvSpPr>
          <p:nvPr/>
        </p:nvSpPr>
        <p:spPr>
          <a:xfrm>
            <a:off x="6953250" y="4257675"/>
            <a:ext cx="4286250" cy="609600"/>
          </a:xfrm>
          <a:prstGeom prst="rect">
            <a:avLst/>
          </a:prstGeom>
          <a:noFill/>
          <a:ln w="0">
            <a:noFill/>
            <a:prstDash val="solid"/>
          </a:ln>
        </p:spPr>
        <p:txBody>
          <a:bodyPr wrap="square" lIns="47625" tIns="38100" rIns="47625" bIns="38100" anchor="ctr">
            <a:noAutofit/>
          </a:bodyPr>
          <a:lstStyle/>
          <a:p>
            <a:pPr algn="l">
              <a:defRPr sz="1313" b="0">
                <a:solidFill>
                  <a:srgbClr val="17212B"/>
                </a:solidFill>
                <a:latin typeface="Calibri"/>
                <a:ea typeface="Calibri"/>
                <a:cs typeface="Calibri"/>
              </a:defRPr>
            </a:pPr>
            <a:r>
              <a:rPr sz="1313" b="0">
                <a:solidFill>
                  <a:srgbClr val="17212B"/>
                </a:solidFill>
                <a:latin typeface="Calibri"/>
                <a:ea typeface="Calibri"/>
                <a:cs typeface="Calibri"/>
              </a:rPr>
              <a:t>Isolation Forest for ranking unusual multivariate observations</a:t>
            </a:r>
          </a:p>
        </p:txBody>
      </p:sp>
      <p:sp>
        <p:nvSpPr>
          <p:cNvPr id="29" name="base-row-line-2">
            <a:extLst>
              <a:ext uri="{FF2B5EF4-FFF2-40B4-BE49-F238E27FC236}">
                <a16:creationId xmlns:a16="http://schemas.microsoft.com/office/drawing/2014/main" id="{6F055786-452B-41BF-8C7A-D561040A3158}"/>
              </a:ext>
            </a:extLst>
          </p:cNvPr>
          <p:cNvSpPr>
            <a:spLocks noGrp="1"/>
          </p:cNvSpPr>
          <p:nvPr/>
        </p:nvSpPr>
        <p:spPr>
          <a:xfrm>
            <a:off x="1600200" y="4953000"/>
            <a:ext cx="9639300" cy="9525"/>
          </a:xfrm>
          <a:prstGeom prst="rect">
            <a:avLst/>
          </a:prstGeom>
          <a:solidFill>
            <a:srgbClr val="CBD5E1"/>
          </a:solidFill>
          <a:ln w="0">
            <a:noFill/>
            <a:prstDash val="solid"/>
          </a:ln>
        </p:spPr>
      </p:sp>
      <p:sp>
        <p:nvSpPr>
          <p:cNvPr id="30" name="base-num-bg-3">
            <a:extLst>
              <a:ext uri="{FF2B5EF4-FFF2-40B4-BE49-F238E27FC236}">
                <a16:creationId xmlns:a16="http://schemas.microsoft.com/office/drawing/2014/main" id="{21D4A308-EFF7-4B97-B354-FFF988B6BEE6}"/>
              </a:ext>
            </a:extLst>
          </p:cNvPr>
          <p:cNvSpPr>
            <a:spLocks noGrp="1"/>
          </p:cNvSpPr>
          <p:nvPr/>
        </p:nvSpPr>
        <p:spPr>
          <a:xfrm>
            <a:off x="838200" y="5124450"/>
            <a:ext cx="552450" cy="552450"/>
          </a:xfrm>
          <a:prstGeom prst="ellipse">
            <a:avLst/>
          </a:prstGeom>
          <a:solidFill>
            <a:srgbClr val="D95F02"/>
          </a:solidFill>
          <a:ln w="0">
            <a:noFill/>
            <a:prstDash val="solid"/>
          </a:ln>
        </p:spPr>
      </p:sp>
      <p:sp>
        <p:nvSpPr>
          <p:cNvPr id="31" name="base-num-3">
            <a:extLst>
              <a:ext uri="{FF2B5EF4-FFF2-40B4-BE49-F238E27FC236}">
                <a16:creationId xmlns:a16="http://schemas.microsoft.com/office/drawing/2014/main" id="{503088F8-920D-451B-A50E-391685E9A2C1}"/>
              </a:ext>
            </a:extLst>
          </p:cNvPr>
          <p:cNvSpPr>
            <a:spLocks noGrp="1"/>
          </p:cNvSpPr>
          <p:nvPr/>
        </p:nvSpPr>
        <p:spPr>
          <a:xfrm>
            <a:off x="838200" y="5133975"/>
            <a:ext cx="552450" cy="533400"/>
          </a:xfrm>
          <a:prstGeom prst="rect">
            <a:avLst/>
          </a:prstGeom>
          <a:noFill/>
          <a:ln w="0">
            <a:noFill/>
            <a:prstDash val="solid"/>
          </a:ln>
        </p:spPr>
        <p:txBody>
          <a:bodyPr wrap="square" lIns="47625" tIns="38100" rIns="47625" bIns="38100"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4</a:t>
            </a:r>
          </a:p>
        </p:txBody>
      </p:sp>
      <p:sp>
        <p:nvSpPr>
          <p:cNvPr id="32" name="base-area-3">
            <a:extLst>
              <a:ext uri="{FF2B5EF4-FFF2-40B4-BE49-F238E27FC236}">
                <a16:creationId xmlns:a16="http://schemas.microsoft.com/office/drawing/2014/main" id="{4E8E4EB1-83C2-4622-8A81-79BEACF4B530}"/>
              </a:ext>
            </a:extLst>
          </p:cNvPr>
          <p:cNvSpPr>
            <a:spLocks noGrp="1"/>
          </p:cNvSpPr>
          <p:nvPr/>
        </p:nvSpPr>
        <p:spPr>
          <a:xfrm>
            <a:off x="1638300" y="5057775"/>
            <a:ext cx="2095500" cy="323850"/>
          </a:xfrm>
          <a:prstGeom prst="rect">
            <a:avLst/>
          </a:prstGeom>
          <a:noFill/>
          <a:ln w="0">
            <a:noFill/>
            <a:prstDash val="solid"/>
          </a:ln>
        </p:spPr>
        <p:txBody>
          <a:bodyPr wrap="square" lIns="47625" tIns="38100" rIns="47625" bIns="38100" anchor="t">
            <a:noAutofit/>
          </a:bodyPr>
          <a:lstStyle/>
          <a:p>
            <a:pPr algn="l">
              <a:defRPr sz="1350" b="1">
                <a:solidFill>
                  <a:srgbClr val="D95F02"/>
                </a:solidFill>
                <a:latin typeface="Calibri"/>
                <a:ea typeface="Calibri"/>
                <a:cs typeface="Calibri"/>
              </a:defRPr>
            </a:pPr>
            <a:r>
              <a:rPr sz="1350" b="1">
                <a:solidFill>
                  <a:srgbClr val="D95F02"/>
                </a:solidFill>
                <a:latin typeface="Calibri"/>
                <a:ea typeface="Calibri"/>
                <a:cs typeface="Calibri"/>
              </a:rPr>
              <a:t>Explainability</a:t>
            </a:r>
          </a:p>
        </p:txBody>
      </p:sp>
      <p:sp>
        <p:nvSpPr>
          <p:cNvPr id="33" name="base-source-3">
            <a:extLst>
              <a:ext uri="{FF2B5EF4-FFF2-40B4-BE49-F238E27FC236}">
                <a16:creationId xmlns:a16="http://schemas.microsoft.com/office/drawing/2014/main" id="{2A18E5D0-3E02-4CE6-9675-593805E8D289}"/>
              </a:ext>
            </a:extLst>
          </p:cNvPr>
          <p:cNvSpPr>
            <a:spLocks noGrp="1"/>
          </p:cNvSpPr>
          <p:nvPr/>
        </p:nvSpPr>
        <p:spPr>
          <a:xfrm>
            <a:off x="3810000" y="5057775"/>
            <a:ext cx="2952750" cy="323850"/>
          </a:xfrm>
          <a:prstGeom prst="rect">
            <a:avLst/>
          </a:prstGeom>
          <a:noFill/>
          <a:ln w="0">
            <a:noFill/>
            <a:prstDash val="solid"/>
          </a:ln>
        </p:spPr>
        <p:txBody>
          <a:bodyPr wrap="square" lIns="47625" tIns="38100" rIns="47625" bIns="38100" anchor="t">
            <a:noAutofit/>
          </a:bodyPr>
          <a:lstStyle/>
          <a:p>
            <a:pPr algn="l">
              <a:defRPr sz="1350" b="1">
                <a:solidFill>
                  <a:srgbClr val="17365D"/>
                </a:solidFill>
                <a:latin typeface="Calibri"/>
                <a:ea typeface="Calibri"/>
                <a:cs typeface="Calibri"/>
              </a:defRPr>
            </a:pPr>
            <a:r>
              <a:rPr sz="1350" b="1">
                <a:solidFill>
                  <a:srgbClr val="17365D"/>
                </a:solidFill>
                <a:latin typeface="Calibri"/>
                <a:ea typeface="Calibri"/>
                <a:cs typeface="Calibri"/>
              </a:rPr>
              <a:t>Yepmo, Smits and Pivert (2022)</a:t>
            </a:r>
          </a:p>
        </p:txBody>
      </p:sp>
      <p:sp>
        <p:nvSpPr>
          <p:cNvPr id="34" name="base-value-3">
            <a:extLst>
              <a:ext uri="{FF2B5EF4-FFF2-40B4-BE49-F238E27FC236}">
                <a16:creationId xmlns:a16="http://schemas.microsoft.com/office/drawing/2014/main" id="{CC41C0C8-FF76-4734-925C-A2CF7ED94995}"/>
              </a:ext>
            </a:extLst>
          </p:cNvPr>
          <p:cNvSpPr>
            <a:spLocks noGrp="1"/>
          </p:cNvSpPr>
          <p:nvPr/>
        </p:nvSpPr>
        <p:spPr>
          <a:xfrm>
            <a:off x="6953250" y="5038725"/>
            <a:ext cx="4286250" cy="609600"/>
          </a:xfrm>
          <a:prstGeom prst="rect">
            <a:avLst/>
          </a:prstGeom>
          <a:noFill/>
          <a:ln w="0">
            <a:noFill/>
            <a:prstDash val="solid"/>
          </a:ln>
        </p:spPr>
        <p:txBody>
          <a:bodyPr wrap="square" lIns="47625" tIns="38100" rIns="47625" bIns="38100" anchor="ctr">
            <a:noAutofit/>
          </a:bodyPr>
          <a:lstStyle/>
          <a:p>
            <a:pPr algn="l">
              <a:defRPr sz="1313" b="0">
                <a:solidFill>
                  <a:srgbClr val="17212B"/>
                </a:solidFill>
                <a:latin typeface="Calibri"/>
                <a:ea typeface="Calibri"/>
                <a:cs typeface="Calibri"/>
              </a:defRPr>
            </a:pPr>
            <a:r>
              <a:rPr sz="1313" b="0">
                <a:solidFill>
                  <a:srgbClr val="17212B"/>
                </a:solidFill>
                <a:latin typeface="Calibri"/>
                <a:ea typeface="Calibri"/>
                <a:cs typeface="Calibri"/>
              </a:rPr>
              <a:t>Anomaly-explanation taxonomy and contextual evidence</a:t>
            </a:r>
          </a:p>
        </p:txBody>
      </p:sp>
    </p:spTree>
    <p:extLst>
      <p:ext uri="{BB962C8B-B14F-4D97-AF65-F5344CB8AC3E}">
        <p14:creationId xmlns:p14="http://schemas.microsoft.com/office/powerpoint/2010/main" val="631771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Polarimetry Literature Defines the Physics</a:t>
            </a:r>
          </a:p>
        </p:txBody>
      </p:sp>
      <p:sp>
        <p:nvSpPr>
          <p:cNvPr id="9" name="orange-rule-64-169">
            <a:extLst>
              <a:ext uri="{FF2B5EF4-FFF2-40B4-BE49-F238E27FC236}">
                <a16:creationId xmlns:a16="http://schemas.microsoft.com/office/drawing/2014/main" id="{7B0119F0-BFCB-49A9-A078-C8176A6696F0}"/>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25D1E83F-9A4C-4C98-B305-5D2796F1A6AE}"/>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lit-top-0">
            <a:extLst>
              <a:ext uri="{FF2B5EF4-FFF2-40B4-BE49-F238E27FC236}">
                <a16:creationId xmlns:a16="http://schemas.microsoft.com/office/drawing/2014/main" id="{C5F3595F-B565-4AB7-AFED-434D9BA6DC47}"/>
              </a:ext>
            </a:extLst>
          </p:cNvPr>
          <p:cNvSpPr>
            <a:spLocks noGrp="1"/>
          </p:cNvSpPr>
          <p:nvPr/>
        </p:nvSpPr>
        <p:spPr>
          <a:xfrm>
            <a:off x="685800" y="1952625"/>
            <a:ext cx="3190875" cy="66675"/>
          </a:xfrm>
          <a:prstGeom prst="rect">
            <a:avLst/>
          </a:prstGeom>
          <a:solidFill>
            <a:srgbClr val="006064"/>
          </a:solidFill>
          <a:ln w="0">
            <a:noFill/>
            <a:prstDash val="solid"/>
          </a:ln>
        </p:spPr>
      </p:sp>
      <p:sp>
        <p:nvSpPr>
          <p:cNvPr id="12" name="lit-head-0">
            <a:extLst>
              <a:ext uri="{FF2B5EF4-FFF2-40B4-BE49-F238E27FC236}">
                <a16:creationId xmlns:a16="http://schemas.microsoft.com/office/drawing/2014/main" id="{CDEA5F3A-2F26-4386-AC8B-A762F9EB8B50}"/>
              </a:ext>
            </a:extLst>
          </p:cNvPr>
          <p:cNvSpPr>
            <a:spLocks noGrp="1"/>
          </p:cNvSpPr>
          <p:nvPr/>
        </p:nvSpPr>
        <p:spPr>
          <a:xfrm>
            <a:off x="685800" y="2152650"/>
            <a:ext cx="3190875" cy="323850"/>
          </a:xfrm>
          <a:prstGeom prst="rect">
            <a:avLst/>
          </a:prstGeom>
          <a:noFill/>
          <a:ln w="0">
            <a:noFill/>
            <a:prstDash val="solid"/>
          </a:ln>
        </p:spPr>
        <p:txBody>
          <a:bodyPr wrap="square" lIns="47625" tIns="38100" rIns="47625" bIns="38100" anchor="t">
            <a:noAutofit/>
          </a:bodyPr>
          <a:lstStyle/>
          <a:p>
            <a:pPr algn="ctr">
              <a:defRPr sz="1350" b="1">
                <a:solidFill>
                  <a:srgbClr val="006064"/>
                </a:solidFill>
                <a:latin typeface="Calibri"/>
                <a:ea typeface="Calibri"/>
                <a:cs typeface="Calibri"/>
              </a:defRPr>
            </a:pPr>
            <a:r>
              <a:rPr sz="1350" b="1">
                <a:solidFill>
                  <a:srgbClr val="006064"/>
                </a:solidFill>
                <a:latin typeface="Calibri"/>
                <a:ea typeface="Calibri"/>
                <a:cs typeface="Calibri"/>
              </a:rPr>
              <a:t>FOUNDATIONS</a:t>
            </a:r>
          </a:p>
        </p:txBody>
      </p:sp>
      <p:sp>
        <p:nvSpPr>
          <p:cNvPr id="13" name="lit-body-0">
            <a:extLst>
              <a:ext uri="{FF2B5EF4-FFF2-40B4-BE49-F238E27FC236}">
                <a16:creationId xmlns:a16="http://schemas.microsoft.com/office/drawing/2014/main" id="{4BACADB8-30DB-4F94-BDA3-F7E714E8FE99}"/>
              </a:ext>
            </a:extLst>
          </p:cNvPr>
          <p:cNvSpPr>
            <a:spLocks noGrp="1"/>
          </p:cNvSpPr>
          <p:nvPr/>
        </p:nvSpPr>
        <p:spPr>
          <a:xfrm>
            <a:off x="781050" y="2571750"/>
            <a:ext cx="3000375"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Fabiani (2018)</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Reviews X-ray polarimeter types and science drivers.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Kislat et al. (2015)</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Provides Stokes-based treatment of azimuthal events and background.</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Implication</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Raw modulation is not yet calibrated PD/PA.</a:t>
            </a:r>
          </a:p>
        </p:txBody>
      </p:sp>
      <p:sp>
        <p:nvSpPr>
          <p:cNvPr id="14" name="divider-430">
            <a:extLst>
              <a:ext uri="{FF2B5EF4-FFF2-40B4-BE49-F238E27FC236}">
                <a16:creationId xmlns:a16="http://schemas.microsoft.com/office/drawing/2014/main" id="{4A9895C4-678F-4277-9536-A89AB3AE2D7B}"/>
              </a:ext>
            </a:extLst>
          </p:cNvPr>
          <p:cNvSpPr>
            <a:spLocks noGrp="1"/>
          </p:cNvSpPr>
          <p:nvPr/>
        </p:nvSpPr>
        <p:spPr>
          <a:xfrm>
            <a:off x="4095750" y="1952625"/>
            <a:ext cx="14288" cy="3429000"/>
          </a:xfrm>
          <a:prstGeom prst="rect">
            <a:avLst/>
          </a:prstGeom>
          <a:solidFill>
            <a:srgbClr val="CBD5E1"/>
          </a:solidFill>
          <a:ln w="0">
            <a:noFill/>
            <a:prstDash val="solid"/>
          </a:ln>
        </p:spPr>
      </p:sp>
      <p:sp>
        <p:nvSpPr>
          <p:cNvPr id="15" name="lit-top-1">
            <a:extLst>
              <a:ext uri="{FF2B5EF4-FFF2-40B4-BE49-F238E27FC236}">
                <a16:creationId xmlns:a16="http://schemas.microsoft.com/office/drawing/2014/main" id="{19E0B766-0C12-44BE-A2BF-1844213F5F70}"/>
              </a:ext>
            </a:extLst>
          </p:cNvPr>
          <p:cNvSpPr>
            <a:spLocks noGrp="1"/>
          </p:cNvSpPr>
          <p:nvPr/>
        </p:nvSpPr>
        <p:spPr>
          <a:xfrm>
            <a:off x="4333875" y="1952625"/>
            <a:ext cx="3190875" cy="66675"/>
          </a:xfrm>
          <a:prstGeom prst="rect">
            <a:avLst/>
          </a:prstGeom>
          <a:solidFill>
            <a:srgbClr val="D95F02"/>
          </a:solidFill>
          <a:ln w="0">
            <a:noFill/>
            <a:prstDash val="solid"/>
          </a:ln>
        </p:spPr>
      </p:sp>
      <p:sp>
        <p:nvSpPr>
          <p:cNvPr id="16" name="lit-head-1">
            <a:extLst>
              <a:ext uri="{FF2B5EF4-FFF2-40B4-BE49-F238E27FC236}">
                <a16:creationId xmlns:a16="http://schemas.microsoft.com/office/drawing/2014/main" id="{EC14F9BA-7BF1-4FED-8138-AB630E6904B7}"/>
              </a:ext>
            </a:extLst>
          </p:cNvPr>
          <p:cNvSpPr>
            <a:spLocks noGrp="1"/>
          </p:cNvSpPr>
          <p:nvPr/>
        </p:nvSpPr>
        <p:spPr>
          <a:xfrm>
            <a:off x="4333875" y="2152650"/>
            <a:ext cx="3190875" cy="323850"/>
          </a:xfrm>
          <a:prstGeom prst="rect">
            <a:avLst/>
          </a:prstGeom>
          <a:noFill/>
          <a:ln w="0">
            <a:noFill/>
            <a:prstDash val="solid"/>
          </a:ln>
        </p:spPr>
        <p:txBody>
          <a:bodyPr wrap="square" lIns="47625" tIns="38100" rIns="47625" bIns="38100" anchor="t">
            <a:noAutofit/>
          </a:bodyPr>
          <a:lstStyle/>
          <a:p>
            <a:pPr algn="ctr">
              <a:defRPr sz="1350" b="1">
                <a:solidFill>
                  <a:srgbClr val="D95F02"/>
                </a:solidFill>
                <a:latin typeface="Calibri"/>
                <a:ea typeface="Calibri"/>
                <a:cs typeface="Calibri"/>
              </a:defRPr>
            </a:pPr>
            <a:r>
              <a:rPr sz="1350" b="1">
                <a:solidFill>
                  <a:srgbClr val="D95F02"/>
                </a:solidFill>
                <a:latin typeface="Calibri"/>
                <a:ea typeface="Calibri"/>
                <a:cs typeface="Calibri"/>
              </a:rPr>
              <a:t>MISSIONS</a:t>
            </a:r>
          </a:p>
        </p:txBody>
      </p:sp>
      <p:sp>
        <p:nvSpPr>
          <p:cNvPr id="17" name="lit-body-1">
            <a:extLst>
              <a:ext uri="{FF2B5EF4-FFF2-40B4-BE49-F238E27FC236}">
                <a16:creationId xmlns:a16="http://schemas.microsoft.com/office/drawing/2014/main" id="{B579C794-860F-4908-9C4E-B2EC34870F7F}"/>
              </a:ext>
            </a:extLst>
          </p:cNvPr>
          <p:cNvSpPr>
            <a:spLocks noGrp="1"/>
          </p:cNvSpPr>
          <p:nvPr/>
        </p:nvSpPr>
        <p:spPr>
          <a:xfrm>
            <a:off x="4429125" y="2571750"/>
            <a:ext cx="3000375"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Chandra</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Imaging and spectroscopy context.</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IXPE</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Dedicated 2–8 keV imaging polarimetry.</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XPoSat / POLIX / XSPECT</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Distinct Indian polarimetry and spectro-temporal roles.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Implication</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Instrument responses are not interchangeable.</a:t>
            </a:r>
          </a:p>
        </p:txBody>
      </p:sp>
      <p:sp>
        <p:nvSpPr>
          <p:cNvPr id="18" name="divider-813">
            <a:extLst>
              <a:ext uri="{FF2B5EF4-FFF2-40B4-BE49-F238E27FC236}">
                <a16:creationId xmlns:a16="http://schemas.microsoft.com/office/drawing/2014/main" id="{563B8011-7728-45EE-8212-EA7C2CA0D4BB}"/>
              </a:ext>
            </a:extLst>
          </p:cNvPr>
          <p:cNvSpPr>
            <a:spLocks noGrp="1"/>
          </p:cNvSpPr>
          <p:nvPr/>
        </p:nvSpPr>
        <p:spPr>
          <a:xfrm>
            <a:off x="7743825" y="1952625"/>
            <a:ext cx="14288" cy="3429000"/>
          </a:xfrm>
          <a:prstGeom prst="rect">
            <a:avLst/>
          </a:prstGeom>
          <a:solidFill>
            <a:srgbClr val="CBD5E1"/>
          </a:solidFill>
          <a:ln w="0">
            <a:noFill/>
            <a:prstDash val="solid"/>
          </a:ln>
        </p:spPr>
      </p:sp>
      <p:sp>
        <p:nvSpPr>
          <p:cNvPr id="19" name="lit-top-2">
            <a:extLst>
              <a:ext uri="{FF2B5EF4-FFF2-40B4-BE49-F238E27FC236}">
                <a16:creationId xmlns:a16="http://schemas.microsoft.com/office/drawing/2014/main" id="{F9FAF260-9ACC-43A6-BF6D-0FFAB2F1C29C}"/>
              </a:ext>
            </a:extLst>
          </p:cNvPr>
          <p:cNvSpPr>
            <a:spLocks noGrp="1"/>
          </p:cNvSpPr>
          <p:nvPr/>
        </p:nvSpPr>
        <p:spPr>
          <a:xfrm>
            <a:off x="7981950" y="1952625"/>
            <a:ext cx="3190875" cy="66675"/>
          </a:xfrm>
          <a:prstGeom prst="rect">
            <a:avLst/>
          </a:prstGeom>
          <a:solidFill>
            <a:srgbClr val="17365D"/>
          </a:solidFill>
          <a:ln w="0">
            <a:noFill/>
            <a:prstDash val="solid"/>
          </a:ln>
        </p:spPr>
      </p:sp>
      <p:sp>
        <p:nvSpPr>
          <p:cNvPr id="20" name="lit-head-2">
            <a:extLst>
              <a:ext uri="{FF2B5EF4-FFF2-40B4-BE49-F238E27FC236}">
                <a16:creationId xmlns:a16="http://schemas.microsoft.com/office/drawing/2014/main" id="{E9ABB2A1-879E-484F-839A-D5509242ACC0}"/>
              </a:ext>
            </a:extLst>
          </p:cNvPr>
          <p:cNvSpPr>
            <a:spLocks noGrp="1"/>
          </p:cNvSpPr>
          <p:nvPr/>
        </p:nvSpPr>
        <p:spPr>
          <a:xfrm>
            <a:off x="7981950" y="2152650"/>
            <a:ext cx="3190875" cy="323850"/>
          </a:xfrm>
          <a:prstGeom prst="rect">
            <a:avLst/>
          </a:prstGeom>
          <a:noFill/>
          <a:ln w="0">
            <a:noFill/>
            <a:prstDash val="solid"/>
          </a:ln>
        </p:spPr>
        <p:txBody>
          <a:bodyPr wrap="square" lIns="47625" tIns="38100" rIns="47625" bIns="38100" anchor="t">
            <a:no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SOURCE STUDIES</a:t>
            </a:r>
          </a:p>
        </p:txBody>
      </p:sp>
      <p:sp>
        <p:nvSpPr>
          <p:cNvPr id="21" name="lit-body-2">
            <a:extLst>
              <a:ext uri="{FF2B5EF4-FFF2-40B4-BE49-F238E27FC236}">
                <a16:creationId xmlns:a16="http://schemas.microsoft.com/office/drawing/2014/main" id="{1738472B-984D-4FB1-9A51-12EAE154C2F4}"/>
              </a:ext>
            </a:extLst>
          </p:cNvPr>
          <p:cNvSpPr>
            <a:spLocks noGrp="1"/>
          </p:cNvSpPr>
          <p:nvPr/>
        </p:nvSpPr>
        <p:spPr>
          <a:xfrm>
            <a:off x="8077200" y="2571750"/>
            <a:ext cx="3000375"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Crab</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Spatial and pulse-phase structure.</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Cyg X-1</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Polarization constrains disk–jet geometry.</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Her X-1</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Phase-resolved polarization constrains pulsar geometry.</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Implication</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Energy, phase and source state matter.</a:t>
            </a:r>
          </a:p>
        </p:txBody>
      </p:sp>
      <p:sp>
        <p:nvSpPr>
          <p:cNvPr id="22" name="lit-takeaway">
            <a:extLst>
              <a:ext uri="{FF2B5EF4-FFF2-40B4-BE49-F238E27FC236}">
                <a16:creationId xmlns:a16="http://schemas.microsoft.com/office/drawing/2014/main" id="{4F0D89C5-3144-4738-9D5E-E21A557FF35F}"/>
              </a:ext>
            </a:extLst>
          </p:cNvPr>
          <p:cNvSpPr>
            <a:spLocks noGrp="1"/>
          </p:cNvSpPr>
          <p:nvPr/>
        </p:nvSpPr>
        <p:spPr>
          <a:xfrm>
            <a:off x="1095375" y="5638800"/>
            <a:ext cx="10001250" cy="457200"/>
          </a:xfrm>
          <a:prstGeom prst="roundRect">
            <a:avLst>
              <a:gd name="adj" fmla="val 16667"/>
            </a:avLst>
          </a:prstGeom>
          <a:solidFill>
            <a:srgbClr val="FFF0E5"/>
          </a:solidFill>
          <a:ln w="13335">
            <a:solidFill>
              <a:srgbClr val="D95F02"/>
            </a:solidFill>
            <a:prstDash val="solid"/>
          </a:ln>
        </p:spPr>
        <p:txBody>
          <a:bodyPr wrap="square" lIns="133350" tIns="95250" rIns="133350" bIns="95250" anchor="ctr">
            <a:noAutofit/>
          </a:bodyPr>
          <a:lstStyle/>
          <a:p>
            <a:pPr algn="ctr">
              <a:defRPr sz="1350" b="1">
                <a:solidFill>
                  <a:srgbClr val="D95F02"/>
                </a:solidFill>
                <a:latin typeface="Calibri"/>
                <a:ea typeface="Calibri"/>
                <a:cs typeface="Calibri"/>
              </a:defRPr>
            </a:pPr>
            <a:r>
              <a:rPr sz="1350" b="1">
                <a:solidFill>
                  <a:srgbClr val="D95F02"/>
                </a:solidFill>
                <a:latin typeface="Calibri"/>
                <a:ea typeface="Calibri"/>
                <a:cs typeface="Calibri"/>
              </a:rPr>
              <a:t>Source-specific calibrated results motivate features and checks; they cannot be transferred directly to a POLIX anomaly score.</a:t>
            </a:r>
          </a:p>
        </p:txBody>
      </p:sp>
    </p:spTree>
    <p:extLst>
      <p:ext uri="{BB962C8B-B14F-4D97-AF65-F5344CB8AC3E}">
        <p14:creationId xmlns:p14="http://schemas.microsoft.com/office/powerpoint/2010/main" val="3143505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Astronomy ML Supports Unlabelled Screening</a:t>
            </a:r>
          </a:p>
        </p:txBody>
      </p:sp>
      <p:sp>
        <p:nvSpPr>
          <p:cNvPr id="9" name="orange-rule-64-169">
            <a:extLst>
              <a:ext uri="{FF2B5EF4-FFF2-40B4-BE49-F238E27FC236}">
                <a16:creationId xmlns:a16="http://schemas.microsoft.com/office/drawing/2014/main" id="{419A6325-247B-4C68-8388-D38F49F4D6F6}"/>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82E69162-248A-4C40-A344-CF353520AAB2}"/>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ml-head-0">
            <a:extLst>
              <a:ext uri="{FF2B5EF4-FFF2-40B4-BE49-F238E27FC236}">
                <a16:creationId xmlns:a16="http://schemas.microsoft.com/office/drawing/2014/main" id="{A01183F4-42CC-412F-B609-A49CC9C85DD7}"/>
              </a:ext>
            </a:extLst>
          </p:cNvPr>
          <p:cNvSpPr>
            <a:spLocks noGrp="1"/>
          </p:cNvSpPr>
          <p:nvPr/>
        </p:nvSpPr>
        <p:spPr>
          <a:xfrm>
            <a:off x="666750" y="1857375"/>
            <a:ext cx="2305050" cy="523875"/>
          </a:xfrm>
          <a:prstGeom prst="rect">
            <a:avLst/>
          </a:prstGeom>
          <a:solidFill>
            <a:srgbClr val="006064"/>
          </a:solidFill>
          <a:ln w="9525">
            <a:solidFill>
              <a:srgbClr val="006064"/>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Study / method</a:t>
            </a:r>
          </a:p>
        </p:txBody>
      </p:sp>
      <p:sp>
        <p:nvSpPr>
          <p:cNvPr id="12" name="ml-head-1">
            <a:extLst>
              <a:ext uri="{FF2B5EF4-FFF2-40B4-BE49-F238E27FC236}">
                <a16:creationId xmlns:a16="http://schemas.microsoft.com/office/drawing/2014/main" id="{8DEB088E-F5E2-4768-B225-931C662154B3}"/>
              </a:ext>
            </a:extLst>
          </p:cNvPr>
          <p:cNvSpPr>
            <a:spLocks noGrp="1"/>
          </p:cNvSpPr>
          <p:nvPr/>
        </p:nvSpPr>
        <p:spPr>
          <a:xfrm>
            <a:off x="2971800" y="1857375"/>
            <a:ext cx="2838450" cy="523875"/>
          </a:xfrm>
          <a:prstGeom prst="rect">
            <a:avLst/>
          </a:prstGeom>
          <a:solidFill>
            <a:srgbClr val="006064"/>
          </a:solidFill>
          <a:ln w="9525">
            <a:solidFill>
              <a:srgbClr val="006064"/>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Problem and data</a:t>
            </a:r>
          </a:p>
        </p:txBody>
      </p:sp>
      <p:sp>
        <p:nvSpPr>
          <p:cNvPr id="13" name="ml-head-2">
            <a:extLst>
              <a:ext uri="{FF2B5EF4-FFF2-40B4-BE49-F238E27FC236}">
                <a16:creationId xmlns:a16="http://schemas.microsoft.com/office/drawing/2014/main" id="{406AAC2F-965B-467F-A217-D6FEC30F70FC}"/>
              </a:ext>
            </a:extLst>
          </p:cNvPr>
          <p:cNvSpPr>
            <a:spLocks noGrp="1"/>
          </p:cNvSpPr>
          <p:nvPr/>
        </p:nvSpPr>
        <p:spPr>
          <a:xfrm>
            <a:off x="5810250" y="1857375"/>
            <a:ext cx="2667000" cy="523875"/>
          </a:xfrm>
          <a:prstGeom prst="rect">
            <a:avLst/>
          </a:prstGeom>
          <a:solidFill>
            <a:srgbClr val="006064"/>
          </a:solidFill>
          <a:ln w="9525">
            <a:solidFill>
              <a:srgbClr val="006064"/>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Useful idea</a:t>
            </a:r>
          </a:p>
        </p:txBody>
      </p:sp>
      <p:sp>
        <p:nvSpPr>
          <p:cNvPr id="14" name="ml-head-3">
            <a:extLst>
              <a:ext uri="{FF2B5EF4-FFF2-40B4-BE49-F238E27FC236}">
                <a16:creationId xmlns:a16="http://schemas.microsoft.com/office/drawing/2014/main" id="{C1BEA95B-3DC9-42D1-BBD5-6EB765CDBB1F}"/>
              </a:ext>
            </a:extLst>
          </p:cNvPr>
          <p:cNvSpPr>
            <a:spLocks noGrp="1"/>
          </p:cNvSpPr>
          <p:nvPr/>
        </p:nvSpPr>
        <p:spPr>
          <a:xfrm>
            <a:off x="8477250" y="1857375"/>
            <a:ext cx="3048000" cy="523875"/>
          </a:xfrm>
          <a:prstGeom prst="rect">
            <a:avLst/>
          </a:prstGeom>
          <a:solidFill>
            <a:srgbClr val="006064"/>
          </a:solidFill>
          <a:ln w="9525">
            <a:solidFill>
              <a:srgbClr val="006064"/>
            </a:solidFill>
            <a:prstDash val="solid"/>
          </a:ln>
        </p:spPr>
        <p:txBody>
          <a:bodyPr wrap="square" lIns="76200" tIns="57150" rIns="76200" bIns="57150" anchor="ctr">
            <a:noAutofit/>
          </a:bodyPr>
          <a:lstStyle/>
          <a:p>
            <a:pPr algn="ctr">
              <a:defRPr sz="1275" b="1">
                <a:solidFill>
                  <a:srgbClr val="FFFFFF"/>
                </a:solidFill>
                <a:latin typeface="Calibri"/>
                <a:ea typeface="Calibri"/>
                <a:cs typeface="Calibri"/>
              </a:defRPr>
            </a:pPr>
            <a:r>
              <a:rPr sz="1275" b="1">
                <a:solidFill>
                  <a:srgbClr val="FFFFFF"/>
                </a:solidFill>
                <a:latin typeface="Calibri"/>
                <a:ea typeface="Calibri"/>
                <a:cs typeface="Calibri"/>
              </a:rPr>
              <a:t>Limitation for POLIX</a:t>
            </a:r>
          </a:p>
        </p:txBody>
      </p:sp>
      <p:sp>
        <p:nvSpPr>
          <p:cNvPr id="15" name="ml-0-0">
            <a:extLst>
              <a:ext uri="{FF2B5EF4-FFF2-40B4-BE49-F238E27FC236}">
                <a16:creationId xmlns:a16="http://schemas.microsoft.com/office/drawing/2014/main" id="{8FDEE51E-47EA-43CB-A133-CA6856C7C0C9}"/>
              </a:ext>
            </a:extLst>
          </p:cNvPr>
          <p:cNvSpPr>
            <a:spLocks noGrp="1"/>
          </p:cNvSpPr>
          <p:nvPr/>
        </p:nvSpPr>
        <p:spPr>
          <a:xfrm>
            <a:off x="666750" y="2381250"/>
            <a:ext cx="23050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38" b="1">
                <a:solidFill>
                  <a:srgbClr val="17365D"/>
                </a:solidFill>
                <a:latin typeface="Calibri"/>
                <a:ea typeface="Calibri"/>
                <a:cs typeface="Calibri"/>
              </a:defRPr>
            </a:pPr>
            <a:r>
              <a:rPr sz="1238" b="1">
                <a:solidFill>
                  <a:srgbClr val="17365D"/>
                </a:solidFill>
                <a:latin typeface="Calibri"/>
                <a:ea typeface="Calibri"/>
                <a:cs typeface="Calibri"/>
              </a:rPr>
              <a:t>Pérez-Díaz et al. (2024)</a:t>
            </a:r>
          </a:p>
        </p:txBody>
      </p:sp>
      <p:sp>
        <p:nvSpPr>
          <p:cNvPr id="16" name="ml-0-1">
            <a:extLst>
              <a:ext uri="{FF2B5EF4-FFF2-40B4-BE49-F238E27FC236}">
                <a16:creationId xmlns:a16="http://schemas.microsoft.com/office/drawing/2014/main" id="{036745C4-7E17-4272-951F-C1763CBD60DB}"/>
              </a:ext>
            </a:extLst>
          </p:cNvPr>
          <p:cNvSpPr>
            <a:spLocks noGrp="1"/>
          </p:cNvSpPr>
          <p:nvPr/>
        </p:nvSpPr>
        <p:spPr>
          <a:xfrm>
            <a:off x="2971800" y="2381250"/>
            <a:ext cx="28384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Chandra catalogue source classification</a:t>
            </a:r>
          </a:p>
        </p:txBody>
      </p:sp>
      <p:sp>
        <p:nvSpPr>
          <p:cNvPr id="17" name="ml-0-2">
            <a:extLst>
              <a:ext uri="{FF2B5EF4-FFF2-40B4-BE49-F238E27FC236}">
                <a16:creationId xmlns:a16="http://schemas.microsoft.com/office/drawing/2014/main" id="{40459B79-79E1-4E5A-8F04-F20B46DBE5E8}"/>
              </a:ext>
            </a:extLst>
          </p:cNvPr>
          <p:cNvSpPr>
            <a:spLocks noGrp="1"/>
          </p:cNvSpPr>
          <p:nvPr/>
        </p:nvSpPr>
        <p:spPr>
          <a:xfrm>
            <a:off x="5810250" y="2381250"/>
            <a:ext cx="2667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Unsupervised feature-space structure with few labels</a:t>
            </a:r>
          </a:p>
        </p:txBody>
      </p:sp>
      <p:sp>
        <p:nvSpPr>
          <p:cNvPr id="18" name="ml-0-3">
            <a:extLst>
              <a:ext uri="{FF2B5EF4-FFF2-40B4-BE49-F238E27FC236}">
                <a16:creationId xmlns:a16="http://schemas.microsoft.com/office/drawing/2014/main" id="{299DFEDA-9A23-4785-92B6-1FC0C4381301}"/>
              </a:ext>
            </a:extLst>
          </p:cNvPr>
          <p:cNvSpPr>
            <a:spLocks noGrp="1"/>
          </p:cNvSpPr>
          <p:nvPr/>
        </p:nvSpPr>
        <p:spPr>
          <a:xfrm>
            <a:off x="8477250" y="2381250"/>
            <a:ext cx="3048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Still assigns source classes; different objective and data model</a:t>
            </a:r>
          </a:p>
        </p:txBody>
      </p:sp>
      <p:sp>
        <p:nvSpPr>
          <p:cNvPr id="19" name="ml-1-0">
            <a:extLst>
              <a:ext uri="{FF2B5EF4-FFF2-40B4-BE49-F238E27FC236}">
                <a16:creationId xmlns:a16="http://schemas.microsoft.com/office/drawing/2014/main" id="{C19D5F6E-BA01-4E81-A2AB-91CAC143A200}"/>
              </a:ext>
            </a:extLst>
          </p:cNvPr>
          <p:cNvSpPr>
            <a:spLocks noGrp="1"/>
          </p:cNvSpPr>
          <p:nvPr/>
        </p:nvSpPr>
        <p:spPr>
          <a:xfrm>
            <a:off x="666750" y="3067050"/>
            <a:ext cx="230505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38" b="1">
                <a:solidFill>
                  <a:srgbClr val="17365D"/>
                </a:solidFill>
                <a:latin typeface="Calibri"/>
                <a:ea typeface="Calibri"/>
                <a:cs typeface="Calibri"/>
              </a:defRPr>
            </a:pPr>
            <a:r>
              <a:rPr sz="1238" b="1">
                <a:solidFill>
                  <a:srgbClr val="17365D"/>
                </a:solidFill>
                <a:latin typeface="Calibri"/>
                <a:ea typeface="Calibri"/>
                <a:cs typeface="Calibri"/>
              </a:rPr>
              <a:t>PCA — Pearson (1901)</a:t>
            </a:r>
          </a:p>
        </p:txBody>
      </p:sp>
      <p:sp>
        <p:nvSpPr>
          <p:cNvPr id="20" name="ml-1-1">
            <a:extLst>
              <a:ext uri="{FF2B5EF4-FFF2-40B4-BE49-F238E27FC236}">
                <a16:creationId xmlns:a16="http://schemas.microsoft.com/office/drawing/2014/main" id="{FE02C022-8C71-4542-A22B-466C4844C0B0}"/>
              </a:ext>
            </a:extLst>
          </p:cNvPr>
          <p:cNvSpPr>
            <a:spLocks noGrp="1"/>
          </p:cNvSpPr>
          <p:nvPr/>
        </p:nvSpPr>
        <p:spPr>
          <a:xfrm>
            <a:off x="2971800" y="3067050"/>
            <a:ext cx="283845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Correlated multivariate variables</a:t>
            </a:r>
          </a:p>
        </p:txBody>
      </p:sp>
      <p:sp>
        <p:nvSpPr>
          <p:cNvPr id="21" name="ml-1-2">
            <a:extLst>
              <a:ext uri="{FF2B5EF4-FFF2-40B4-BE49-F238E27FC236}">
                <a16:creationId xmlns:a16="http://schemas.microsoft.com/office/drawing/2014/main" id="{AC399487-6E50-4E0F-8372-44AF605B2064}"/>
              </a:ext>
            </a:extLst>
          </p:cNvPr>
          <p:cNvSpPr>
            <a:spLocks noGrp="1"/>
          </p:cNvSpPr>
          <p:nvPr/>
        </p:nvSpPr>
        <p:spPr>
          <a:xfrm>
            <a:off x="5810250" y="3067050"/>
            <a:ext cx="266700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Compact view of variance and redundancy</a:t>
            </a:r>
          </a:p>
        </p:txBody>
      </p:sp>
      <p:sp>
        <p:nvSpPr>
          <p:cNvPr id="22" name="ml-1-3">
            <a:extLst>
              <a:ext uri="{FF2B5EF4-FFF2-40B4-BE49-F238E27FC236}">
                <a16:creationId xmlns:a16="http://schemas.microsoft.com/office/drawing/2014/main" id="{C549AD6C-2685-4614-B297-AD75B3B3DBDA}"/>
              </a:ext>
            </a:extLst>
          </p:cNvPr>
          <p:cNvSpPr>
            <a:spLocks noGrp="1"/>
          </p:cNvSpPr>
          <p:nvPr/>
        </p:nvSpPr>
        <p:spPr>
          <a:xfrm>
            <a:off x="8477250" y="3067050"/>
            <a:ext cx="304800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Variance is not physical importance; small-sample loadings may shift</a:t>
            </a:r>
          </a:p>
        </p:txBody>
      </p:sp>
      <p:sp>
        <p:nvSpPr>
          <p:cNvPr id="23" name="ml-2-0">
            <a:extLst>
              <a:ext uri="{FF2B5EF4-FFF2-40B4-BE49-F238E27FC236}">
                <a16:creationId xmlns:a16="http://schemas.microsoft.com/office/drawing/2014/main" id="{CF60F558-86E9-46A2-BA6D-A767F21A6CB8}"/>
              </a:ext>
            </a:extLst>
          </p:cNvPr>
          <p:cNvSpPr>
            <a:spLocks noGrp="1"/>
          </p:cNvSpPr>
          <p:nvPr/>
        </p:nvSpPr>
        <p:spPr>
          <a:xfrm>
            <a:off x="666750" y="3752850"/>
            <a:ext cx="23050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38" b="1">
                <a:solidFill>
                  <a:srgbClr val="17365D"/>
                </a:solidFill>
                <a:latin typeface="Calibri"/>
                <a:ea typeface="Calibri"/>
                <a:cs typeface="Calibri"/>
              </a:defRPr>
            </a:pPr>
            <a:r>
              <a:rPr sz="1238" b="1">
                <a:solidFill>
                  <a:srgbClr val="17365D"/>
                </a:solidFill>
                <a:latin typeface="Calibri"/>
                <a:ea typeface="Calibri"/>
                <a:cs typeface="Calibri"/>
              </a:rPr>
              <a:t>KMeans — MacQueen (1967)</a:t>
            </a:r>
          </a:p>
        </p:txBody>
      </p:sp>
      <p:sp>
        <p:nvSpPr>
          <p:cNvPr id="24" name="ml-2-1">
            <a:extLst>
              <a:ext uri="{FF2B5EF4-FFF2-40B4-BE49-F238E27FC236}">
                <a16:creationId xmlns:a16="http://schemas.microsoft.com/office/drawing/2014/main" id="{5F1DA2E4-8E5B-492F-ACDC-DB05B2F0194A}"/>
              </a:ext>
            </a:extLst>
          </p:cNvPr>
          <p:cNvSpPr>
            <a:spLocks noGrp="1"/>
          </p:cNvSpPr>
          <p:nvPr/>
        </p:nvSpPr>
        <p:spPr>
          <a:xfrm>
            <a:off x="2971800" y="3752850"/>
            <a:ext cx="28384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Exploratory grouping</a:t>
            </a:r>
          </a:p>
        </p:txBody>
      </p:sp>
      <p:sp>
        <p:nvSpPr>
          <p:cNvPr id="25" name="ml-2-2">
            <a:extLst>
              <a:ext uri="{FF2B5EF4-FFF2-40B4-BE49-F238E27FC236}">
                <a16:creationId xmlns:a16="http://schemas.microsoft.com/office/drawing/2014/main" id="{59F48EED-2C48-4E17-875C-65EF581358C9}"/>
              </a:ext>
            </a:extLst>
          </p:cNvPr>
          <p:cNvSpPr>
            <a:spLocks noGrp="1"/>
          </p:cNvSpPr>
          <p:nvPr/>
        </p:nvSpPr>
        <p:spPr>
          <a:xfrm>
            <a:off x="5810250" y="3752850"/>
            <a:ext cx="2667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Checks whether observations form broad similarity groups</a:t>
            </a:r>
          </a:p>
        </p:txBody>
      </p:sp>
      <p:sp>
        <p:nvSpPr>
          <p:cNvPr id="26" name="ml-2-3">
            <a:extLst>
              <a:ext uri="{FF2B5EF4-FFF2-40B4-BE49-F238E27FC236}">
                <a16:creationId xmlns:a16="http://schemas.microsoft.com/office/drawing/2014/main" id="{EDD383AA-E233-4012-8B92-69B6B9EA43CA}"/>
              </a:ext>
            </a:extLst>
          </p:cNvPr>
          <p:cNvSpPr>
            <a:spLocks noGrp="1"/>
          </p:cNvSpPr>
          <p:nvPr/>
        </p:nvSpPr>
        <p:spPr>
          <a:xfrm>
            <a:off x="8477250" y="3752850"/>
            <a:ext cx="3048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Requires k and scaling; clusters do not prove physical classes</a:t>
            </a:r>
          </a:p>
        </p:txBody>
      </p:sp>
      <p:sp>
        <p:nvSpPr>
          <p:cNvPr id="27" name="ml-3-0">
            <a:extLst>
              <a:ext uri="{FF2B5EF4-FFF2-40B4-BE49-F238E27FC236}">
                <a16:creationId xmlns:a16="http://schemas.microsoft.com/office/drawing/2014/main" id="{D4D4B18A-4A1D-43E9-8C21-88BD9451DA61}"/>
              </a:ext>
            </a:extLst>
          </p:cNvPr>
          <p:cNvSpPr>
            <a:spLocks noGrp="1"/>
          </p:cNvSpPr>
          <p:nvPr/>
        </p:nvSpPr>
        <p:spPr>
          <a:xfrm>
            <a:off x="666750" y="4438650"/>
            <a:ext cx="230505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38" b="1">
                <a:solidFill>
                  <a:srgbClr val="17365D"/>
                </a:solidFill>
                <a:latin typeface="Calibri"/>
                <a:ea typeface="Calibri"/>
                <a:cs typeface="Calibri"/>
              </a:defRPr>
            </a:pPr>
            <a:r>
              <a:rPr sz="1238" b="1">
                <a:solidFill>
                  <a:srgbClr val="17365D"/>
                </a:solidFill>
                <a:latin typeface="Calibri"/>
                <a:ea typeface="Calibri"/>
                <a:cs typeface="Calibri"/>
              </a:rPr>
              <a:t>Isolation Forest — Liu et al. (2008)</a:t>
            </a:r>
          </a:p>
        </p:txBody>
      </p:sp>
      <p:sp>
        <p:nvSpPr>
          <p:cNvPr id="28" name="ml-3-1">
            <a:extLst>
              <a:ext uri="{FF2B5EF4-FFF2-40B4-BE49-F238E27FC236}">
                <a16:creationId xmlns:a16="http://schemas.microsoft.com/office/drawing/2014/main" id="{5E055053-1F4B-4FF9-8741-5ED94F14DCCE}"/>
              </a:ext>
            </a:extLst>
          </p:cNvPr>
          <p:cNvSpPr>
            <a:spLocks noGrp="1"/>
          </p:cNvSpPr>
          <p:nvPr/>
        </p:nvSpPr>
        <p:spPr>
          <a:xfrm>
            <a:off x="2971800" y="4438650"/>
            <a:ext cx="283845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Unlabelled anomaly ranking</a:t>
            </a:r>
          </a:p>
        </p:txBody>
      </p:sp>
      <p:sp>
        <p:nvSpPr>
          <p:cNvPr id="29" name="ml-3-2">
            <a:extLst>
              <a:ext uri="{FF2B5EF4-FFF2-40B4-BE49-F238E27FC236}">
                <a16:creationId xmlns:a16="http://schemas.microsoft.com/office/drawing/2014/main" id="{FF59A777-0CE3-48D2-9F97-8487DEE3AD57}"/>
              </a:ext>
            </a:extLst>
          </p:cNvPr>
          <p:cNvSpPr>
            <a:spLocks noGrp="1"/>
          </p:cNvSpPr>
          <p:nvPr/>
        </p:nvSpPr>
        <p:spPr>
          <a:xfrm>
            <a:off x="5810250" y="4438650"/>
            <a:ext cx="266700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Isolation-based screening without normal-density modelling</a:t>
            </a:r>
          </a:p>
        </p:txBody>
      </p:sp>
      <p:sp>
        <p:nvSpPr>
          <p:cNvPr id="30" name="ml-3-3">
            <a:extLst>
              <a:ext uri="{FF2B5EF4-FFF2-40B4-BE49-F238E27FC236}">
                <a16:creationId xmlns:a16="http://schemas.microsoft.com/office/drawing/2014/main" id="{3DFA7CF6-DBF6-4829-B010-EA8F54FF343F}"/>
              </a:ext>
            </a:extLst>
          </p:cNvPr>
          <p:cNvSpPr>
            <a:spLocks noGrp="1"/>
          </p:cNvSpPr>
          <p:nvPr/>
        </p:nvSpPr>
        <p:spPr>
          <a:xfrm>
            <a:off x="8477250" y="4438650"/>
            <a:ext cx="3048000" cy="685800"/>
          </a:xfrm>
          <a:prstGeom prst="rect">
            <a:avLst/>
          </a:prstGeom>
          <a:solidFill>
            <a:srgbClr val="FFFFFF"/>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Scores depend on sample, features and randomization</a:t>
            </a:r>
          </a:p>
        </p:txBody>
      </p:sp>
      <p:sp>
        <p:nvSpPr>
          <p:cNvPr id="31" name="ml-4-0">
            <a:extLst>
              <a:ext uri="{FF2B5EF4-FFF2-40B4-BE49-F238E27FC236}">
                <a16:creationId xmlns:a16="http://schemas.microsoft.com/office/drawing/2014/main" id="{5E255C88-7F85-4376-8E81-62FDCF856D4F}"/>
              </a:ext>
            </a:extLst>
          </p:cNvPr>
          <p:cNvSpPr>
            <a:spLocks noGrp="1"/>
          </p:cNvSpPr>
          <p:nvPr/>
        </p:nvSpPr>
        <p:spPr>
          <a:xfrm>
            <a:off x="666750" y="5124450"/>
            <a:ext cx="23050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38" b="1">
                <a:solidFill>
                  <a:srgbClr val="17365D"/>
                </a:solidFill>
                <a:latin typeface="Calibri"/>
                <a:ea typeface="Calibri"/>
                <a:cs typeface="Calibri"/>
              </a:defRPr>
            </a:pPr>
            <a:r>
              <a:rPr sz="1238" b="1">
                <a:solidFill>
                  <a:srgbClr val="17365D"/>
                </a:solidFill>
                <a:latin typeface="Calibri"/>
                <a:ea typeface="Calibri"/>
                <a:cs typeface="Calibri"/>
              </a:rPr>
              <a:t>Astronomaly — Lochner &amp; Bassett (2021)</a:t>
            </a:r>
          </a:p>
        </p:txBody>
      </p:sp>
      <p:sp>
        <p:nvSpPr>
          <p:cNvPr id="32" name="ml-4-1">
            <a:extLst>
              <a:ext uri="{FF2B5EF4-FFF2-40B4-BE49-F238E27FC236}">
                <a16:creationId xmlns:a16="http://schemas.microsoft.com/office/drawing/2014/main" id="{9428D727-9269-42C0-A8C0-A31FA6BF415C}"/>
              </a:ext>
            </a:extLst>
          </p:cNvPr>
          <p:cNvSpPr>
            <a:spLocks noGrp="1"/>
          </p:cNvSpPr>
          <p:nvPr/>
        </p:nvSpPr>
        <p:spPr>
          <a:xfrm>
            <a:off x="2971800" y="5124450"/>
            <a:ext cx="283845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Human-guided archive anomaly search</a:t>
            </a:r>
          </a:p>
        </p:txBody>
      </p:sp>
      <p:sp>
        <p:nvSpPr>
          <p:cNvPr id="33" name="ml-4-2">
            <a:extLst>
              <a:ext uri="{FF2B5EF4-FFF2-40B4-BE49-F238E27FC236}">
                <a16:creationId xmlns:a16="http://schemas.microsoft.com/office/drawing/2014/main" id="{70368575-E660-4D95-831B-9D1C43EED0DB}"/>
              </a:ext>
            </a:extLst>
          </p:cNvPr>
          <p:cNvSpPr>
            <a:spLocks noGrp="1"/>
          </p:cNvSpPr>
          <p:nvPr/>
        </p:nvSpPr>
        <p:spPr>
          <a:xfrm>
            <a:off x="5810250" y="5124450"/>
            <a:ext cx="2667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Expert review and extensible ranking workflow</a:t>
            </a:r>
          </a:p>
        </p:txBody>
      </p:sp>
      <p:sp>
        <p:nvSpPr>
          <p:cNvPr id="34" name="ml-4-3">
            <a:extLst>
              <a:ext uri="{FF2B5EF4-FFF2-40B4-BE49-F238E27FC236}">
                <a16:creationId xmlns:a16="http://schemas.microsoft.com/office/drawing/2014/main" id="{2347459E-FDD8-4D47-8250-A7240E309DBA}"/>
              </a:ext>
            </a:extLst>
          </p:cNvPr>
          <p:cNvSpPr>
            <a:spLocks noGrp="1"/>
          </p:cNvSpPr>
          <p:nvPr/>
        </p:nvSpPr>
        <p:spPr>
          <a:xfrm>
            <a:off x="8477250" y="5124450"/>
            <a:ext cx="3048000" cy="685800"/>
          </a:xfrm>
          <a:prstGeom prst="rect">
            <a:avLst/>
          </a:prstGeom>
          <a:solidFill>
            <a:srgbClr val="F5F7F9"/>
          </a:solidFill>
          <a:ln w="9525">
            <a:solidFill>
              <a:srgbClr val="CBD5E1"/>
            </a:solidFill>
            <a:prstDash val="solid"/>
          </a:ln>
        </p:spPr>
        <p:txBody>
          <a:bodyPr wrap="square" lIns="76200" tIns="57150" rIns="76200" bIns="57150" anchor="ctr">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Does not encode POLIX products or calibration semantics</a:t>
            </a:r>
          </a:p>
        </p:txBody>
      </p:sp>
      <p:sp>
        <p:nvSpPr>
          <p:cNvPr id="35" name="ml-conclusion">
            <a:extLst>
              <a:ext uri="{FF2B5EF4-FFF2-40B4-BE49-F238E27FC236}">
                <a16:creationId xmlns:a16="http://schemas.microsoft.com/office/drawing/2014/main" id="{6333775D-CDF5-49AB-A48D-0DB2B515879F}"/>
              </a:ext>
            </a:extLst>
          </p:cNvPr>
          <p:cNvSpPr>
            <a:spLocks noGrp="1"/>
          </p:cNvSpPr>
          <p:nvPr/>
        </p:nvSpPr>
        <p:spPr>
          <a:xfrm>
            <a:off x="762000" y="5886450"/>
            <a:ext cx="10668000" cy="285750"/>
          </a:xfrm>
          <a:prstGeom prst="rect">
            <a:avLst/>
          </a:prstGeom>
          <a:noFill/>
          <a:ln w="0">
            <a:noFill/>
            <a:prstDash val="solid"/>
          </a:ln>
        </p:spPr>
        <p:txBody>
          <a:bodyPr wrap="square" lIns="47625" tIns="38100" rIns="47625" bIns="38100" anchor="t">
            <a:noAutofit/>
          </a:bodyPr>
          <a:lstStyle/>
          <a:p>
            <a:pPr algn="ctr">
              <a:defRPr sz="1350" b="1">
                <a:solidFill>
                  <a:srgbClr val="A61B1B"/>
                </a:solidFill>
                <a:latin typeface="Calibri"/>
                <a:ea typeface="Calibri"/>
                <a:cs typeface="Calibri"/>
              </a:defRPr>
            </a:pPr>
            <a:r>
              <a:rPr sz="1350" b="1">
                <a:solidFill>
                  <a:srgbClr val="A61B1B"/>
                </a:solidFill>
                <a:latin typeface="Calibri"/>
                <a:ea typeface="Calibri"/>
                <a:cs typeface="Calibri"/>
              </a:rPr>
              <a:t>Literature supports screening and prioritization—not automatic scientific discovery.</a:t>
            </a:r>
          </a:p>
        </p:txBody>
      </p:sp>
    </p:spTree>
    <p:extLst>
      <p:ext uri="{BB962C8B-B14F-4D97-AF65-F5344CB8AC3E}">
        <p14:creationId xmlns:p14="http://schemas.microsoft.com/office/powerpoint/2010/main" val="314350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Explainability Must Preserve Scientific Meaning</a:t>
            </a:r>
          </a:p>
        </p:txBody>
      </p:sp>
      <p:sp>
        <p:nvSpPr>
          <p:cNvPr id="9" name="orange-rule-64-169">
            <a:extLst>
              <a:ext uri="{FF2B5EF4-FFF2-40B4-BE49-F238E27FC236}">
                <a16:creationId xmlns:a16="http://schemas.microsoft.com/office/drawing/2014/main" id="{48734861-73D4-47CE-87CB-270AD1396DDD}"/>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4AA55DEC-2084-40A4-A128-A1802C8F5966}"/>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Evidence path A — statistical screening">
            <a:extLst>
              <a:ext uri="{FF2B5EF4-FFF2-40B4-BE49-F238E27FC236}">
                <a16:creationId xmlns:a16="http://schemas.microsoft.com/office/drawing/2014/main" id="{BCA4F739-893C-45F9-854B-AAB6E2106175}"/>
              </a:ext>
            </a:extLst>
          </p:cNvPr>
          <p:cNvSpPr>
            <a:spLocks noGrp="1"/>
          </p:cNvSpPr>
          <p:nvPr/>
        </p:nvSpPr>
        <p:spPr>
          <a:xfrm>
            <a:off x="6858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EVIDENCE PATH A — STATISTICAL SCREENING</a:t>
            </a:r>
          </a:p>
        </p:txBody>
      </p:sp>
      <p:sp>
        <p:nvSpPr>
          <p:cNvPr id="12" name="screening-path">
            <a:extLst>
              <a:ext uri="{FF2B5EF4-FFF2-40B4-BE49-F238E27FC236}">
                <a16:creationId xmlns:a16="http://schemas.microsoft.com/office/drawing/2014/main" id="{54431870-641E-4FDC-AECD-6BB2E63F8C6C}"/>
              </a:ext>
            </a:extLst>
          </p:cNvPr>
          <p:cNvSpPr>
            <a:spLocks noGrp="1"/>
          </p:cNvSpPr>
          <p:nvPr/>
        </p:nvSpPr>
        <p:spPr>
          <a:xfrm>
            <a:off x="904875" y="2333625"/>
            <a:ext cx="4286250" cy="2286000"/>
          </a:xfrm>
          <a:prstGeom prst="rect">
            <a:avLst/>
          </a:prstGeom>
          <a:noFill/>
          <a:ln w="0">
            <a:noFill/>
            <a:prstDash val="solid"/>
          </a:ln>
        </p:spPr>
        <p:txBody>
          <a:bodyPr wrap="square" lIns="47625" tIns="38100" rIns="47625" bIns="38100" anchor="ctr">
            <a:noAutofit/>
          </a:bodyPr>
          <a:lstStyle/>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Interpretable Level-2 features</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Unsupervised observation score</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Feature deviation + product provenance</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Researcher review</a:t>
            </a:r>
          </a:p>
        </p:txBody>
      </p:sp>
      <p:sp>
        <p:nvSpPr>
          <p:cNvPr id="13" name="divider-625">
            <a:extLst>
              <a:ext uri="{FF2B5EF4-FFF2-40B4-BE49-F238E27FC236}">
                <a16:creationId xmlns:a16="http://schemas.microsoft.com/office/drawing/2014/main" id="{E3B94FBF-7BA8-42A5-9C34-9320FFDFE67B}"/>
              </a:ext>
            </a:extLst>
          </p:cNvPr>
          <p:cNvSpPr>
            <a:spLocks noGrp="1"/>
          </p:cNvSpPr>
          <p:nvPr/>
        </p:nvSpPr>
        <p:spPr>
          <a:xfrm>
            <a:off x="5953125" y="1952625"/>
            <a:ext cx="14288" cy="3238500"/>
          </a:xfrm>
          <a:prstGeom prst="rect">
            <a:avLst/>
          </a:prstGeom>
          <a:solidFill>
            <a:srgbClr val="CBD5E1"/>
          </a:solidFill>
          <a:ln w="0">
            <a:noFill/>
            <a:prstDash val="solid"/>
          </a:ln>
        </p:spPr>
      </p:sp>
      <p:sp>
        <p:nvSpPr>
          <p:cNvPr id="14" name="section-Evidence path B — physical diagnostic">
            <a:extLst>
              <a:ext uri="{FF2B5EF4-FFF2-40B4-BE49-F238E27FC236}">
                <a16:creationId xmlns:a16="http://schemas.microsoft.com/office/drawing/2014/main" id="{2CA1C836-B3C1-42AD-A66D-130E8B833F05}"/>
              </a:ext>
            </a:extLst>
          </p:cNvPr>
          <p:cNvSpPr>
            <a:spLocks noGrp="1"/>
          </p:cNvSpPr>
          <p:nvPr/>
        </p:nvSpPr>
        <p:spPr>
          <a:xfrm>
            <a:off x="6429375" y="1857375"/>
            <a:ext cx="4905375"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EVIDENCE PATH B — PHYSICAL DIAGNOSTIC</a:t>
            </a:r>
          </a:p>
        </p:txBody>
      </p:sp>
      <p:sp>
        <p:nvSpPr>
          <p:cNvPr id="15" name="physical-path">
            <a:extLst>
              <a:ext uri="{FF2B5EF4-FFF2-40B4-BE49-F238E27FC236}">
                <a16:creationId xmlns:a16="http://schemas.microsoft.com/office/drawing/2014/main" id="{9ED64027-DE8D-43A4-950C-08402B97ED79}"/>
              </a:ext>
            </a:extLst>
          </p:cNvPr>
          <p:cNvSpPr>
            <a:spLocks noGrp="1"/>
          </p:cNvSpPr>
          <p:nvPr/>
        </p:nvSpPr>
        <p:spPr>
          <a:xfrm>
            <a:off x="6667500" y="2333625"/>
            <a:ext cx="4286250" cy="2286000"/>
          </a:xfrm>
          <a:prstGeom prst="rect">
            <a:avLst/>
          </a:prstGeom>
          <a:noFill/>
          <a:ln w="0">
            <a:noFill/>
            <a:prstDash val="solid"/>
          </a:ln>
        </p:spPr>
        <p:txBody>
          <a:bodyPr wrap="square" lIns="47625" tIns="38100" rIns="47625" bIns="38100" anchor="ctr">
            <a:noAutofit/>
          </a:bodyPr>
          <a:lstStyle/>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WeightedRoll source + background</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Raw / fitted modulation amplitude and phase</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Blank-sky comparison + response calibration</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Only then: calibrated PD / official PA</a:t>
            </a:r>
          </a:p>
        </p:txBody>
      </p:sp>
      <p:sp>
        <p:nvSpPr>
          <p:cNvPr id="16" name="xai-rule">
            <a:extLst>
              <a:ext uri="{FF2B5EF4-FFF2-40B4-BE49-F238E27FC236}">
                <a16:creationId xmlns:a16="http://schemas.microsoft.com/office/drawing/2014/main" id="{E754CCC4-5C3F-4275-ACB7-901CA8EE4F9B}"/>
              </a:ext>
            </a:extLst>
          </p:cNvPr>
          <p:cNvSpPr>
            <a:spLocks noGrp="1"/>
          </p:cNvSpPr>
          <p:nvPr/>
        </p:nvSpPr>
        <p:spPr>
          <a:xfrm>
            <a:off x="1190625" y="4905375"/>
            <a:ext cx="9810750" cy="590550"/>
          </a:xfrm>
          <a:prstGeom prst="roundRect">
            <a:avLst>
              <a:gd name="adj" fmla="val 12903"/>
            </a:avLst>
          </a:prstGeom>
          <a:solidFill>
            <a:srgbClr val="EEF4FA"/>
          </a:solidFill>
          <a:ln w="13335">
            <a:solidFill>
              <a:srgbClr val="17365D"/>
            </a:solidFill>
            <a:prstDash val="solid"/>
          </a:ln>
        </p:spPr>
        <p:txBody>
          <a:bodyPr wrap="square" lIns="133350" tIns="95250" rIns="133350" bIns="95250" anchor="ctr">
            <a:no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Scientific XAI must show what differed, in which original product, relative to what reference, and with what uncertainty.</a:t>
            </a:r>
          </a:p>
        </p:txBody>
      </p:sp>
      <p:sp>
        <p:nvSpPr>
          <p:cNvPr id="17" name="method-boundary">
            <a:extLst>
              <a:ext uri="{FF2B5EF4-FFF2-40B4-BE49-F238E27FC236}">
                <a16:creationId xmlns:a16="http://schemas.microsoft.com/office/drawing/2014/main" id="{31A926D2-D9C6-4FF7-8AD3-C02A24DC272B}"/>
              </a:ext>
            </a:extLst>
          </p:cNvPr>
          <p:cNvSpPr>
            <a:spLocks noGrp="1"/>
          </p:cNvSpPr>
          <p:nvPr/>
        </p:nvSpPr>
        <p:spPr>
          <a:xfrm>
            <a:off x="1476375" y="5619750"/>
            <a:ext cx="9239250" cy="457200"/>
          </a:xfrm>
          <a:prstGeom prst="rect">
            <a:avLst/>
          </a:prstGeom>
          <a:noFill/>
          <a:ln w="0">
            <a:noFill/>
            <a:prstDash val="solid"/>
          </a:ln>
        </p:spPr>
        <p:txBody>
          <a:bodyPr wrap="square" lIns="47625" tIns="38100" rIns="47625" bIns="38100" anchor="ctr">
            <a:noAutofit/>
          </a:bodyPr>
          <a:lstStyle/>
          <a:p>
            <a:pPr algn="ctr">
              <a:defRPr sz="1275" b="1">
                <a:solidFill>
                  <a:srgbClr val="A61B1B"/>
                </a:solidFill>
                <a:latin typeface="Calibri"/>
                <a:ea typeface="Calibri"/>
                <a:cs typeface="Calibri"/>
              </a:defRPr>
            </a:pPr>
            <a:r>
              <a:rPr sz="1275" b="1">
                <a:solidFill>
                  <a:srgbClr val="A61B1B"/>
                </a:solidFill>
                <a:latin typeface="Calibri"/>
                <a:ea typeface="Calibri"/>
                <a:cs typeface="Calibri"/>
              </a:rPr>
              <a:t>SHAP and LightGBM are literature references—not methods claimed for the evolved framework. Attribution is not causality, especially in a small dataset.</a:t>
            </a:r>
          </a:p>
        </p:txBody>
      </p:sp>
    </p:spTree>
    <p:extLst>
      <p:ext uri="{BB962C8B-B14F-4D97-AF65-F5344CB8AC3E}">
        <p14:creationId xmlns:p14="http://schemas.microsoft.com/office/powerpoint/2010/main" val="3143505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Research Gap and Proposed Position</a:t>
            </a:r>
          </a:p>
        </p:txBody>
      </p:sp>
      <p:sp>
        <p:nvSpPr>
          <p:cNvPr id="9" name="orange-rule-64-169">
            <a:extLst>
              <a:ext uri="{FF2B5EF4-FFF2-40B4-BE49-F238E27FC236}">
                <a16:creationId xmlns:a16="http://schemas.microsoft.com/office/drawing/2014/main" id="{B7B0CC85-0724-4CC4-A0FE-67F2405F954D}"/>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064B0B4C-057A-48A9-B5A9-BD38777A3389}"/>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gap-top-0">
            <a:extLst>
              <a:ext uri="{FF2B5EF4-FFF2-40B4-BE49-F238E27FC236}">
                <a16:creationId xmlns:a16="http://schemas.microsoft.com/office/drawing/2014/main" id="{4C4E6F83-76DC-41BA-A67D-2E4F5858AF5A}"/>
              </a:ext>
            </a:extLst>
          </p:cNvPr>
          <p:cNvSpPr>
            <a:spLocks noGrp="1"/>
          </p:cNvSpPr>
          <p:nvPr/>
        </p:nvSpPr>
        <p:spPr>
          <a:xfrm>
            <a:off x="685800" y="1952625"/>
            <a:ext cx="3190875" cy="66675"/>
          </a:xfrm>
          <a:prstGeom prst="rect">
            <a:avLst/>
          </a:prstGeom>
          <a:solidFill>
            <a:srgbClr val="006064"/>
          </a:solidFill>
          <a:ln w="0">
            <a:noFill/>
            <a:prstDash val="solid"/>
          </a:ln>
        </p:spPr>
      </p:sp>
      <p:sp>
        <p:nvSpPr>
          <p:cNvPr id="12" name="gap-head-0">
            <a:extLst>
              <a:ext uri="{FF2B5EF4-FFF2-40B4-BE49-F238E27FC236}">
                <a16:creationId xmlns:a16="http://schemas.microsoft.com/office/drawing/2014/main" id="{DDF01EC0-FA6C-433C-87D5-2F4EE93039CB}"/>
              </a:ext>
            </a:extLst>
          </p:cNvPr>
          <p:cNvSpPr>
            <a:spLocks noGrp="1"/>
          </p:cNvSpPr>
          <p:nvPr/>
        </p:nvSpPr>
        <p:spPr>
          <a:xfrm>
            <a:off x="685800"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006064"/>
                </a:solidFill>
                <a:latin typeface="Calibri"/>
                <a:ea typeface="Calibri"/>
                <a:cs typeface="Calibri"/>
              </a:defRPr>
            </a:pPr>
            <a:r>
              <a:rPr sz="1350" b="1">
                <a:solidFill>
                  <a:srgbClr val="006064"/>
                </a:solidFill>
                <a:latin typeface="Calibri"/>
                <a:ea typeface="Calibri"/>
                <a:cs typeface="Calibri"/>
              </a:rPr>
              <a:t>WELL ESTABLISHED</a:t>
            </a:r>
          </a:p>
        </p:txBody>
      </p:sp>
      <p:sp>
        <p:nvSpPr>
          <p:cNvPr id="13" name="gap-body-0">
            <a:extLst>
              <a:ext uri="{FF2B5EF4-FFF2-40B4-BE49-F238E27FC236}">
                <a16:creationId xmlns:a16="http://schemas.microsoft.com/office/drawing/2014/main" id="{675493B6-E01E-4A4F-AA5E-0E19CE479DA7}"/>
              </a:ext>
            </a:extLst>
          </p:cNvPr>
          <p:cNvSpPr>
            <a:spLocks noGrp="1"/>
          </p:cNvSpPr>
          <p:nvPr/>
        </p:nvSpPr>
        <p:spPr>
          <a:xfrm>
            <a:off x="762000"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X-ray polarization constrains geometry and magnetic/scattering structure</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POLIX Level-2 products have defined scientific meanings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Unsupervised methods can prioritize unusual observations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Explanations need contextual evidence</a:t>
            </a:r>
          </a:p>
        </p:txBody>
      </p:sp>
      <p:sp>
        <p:nvSpPr>
          <p:cNvPr id="14" name="divider-430">
            <a:extLst>
              <a:ext uri="{FF2B5EF4-FFF2-40B4-BE49-F238E27FC236}">
                <a16:creationId xmlns:a16="http://schemas.microsoft.com/office/drawing/2014/main" id="{3BD28E8C-3D06-4C34-A168-5334EDAD1593}"/>
              </a:ext>
            </a:extLst>
          </p:cNvPr>
          <p:cNvSpPr>
            <a:spLocks noGrp="1"/>
          </p:cNvSpPr>
          <p:nvPr/>
        </p:nvSpPr>
        <p:spPr>
          <a:xfrm>
            <a:off x="4095750" y="1952625"/>
            <a:ext cx="14288" cy="3429000"/>
          </a:xfrm>
          <a:prstGeom prst="rect">
            <a:avLst/>
          </a:prstGeom>
          <a:solidFill>
            <a:srgbClr val="CBD5E1"/>
          </a:solidFill>
          <a:ln w="0">
            <a:noFill/>
            <a:prstDash val="solid"/>
          </a:ln>
        </p:spPr>
      </p:sp>
      <p:sp>
        <p:nvSpPr>
          <p:cNvPr id="15" name="gap-top-1">
            <a:extLst>
              <a:ext uri="{FF2B5EF4-FFF2-40B4-BE49-F238E27FC236}">
                <a16:creationId xmlns:a16="http://schemas.microsoft.com/office/drawing/2014/main" id="{26A74717-E75F-4858-BF41-588A3874C39C}"/>
              </a:ext>
            </a:extLst>
          </p:cNvPr>
          <p:cNvSpPr>
            <a:spLocks noGrp="1"/>
          </p:cNvSpPr>
          <p:nvPr/>
        </p:nvSpPr>
        <p:spPr>
          <a:xfrm>
            <a:off x="4333875" y="1952625"/>
            <a:ext cx="3190875" cy="66675"/>
          </a:xfrm>
          <a:prstGeom prst="rect">
            <a:avLst/>
          </a:prstGeom>
          <a:solidFill>
            <a:srgbClr val="D95F02"/>
          </a:solidFill>
          <a:ln w="0">
            <a:noFill/>
            <a:prstDash val="solid"/>
          </a:ln>
        </p:spPr>
      </p:sp>
      <p:sp>
        <p:nvSpPr>
          <p:cNvPr id="16" name="gap-head-1">
            <a:extLst>
              <a:ext uri="{FF2B5EF4-FFF2-40B4-BE49-F238E27FC236}">
                <a16:creationId xmlns:a16="http://schemas.microsoft.com/office/drawing/2014/main" id="{E7302799-F45D-4BD1-AF83-5F469FB80E8E}"/>
              </a:ext>
            </a:extLst>
          </p:cNvPr>
          <p:cNvSpPr>
            <a:spLocks noGrp="1"/>
          </p:cNvSpPr>
          <p:nvPr/>
        </p:nvSpPr>
        <p:spPr>
          <a:xfrm>
            <a:off x="4333875"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D95F02"/>
                </a:solidFill>
                <a:latin typeface="Calibri"/>
                <a:ea typeface="Calibri"/>
                <a:cs typeface="Calibri"/>
              </a:defRPr>
            </a:pPr>
            <a:r>
              <a:rPr sz="1350" b="1">
                <a:solidFill>
                  <a:srgbClr val="D95F02"/>
                </a:solidFill>
                <a:latin typeface="Calibri"/>
                <a:ea typeface="Calibri"/>
                <a:cs typeface="Calibri"/>
              </a:rPr>
              <a:t>LIMITED WORK IDENTIFIED</a:t>
            </a:r>
          </a:p>
        </p:txBody>
      </p:sp>
      <p:sp>
        <p:nvSpPr>
          <p:cNvPr id="17" name="gap-body-1">
            <a:extLst>
              <a:ext uri="{FF2B5EF4-FFF2-40B4-BE49-F238E27FC236}">
                <a16:creationId xmlns:a16="http://schemas.microsoft.com/office/drawing/2014/main" id="{54983CFF-9219-4F4E-B6F9-15FF4FFDBE18}"/>
              </a:ext>
            </a:extLst>
          </p:cNvPr>
          <p:cNvSpPr>
            <a:spLocks noGrp="1"/>
          </p:cNvSpPr>
          <p:nvPr/>
        </p:nvSpPr>
        <p:spPr>
          <a:xfrm>
            <a:off x="4410075"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A directly comparable framework was not identified that integrates: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multiple POLIX Level-2 products</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interpretable feature engineering</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unsupervised observation screening</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product-aware explanations</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blank-sky-referenced modulation diagnostics</a:t>
            </a:r>
          </a:p>
        </p:txBody>
      </p:sp>
      <p:sp>
        <p:nvSpPr>
          <p:cNvPr id="18" name="divider-813">
            <a:extLst>
              <a:ext uri="{FF2B5EF4-FFF2-40B4-BE49-F238E27FC236}">
                <a16:creationId xmlns:a16="http://schemas.microsoft.com/office/drawing/2014/main" id="{86012F1C-4A58-41E5-BC08-589D25A0907E}"/>
              </a:ext>
            </a:extLst>
          </p:cNvPr>
          <p:cNvSpPr>
            <a:spLocks noGrp="1"/>
          </p:cNvSpPr>
          <p:nvPr/>
        </p:nvSpPr>
        <p:spPr>
          <a:xfrm>
            <a:off x="7743825" y="1952625"/>
            <a:ext cx="14288" cy="3429000"/>
          </a:xfrm>
          <a:prstGeom prst="rect">
            <a:avLst/>
          </a:prstGeom>
          <a:solidFill>
            <a:srgbClr val="CBD5E1"/>
          </a:solidFill>
          <a:ln w="0">
            <a:noFill/>
            <a:prstDash val="solid"/>
          </a:ln>
        </p:spPr>
      </p:sp>
      <p:sp>
        <p:nvSpPr>
          <p:cNvPr id="19" name="gap-top-2">
            <a:extLst>
              <a:ext uri="{FF2B5EF4-FFF2-40B4-BE49-F238E27FC236}">
                <a16:creationId xmlns:a16="http://schemas.microsoft.com/office/drawing/2014/main" id="{AACA053B-3304-4976-8F74-41736CEE8DDF}"/>
              </a:ext>
            </a:extLst>
          </p:cNvPr>
          <p:cNvSpPr>
            <a:spLocks noGrp="1"/>
          </p:cNvSpPr>
          <p:nvPr/>
        </p:nvSpPr>
        <p:spPr>
          <a:xfrm>
            <a:off x="7981950" y="1952625"/>
            <a:ext cx="3190875" cy="66675"/>
          </a:xfrm>
          <a:prstGeom prst="rect">
            <a:avLst/>
          </a:prstGeom>
          <a:solidFill>
            <a:srgbClr val="17365D"/>
          </a:solidFill>
          <a:ln w="0">
            <a:noFill/>
            <a:prstDash val="solid"/>
          </a:ln>
        </p:spPr>
      </p:sp>
      <p:sp>
        <p:nvSpPr>
          <p:cNvPr id="20" name="gap-head-2">
            <a:extLst>
              <a:ext uri="{FF2B5EF4-FFF2-40B4-BE49-F238E27FC236}">
                <a16:creationId xmlns:a16="http://schemas.microsoft.com/office/drawing/2014/main" id="{47B61FC8-96B3-46AD-8274-A5DDE4CF634E}"/>
              </a:ext>
            </a:extLst>
          </p:cNvPr>
          <p:cNvSpPr>
            <a:spLocks noGrp="1"/>
          </p:cNvSpPr>
          <p:nvPr/>
        </p:nvSpPr>
        <p:spPr>
          <a:xfrm>
            <a:off x="7981950"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PROPOSED POSITION</a:t>
            </a:r>
          </a:p>
        </p:txBody>
      </p:sp>
      <p:sp>
        <p:nvSpPr>
          <p:cNvPr id="21" name="gap-body-2">
            <a:extLst>
              <a:ext uri="{FF2B5EF4-FFF2-40B4-BE49-F238E27FC236}">
                <a16:creationId xmlns:a16="http://schemas.microsoft.com/office/drawing/2014/main" id="{0C95FC37-3D63-49AD-8205-FAE68DABF7C8}"/>
              </a:ext>
            </a:extLst>
          </p:cNvPr>
          <p:cNvSpPr>
            <a:spLocks noGrp="1"/>
          </p:cNvSpPr>
          <p:nvPr/>
        </p:nvSpPr>
        <p:spPr>
          <a:xfrm>
            <a:off x="8058150"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The proposed study intends to investigate a researcher-facing screening framework that keeps two questions separate:</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1. Is this observation statistically unusual?</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2. Does independent modulation evidence justify further polarimetric interpretation?</a:t>
            </a:r>
          </a:p>
        </p:txBody>
      </p:sp>
      <p:sp>
        <p:nvSpPr>
          <p:cNvPr id="22" name="guardrails">
            <a:extLst>
              <a:ext uri="{FF2B5EF4-FFF2-40B4-BE49-F238E27FC236}">
                <a16:creationId xmlns:a16="http://schemas.microsoft.com/office/drawing/2014/main" id="{4455DBA1-362D-4566-B4EE-0F137B36EFB4}"/>
              </a:ext>
            </a:extLst>
          </p:cNvPr>
          <p:cNvSpPr>
            <a:spLocks noGrp="1"/>
          </p:cNvSpPr>
          <p:nvPr/>
        </p:nvSpPr>
        <p:spPr>
          <a:xfrm>
            <a:off x="762000" y="5543550"/>
            <a:ext cx="10668000" cy="523875"/>
          </a:xfrm>
          <a:prstGeom prst="roundRect">
            <a:avLst>
              <a:gd name="adj" fmla="val 14545"/>
            </a:avLst>
          </a:prstGeom>
          <a:solidFill>
            <a:srgbClr val="FCECEC"/>
          </a:solidFill>
          <a:ln w="13335">
            <a:solidFill>
              <a:srgbClr val="A61B1B"/>
            </a:solidFill>
            <a:prstDash val="solid"/>
          </a:ln>
        </p:spPr>
        <p:txBody>
          <a:bodyPr wrap="square" lIns="133350" tIns="95250" rIns="133350" bIns="95250" anchor="ctr">
            <a:noAutofit/>
          </a:bodyPr>
          <a:lstStyle/>
          <a:p>
            <a:pPr algn="ctr">
              <a:defRPr sz="1313" b="1">
                <a:solidFill>
                  <a:srgbClr val="A61B1B"/>
                </a:solidFill>
                <a:latin typeface="Calibri"/>
                <a:ea typeface="Calibri"/>
                <a:cs typeface="Calibri"/>
              </a:defRPr>
            </a:pPr>
            <a:r>
              <a:rPr sz="1313" b="1">
                <a:solidFill>
                  <a:srgbClr val="A61B1B"/>
                </a:solidFill>
                <a:latin typeface="Calibri"/>
                <a:ea typeface="Calibri"/>
                <a:cs typeface="Calibri"/>
              </a:rPr>
              <a:t>Claim boundaries: anomaly ≠ discovery   •   fitted phase ≠ official PA   •   no calibrated PD without official calibration   •   expert validation remains essential</a:t>
            </a:r>
          </a:p>
        </p:txBody>
      </p:sp>
    </p:spTree>
    <p:extLst>
      <p:ext uri="{BB962C8B-B14F-4D97-AF65-F5344CB8AC3E}">
        <p14:creationId xmlns:p14="http://schemas.microsoft.com/office/powerpoint/2010/main" val="3143505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References — Missions and Polarimetry</a:t>
            </a:r>
          </a:p>
        </p:txBody>
      </p:sp>
      <p:sp>
        <p:nvSpPr>
          <p:cNvPr id="9" name="orange-rule-64-169">
            <a:extLst>
              <a:ext uri="{FF2B5EF4-FFF2-40B4-BE49-F238E27FC236}">
                <a16:creationId xmlns:a16="http://schemas.microsoft.com/office/drawing/2014/main" id="{A9FD72B8-BE17-4918-BE80-A7D5333C222E}"/>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2FB45F52-0EBB-4A5D-B261-D3294864B7EA}"/>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refs-78">
            <a:extLst>
              <a:ext uri="{FF2B5EF4-FFF2-40B4-BE49-F238E27FC236}">
                <a16:creationId xmlns:a16="http://schemas.microsoft.com/office/drawing/2014/main" id="{5D907347-1110-48B8-96FF-280A51892532}"/>
              </a:ext>
            </a:extLst>
          </p:cNvPr>
          <p:cNvSpPr>
            <a:spLocks noGrp="1"/>
          </p:cNvSpPr>
          <p:nvPr/>
        </p:nvSpPr>
        <p:spPr>
          <a:xfrm>
            <a:off x="742950" y="1952625"/>
            <a:ext cx="5000625" cy="3905250"/>
          </a:xfrm>
          <a:prstGeom prst="rect">
            <a:avLst/>
          </a:prstGeom>
          <a:noFill/>
          <a:ln w="0">
            <a:noFill/>
            <a:prstDash val="solid"/>
          </a:ln>
        </p:spPr>
        <p:txBody>
          <a:bodyPr wrap="square" lIns="19050" tIns="19050" rIns="76200" bIns="19050" anchor="t">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 ISRO, “XPoSat: India’s X-Ray Polarimetry Mission,” 2023.</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[2] N. Anand, K. Rikame and K. Roy, XPoSat-POLIX User Handbook: Level2, V1.0, 2025.</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[3] H. Saini, K. V. Madhu and R. Karidhal, “Mission analysis, design and operations plan of XPoSat,” Experimental Astronomy, 2025, doi:10.1007/s10686-025-09988-6.</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[4] M. C. Weisskopf et al., “An overview of the performance and scientific results from Chandra,” PASP, 2002, doi:10.1086/338108.</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[5] M. C. Weisskopf et al., “IXPE: Pre-Launch,” JATIS, 2022, doi:10.1117/1.JATIS.8.2.026002.</a:t>
            </a:r>
          </a:p>
        </p:txBody>
      </p:sp>
      <p:sp>
        <p:nvSpPr>
          <p:cNvPr id="12" name="divider-635">
            <a:extLst>
              <a:ext uri="{FF2B5EF4-FFF2-40B4-BE49-F238E27FC236}">
                <a16:creationId xmlns:a16="http://schemas.microsoft.com/office/drawing/2014/main" id="{8A3AB63A-8F0C-4F39-AF4E-97C939B2F3B6}"/>
              </a:ext>
            </a:extLst>
          </p:cNvPr>
          <p:cNvSpPr>
            <a:spLocks noGrp="1"/>
          </p:cNvSpPr>
          <p:nvPr/>
        </p:nvSpPr>
        <p:spPr>
          <a:xfrm>
            <a:off x="6048375" y="1952625"/>
            <a:ext cx="14288" cy="3905250"/>
          </a:xfrm>
          <a:prstGeom prst="rect">
            <a:avLst/>
          </a:prstGeom>
          <a:solidFill>
            <a:srgbClr val="CBD5E1"/>
          </a:solidFill>
          <a:ln w="0">
            <a:noFill/>
            <a:prstDash val="solid"/>
          </a:ln>
        </p:spPr>
      </p:sp>
      <p:sp>
        <p:nvSpPr>
          <p:cNvPr id="13" name="refs-670">
            <a:extLst>
              <a:ext uri="{FF2B5EF4-FFF2-40B4-BE49-F238E27FC236}">
                <a16:creationId xmlns:a16="http://schemas.microsoft.com/office/drawing/2014/main" id="{CB1BB018-359E-4939-81D6-A7524F679729}"/>
              </a:ext>
            </a:extLst>
          </p:cNvPr>
          <p:cNvSpPr>
            <a:spLocks noGrp="1"/>
          </p:cNvSpPr>
          <p:nvPr/>
        </p:nvSpPr>
        <p:spPr>
          <a:xfrm>
            <a:off x="6381750" y="1952625"/>
            <a:ext cx="5000625" cy="3905250"/>
          </a:xfrm>
          <a:prstGeom prst="rect">
            <a:avLst/>
          </a:prstGeom>
          <a:noFill/>
          <a:ln w="0">
            <a:noFill/>
            <a:prstDash val="solid"/>
          </a:ln>
        </p:spPr>
        <p:txBody>
          <a:bodyPr wrap="square" lIns="19050" tIns="19050" rIns="76200" bIns="19050" anchor="t">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[6] S. Fabiani, “Instrumentation and future missions in the upcoming era of X-ray polarimetry,” Galaxies, 2018, doi:10.3390/galaxies6020054.</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[7] F. Kislat et al., “Analyzing the data from X-ray polarimeters with Stokes parameters,” Astroparticle Physics, 2015, doi:10.1016/j.astropartphys.2015.02.007.</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[8] V. Doroshenko et al., “Determination of X-ray pulsar geometry with IXPE polarimetry,” Nature Astronomy, 2022, doi:10.1038/s41550-022-01799-5.</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[9] H. Krawczynski et al., “Polarized x-rays constrain the disk-jet geometry in Cygnus X-1,” Science, 2022, doi:10.1126/science.add5399.</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[10] N. Bucciantini et al., “Simultaneous space and phase resolved X-ray polarimetry of the Crab pulsar and nebula,” Nature Astronomy, 2023, doi:10.1038/s41550-023-01936-8.</a:t>
            </a:r>
          </a:p>
        </p:txBody>
      </p:sp>
    </p:spTree>
    <p:extLst>
      <p:ext uri="{BB962C8B-B14F-4D97-AF65-F5344CB8AC3E}">
        <p14:creationId xmlns:p14="http://schemas.microsoft.com/office/powerpoint/2010/main" val="3143505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References — Machine Learning and XAI</a:t>
            </a:r>
          </a:p>
        </p:txBody>
      </p:sp>
      <p:sp>
        <p:nvSpPr>
          <p:cNvPr id="9" name="orange-rule-64-169">
            <a:extLst>
              <a:ext uri="{FF2B5EF4-FFF2-40B4-BE49-F238E27FC236}">
                <a16:creationId xmlns:a16="http://schemas.microsoft.com/office/drawing/2014/main" id="{3FD3F863-E85D-4DC1-92F6-66999BB56261}"/>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609383E6-2CE9-465C-A4B0-2645586690AE}"/>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refs-78">
            <a:extLst>
              <a:ext uri="{FF2B5EF4-FFF2-40B4-BE49-F238E27FC236}">
                <a16:creationId xmlns:a16="http://schemas.microsoft.com/office/drawing/2014/main" id="{28C86980-4606-49A2-830E-11B91752AEFC}"/>
              </a:ext>
            </a:extLst>
          </p:cNvPr>
          <p:cNvSpPr>
            <a:spLocks noGrp="1"/>
          </p:cNvSpPr>
          <p:nvPr/>
        </p:nvSpPr>
        <p:spPr>
          <a:xfrm>
            <a:off x="742950" y="1952625"/>
            <a:ext cx="5000625" cy="3429000"/>
          </a:xfrm>
          <a:prstGeom prst="rect">
            <a:avLst/>
          </a:prstGeom>
          <a:noFill/>
          <a:ln w="0">
            <a:noFill/>
            <a:prstDash val="solid"/>
          </a:ln>
        </p:spPr>
        <p:txBody>
          <a:bodyPr wrap="square" lIns="19050" tIns="19050" rIns="76200" bIns="19050" anchor="t">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[11] K. Pearson, “On lines and planes of closest fit to systems of points in space,” Philosophical Magazine, 1901, doi:10.1080/14786440109462720.</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[12] J. B. MacQueen, “Some methods for classification and analysis of multivariate observations,” Proc. 5th Berkeley Symposium, 1967.</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[13] F. T. Liu, K. M. Ting and Z.-H. Zhou, “Isolation Forest,” ICDM, 2008, doi:10.1109/ICDM.2008.17.</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[14] D. Baron and D. Poznanski, “The weirdest SDSS galaxies,” MNRAS, 2017, doi:10.1093/mnras/stw3021.</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[15] M. Lochner and B. A. Bassett, “Astronomaly,” Astronomy and Computing, 2021, doi:10.1016/j.ascom.2021.100481.</a:t>
            </a:r>
          </a:p>
        </p:txBody>
      </p:sp>
      <p:sp>
        <p:nvSpPr>
          <p:cNvPr id="12" name="divider-635">
            <a:extLst>
              <a:ext uri="{FF2B5EF4-FFF2-40B4-BE49-F238E27FC236}">
                <a16:creationId xmlns:a16="http://schemas.microsoft.com/office/drawing/2014/main" id="{8CF85336-A062-41A4-9F0D-2933E4893CB6}"/>
              </a:ext>
            </a:extLst>
          </p:cNvPr>
          <p:cNvSpPr>
            <a:spLocks noGrp="1"/>
          </p:cNvSpPr>
          <p:nvPr/>
        </p:nvSpPr>
        <p:spPr>
          <a:xfrm>
            <a:off x="6048375" y="1952625"/>
            <a:ext cx="14288" cy="3429000"/>
          </a:xfrm>
          <a:prstGeom prst="rect">
            <a:avLst/>
          </a:prstGeom>
          <a:solidFill>
            <a:srgbClr val="CBD5E1"/>
          </a:solidFill>
          <a:ln w="0">
            <a:noFill/>
            <a:prstDash val="solid"/>
          </a:ln>
        </p:spPr>
      </p:sp>
      <p:sp>
        <p:nvSpPr>
          <p:cNvPr id="13" name="refs-670">
            <a:extLst>
              <a:ext uri="{FF2B5EF4-FFF2-40B4-BE49-F238E27FC236}">
                <a16:creationId xmlns:a16="http://schemas.microsoft.com/office/drawing/2014/main" id="{A5245C72-C99B-4D1A-B838-954742B7ACDF}"/>
              </a:ext>
            </a:extLst>
          </p:cNvPr>
          <p:cNvSpPr>
            <a:spLocks noGrp="1"/>
          </p:cNvSpPr>
          <p:nvPr/>
        </p:nvSpPr>
        <p:spPr>
          <a:xfrm>
            <a:off x="6381750" y="1952625"/>
            <a:ext cx="5000625" cy="3429000"/>
          </a:xfrm>
          <a:prstGeom prst="rect">
            <a:avLst/>
          </a:prstGeom>
          <a:noFill/>
          <a:ln w="0">
            <a:noFill/>
            <a:prstDash val="solid"/>
          </a:ln>
        </p:spPr>
        <p:txBody>
          <a:bodyPr wrap="square" lIns="19050" tIns="19050" rIns="76200" bIns="19050" anchor="t">
            <a:noAutofit/>
          </a:bodyPr>
          <a:lstStyle/>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[16] V. Yepmo, G. Smits and O. Pivert, “Anomaly explanation: A review,” Data &amp; Knowledge Engineering, 2022, doi:10.1016/j.datak.2021.101946.</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[17] S. M. Lundberg and S.-I. Lee, “A unified approach to interpreting model predictions,” NeurIPS, 2017.</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[18] V. S. Pérez-Díaz et al., “Unsupervised machine learning for the classification of astrophysical X-ray sources,” MNRAS, 2024, doi:10.1093/mnras/stae260.</a:t>
            </a:r>
          </a:p>
          <a:p>
            <a:endParaRPr sz="1200" b="0">
              <a:solidFill>
                <a:srgbClr val="17212B"/>
              </a:solidFill>
              <a:latin typeface="Calibri"/>
              <a:ea typeface="Calibri"/>
              <a:cs typeface="Calibri"/>
            </a:endParaRPr>
          </a:p>
          <a:p>
            <a:pPr algn="l">
              <a:defRPr sz="1200" b="0">
                <a:solidFill>
                  <a:srgbClr val="17212B"/>
                </a:solidFill>
                <a:latin typeface="Calibri"/>
                <a:ea typeface="Calibri"/>
                <a:cs typeface="Calibri"/>
              </a:defRPr>
            </a:pPr>
            <a:r>
              <a:rPr sz="1200" b="0">
                <a:solidFill>
                  <a:srgbClr val="17212B"/>
                </a:solidFill>
                <a:latin typeface="Calibri"/>
                <a:ea typeface="Calibri"/>
                <a:cs typeface="Calibri"/>
              </a:rPr>
              <a:t>[19] S. Kumaran, S. Mandal and S. Bhattacharyya, “Explainable machine learning classification of Chandra X-ray sources,” arXiv preprint, 2026, doi:10.48550/arXiv.2601.04650.</a:t>
            </a:r>
          </a:p>
        </p:txBody>
      </p:sp>
      <p:sp>
        <p:nvSpPr>
          <p:cNvPr id="14" name="closing">
            <a:extLst>
              <a:ext uri="{FF2B5EF4-FFF2-40B4-BE49-F238E27FC236}">
                <a16:creationId xmlns:a16="http://schemas.microsoft.com/office/drawing/2014/main" id="{8D6976D5-BDF8-44DA-B048-CAF40288A5B1}"/>
              </a:ext>
            </a:extLst>
          </p:cNvPr>
          <p:cNvSpPr>
            <a:spLocks noGrp="1"/>
          </p:cNvSpPr>
          <p:nvPr/>
        </p:nvSpPr>
        <p:spPr>
          <a:xfrm>
            <a:off x="1000125" y="5524500"/>
            <a:ext cx="10191750" cy="590550"/>
          </a:xfrm>
          <a:prstGeom prst="roundRect">
            <a:avLst>
              <a:gd name="adj" fmla="val 12903"/>
            </a:avLst>
          </a:prstGeom>
          <a:solidFill>
            <a:srgbClr val="E7F3F3"/>
          </a:solidFill>
          <a:ln w="13335">
            <a:solidFill>
              <a:srgbClr val="006064"/>
            </a:solidFill>
            <a:prstDash val="solid"/>
          </a:ln>
        </p:spPr>
        <p:txBody>
          <a:bodyPr wrap="square" lIns="133350" tIns="95250" rIns="133350" bIns="95250" anchor="ctr">
            <a:noAutofit/>
          </a:bodyPr>
          <a:lstStyle/>
          <a:p>
            <a:pPr algn="ctr">
              <a:defRPr sz="1350" b="1">
                <a:solidFill>
                  <a:srgbClr val="006064"/>
                </a:solidFill>
                <a:latin typeface="Calibri"/>
                <a:ea typeface="Calibri"/>
                <a:cs typeface="Calibri"/>
              </a:defRPr>
            </a:pPr>
            <a:r>
              <a:rPr sz="1350" b="1">
                <a:solidFill>
                  <a:srgbClr val="006064"/>
                </a:solidFill>
                <a:latin typeface="Calibri"/>
                <a:ea typeface="Calibri"/>
                <a:cs typeface="Calibri"/>
              </a:rPr>
              <a:t>Review-I conclusion: the literature supports a scientifically cautious investigation of explainable, unsupervised POLIX observation screening—without importing classification claims or presenting final project results.</a:t>
            </a:r>
          </a:p>
        </p:txBody>
      </p:sp>
    </p:spTree>
    <p:extLst>
      <p:ext uri="{BB962C8B-B14F-4D97-AF65-F5344CB8AC3E}">
        <p14:creationId xmlns:p14="http://schemas.microsoft.com/office/powerpoint/2010/main" val="3143505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3992</Words>
  <Application>Microsoft Office PowerPoint</Application>
  <DocSecurity>0</DocSecurity>
  <PresentationFormat>Widescreen</PresentationFormat>
  <Paragraphs>381</Paragraphs>
  <Slides>17</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1_Office Theme</vt:lpstr>
      <vt:lpstr>An Explainable AI Framework for Analysis of X-Ray Polarimetry Data from XPoSat Project Stage-I — Review 1</vt:lpstr>
      <vt:lpstr>Review-I Scope and Abstract</vt:lpstr>
      <vt:lpstr>Why X-Ray Astronomy Needs Polarization</vt:lpstr>
      <vt:lpstr>What X-Ray Polarization Measures</vt:lpstr>
      <vt:lpstr>Mission Capabilities Must Not Be Conflated</vt:lpstr>
      <vt:lpstr>XPoSat Adds Indian X-Ray Polarimetry</vt:lpstr>
      <vt:lpstr>POLIX Converts Scattering into Modulation</vt:lpstr>
      <vt:lpstr>One Observation Spans Multiple Products</vt:lpstr>
      <vt:lpstr>Research Problem, Aim and Objectives</vt:lpstr>
      <vt:lpstr>Early Base Papers Shaped the Question</vt:lpstr>
      <vt:lpstr>The Evolved Study Needs a Base-Source Set</vt:lpstr>
      <vt:lpstr>Polarimetry Literature Defines the Physics</vt:lpstr>
      <vt:lpstr>Astronomy ML Supports Unlabelled Screening</vt:lpstr>
      <vt:lpstr>Explainability Must Preserve Scientific Meaning</vt:lpstr>
      <vt:lpstr>Research Gap and Proposed Position</vt:lpstr>
      <vt:lpstr>References — Missions and Polarimetry</vt:lpstr>
      <vt:lpstr>References — Machine Learning and XAI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Sai Saatvik Gunturi</cp:lastModifiedBy>
  <cp:revision>2</cp:revision>
  <dcterms:created xsi:type="dcterms:W3CDTF">2026-07-28T07:09:22Z</dcterms:created>
  <dcterms:modified xsi:type="dcterms:W3CDTF">2026-08-01T04:06:39Z</dcterms:modified>
</cp:coreProperties>
</file>